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773a156ccf4122" /><Relationship Type="http://schemas.openxmlformats.org/officeDocument/2006/relationships/extended-properties" Target="/docProps/app.xml" Id="R08699c6cc47f424b" /><Relationship Type="http://schemas.openxmlformats.org/officeDocument/2006/relationships/officeDocument" Target="/ppt/presentation.xml" Id="R3f71fbbdb01348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835656d7e45cc"/>
  </p:sldMasterIdLst>
  <p:notesMasterIdLst>
    <p:notesMasterId xmlns:r="http://schemas.openxmlformats.org/officeDocument/2006/relationships" r:id="R94077062e7c34ef5"/>
  </p:notesMasterIdLst>
  <p:sldIdLst>
    <p:sldId xmlns:r="http://schemas.openxmlformats.org/officeDocument/2006/relationships" id="256" r:id="Rdb03b704f8574782"/>
    <p:sldId xmlns:r="http://schemas.openxmlformats.org/officeDocument/2006/relationships" id="257" r:id="R4859a63babd742b2"/>
    <p:sldId xmlns:r="http://schemas.openxmlformats.org/officeDocument/2006/relationships" id="258" r:id="R6f9b6fc068124b58"/>
    <p:sldId xmlns:r="http://schemas.openxmlformats.org/officeDocument/2006/relationships" id="259" r:id="R66d89124ef6c43c9"/>
    <p:sldId xmlns:r="http://schemas.openxmlformats.org/officeDocument/2006/relationships" id="260" r:id="Rb69a490ba5014447"/>
    <p:sldId xmlns:r="http://schemas.openxmlformats.org/officeDocument/2006/relationships" id="261" r:id="Rb514914057854329"/>
    <p:sldId xmlns:r="http://schemas.openxmlformats.org/officeDocument/2006/relationships" id="262" r:id="Re2aad5993a424446"/>
    <p:sldId xmlns:r="http://schemas.openxmlformats.org/officeDocument/2006/relationships" id="263" r:id="R2106bf73d1e34e4e"/>
    <p:sldId xmlns:r="http://schemas.openxmlformats.org/officeDocument/2006/relationships" id="264" r:id="Re1913274c4ef42d2"/>
    <p:sldId xmlns:r="http://schemas.openxmlformats.org/officeDocument/2006/relationships" id="265" r:id="Rd86c19efdba74027"/>
    <p:sldId xmlns:r="http://schemas.openxmlformats.org/officeDocument/2006/relationships" id="266" r:id="R75eb0aad730d497b"/>
    <p:sldId xmlns:r="http://schemas.openxmlformats.org/officeDocument/2006/relationships" id="267" r:id="R825165d0c78c4769"/>
    <p:sldId xmlns:r="http://schemas.openxmlformats.org/officeDocument/2006/relationships" id="268" r:id="R16d4de8fcea14b19"/>
    <p:sldId xmlns:r="http://schemas.openxmlformats.org/officeDocument/2006/relationships" id="269" r:id="R146328b9b2ce439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ef7b0e0daa41ff" /><Relationship Type="http://schemas.openxmlformats.org/officeDocument/2006/relationships/slideMaster" Target="/ppt/slideMasters/slideMaster1.xml" Id="R1e9835656d7e45cc" /><Relationship Type="http://schemas.openxmlformats.org/officeDocument/2006/relationships/notesMaster" Target="/ppt/notesMasters/notesMaster1.xml" Id="R94077062e7c34ef5" /><Relationship Type="http://schemas.openxmlformats.org/officeDocument/2006/relationships/presProps" Target="/ppt/presProps.xml" Id="R2097c9cf3346452a" /><Relationship Type="http://schemas.openxmlformats.org/officeDocument/2006/relationships/tableStyles" Target="/ppt/tableStyles.xml" Id="R800ce736170542a4" /><Relationship Type="http://schemas.openxmlformats.org/officeDocument/2006/relationships/slide" Target="/ppt/slides/slide1.xml" Id="Rdb03b704f8574782" /><Relationship Type="http://schemas.openxmlformats.org/officeDocument/2006/relationships/slide" Target="/ppt/slides/slide2.xml" Id="R4859a63babd742b2" /><Relationship Type="http://schemas.openxmlformats.org/officeDocument/2006/relationships/slide" Target="/ppt/slides/slide3.xml" Id="R6f9b6fc068124b58" /><Relationship Type="http://schemas.openxmlformats.org/officeDocument/2006/relationships/slide" Target="/ppt/slides/slide4.xml" Id="R66d89124ef6c43c9" /><Relationship Type="http://schemas.openxmlformats.org/officeDocument/2006/relationships/slide" Target="/ppt/slides/slide5.xml" Id="Rb69a490ba5014447" /><Relationship Type="http://schemas.openxmlformats.org/officeDocument/2006/relationships/slide" Target="/ppt/slides/slide6.xml" Id="Rb514914057854329" /><Relationship Type="http://schemas.openxmlformats.org/officeDocument/2006/relationships/slide" Target="/ppt/slides/slide7.xml" Id="Re2aad5993a424446" /><Relationship Type="http://schemas.openxmlformats.org/officeDocument/2006/relationships/slide" Target="/ppt/slides/slide8.xml" Id="R2106bf73d1e34e4e" /><Relationship Type="http://schemas.openxmlformats.org/officeDocument/2006/relationships/slide" Target="/ppt/slides/slide9.xml" Id="Re1913274c4ef42d2" /><Relationship Type="http://schemas.openxmlformats.org/officeDocument/2006/relationships/slide" Target="/ppt/slides/slide10.xml" Id="Rd86c19efdba74027" /><Relationship Type="http://schemas.openxmlformats.org/officeDocument/2006/relationships/slide" Target="/ppt/slides/slide11.xml" Id="R75eb0aad730d497b" /><Relationship Type="http://schemas.openxmlformats.org/officeDocument/2006/relationships/slide" Target="/ppt/slides/slide12.xml" Id="R825165d0c78c4769" /><Relationship Type="http://schemas.openxmlformats.org/officeDocument/2006/relationships/slide" Target="/ppt/slides/slide13.xml" Id="R16d4de8fcea14b19" /><Relationship Type="http://schemas.openxmlformats.org/officeDocument/2006/relationships/slide" Target="/ppt/slides/slide14.xml" Id="R146328b9b2ce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6fbdc76ae9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3cb70f6154c1c" /><Relationship Type="http://schemas.openxmlformats.org/officeDocument/2006/relationships/notesMaster" Target="/ppt/notesMasters/notesMaster1.xml" Id="R009ecf36e05c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029dce33e4d72" /><Relationship Type="http://schemas.openxmlformats.org/officeDocument/2006/relationships/notesMaster" Target="/ppt/notesMasters/notesMaster1.xml" Id="Rbf9470e6c45c49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8c0c875964213" /><Relationship Type="http://schemas.openxmlformats.org/officeDocument/2006/relationships/notesMaster" Target="/ppt/notesMasters/notesMaster1.xml" Id="R37d76c03007640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1c4450bf494acb" /><Relationship Type="http://schemas.openxmlformats.org/officeDocument/2006/relationships/notesMaster" Target="/ppt/notesMasters/notesMaster1.xml" Id="Rf60dd54fc19d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af7a1b974644f2" /><Relationship Type="http://schemas.openxmlformats.org/officeDocument/2006/relationships/notesMaster" Target="/ppt/notesMasters/notesMaster1.xml" Id="Rdde93daa0d1e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8bb0d45094ac6" /><Relationship Type="http://schemas.openxmlformats.org/officeDocument/2006/relationships/notesMaster" Target="/ppt/notesMasters/notesMaster1.xml" Id="Rb855747bed2a46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295d654dd64fd8" /><Relationship Type="http://schemas.openxmlformats.org/officeDocument/2006/relationships/notesMaster" Target="/ppt/notesMasters/notesMaster1.xml" Id="R515dac85e38e40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66a94bb72047f8" /><Relationship Type="http://schemas.openxmlformats.org/officeDocument/2006/relationships/notesMaster" Target="/ppt/notesMasters/notesMaster1.xml" Id="R022cc1c370544e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ac220e4e514357" /><Relationship Type="http://schemas.openxmlformats.org/officeDocument/2006/relationships/notesMaster" Target="/ppt/notesMasters/notesMaster1.xml" Id="R11cf73a64f4247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dfd9643aa34a8e" /><Relationship Type="http://schemas.openxmlformats.org/officeDocument/2006/relationships/notesMaster" Target="/ppt/notesMasters/notesMaster1.xml" Id="Rd9147634b0da4a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306c19752847b8" /><Relationship Type="http://schemas.openxmlformats.org/officeDocument/2006/relationships/notesMaster" Target="/ppt/notesMasters/notesMaster1.xml" Id="R94d44990511949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8981e9149b48a5" /><Relationship Type="http://schemas.openxmlformats.org/officeDocument/2006/relationships/notesMaster" Target="/ppt/notesMasters/notesMaster1.xml" Id="Rdaa0ed48530a44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18372e2e8248f6" /><Relationship Type="http://schemas.openxmlformats.org/officeDocument/2006/relationships/notesMaster" Target="/ppt/notesMasters/notesMaster1.xml" Id="R0ecb535f6cd947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bd1f9186644219" /><Relationship Type="http://schemas.openxmlformats.org/officeDocument/2006/relationships/notesMaster" Target="/ppt/notesMasters/notesMaster1.xml" Id="R52af7e964f8046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本作品研究园区无人机末端配送中的路径规划、起降场布局和多机调度问题。系统使用Python实现，已经贯通地图编辑、计算、回放和结果导出。后续展示的定量结论均来自自建模拟园区，封面是场景示意图。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</a:t>
            </a:r>
          </a:p>
          <a:p xmlns:a="http://schemas.openxmlformats.org/drawingml/2006/main">
            <a:r>
              <a:t>封面插画：用户已选定的本地AI生成风格参考图 历史图片_02.png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园区内的无人机配送不只涉及起终点之间的距离。高建筑会阻断部分航路，人员活动区域会改变路径暴露。多架无人机还需要共享起降服务位，并检查飞行过程中的接近。因此，本作品把路径、场站和时序放到同一个可操作的仿真流程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参赛材料/主报告/主报告_面向园区末端配送的低空风险仿真与起降场选址系统.md，第1、2章</a:t>
            </a:r>
          </a:p>
          <a:p xmlns:a="http://schemas.openxmlformats.org/drawingml/2006/main">
            <a:r>
              <a:t>场景插画：历史图片_01.png，非真实园区测绘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主体采用Python与Tkinter。使用者先建立地图场景，再设置订单规模、风险权重、机队数量等参数。计算阶段输出固定布局、距离优先布局与综合风险布局。界面提供单次比较与航迹回放，导出结果保留输入、任务、航路和间距事件。截图用于说明功能，里面的单次指标不能代替后面的批量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参赛材料/主报告/主报告_面向园区末端配送的低空风险仿真与起降场选址系统.md，第3.1、3.9节</a:t>
            </a:r>
          </a:p>
          <a:p xmlns:a="http://schemas.openxmlformats.org/drawingml/2006/main">
            <a:r>
              <a:t>程序界面截图：docs/images/plan-comparison.png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导入提供建筑候选，并不直接生成可靠的真实建筑模型。用户先用已知距离确认尺度，再逐栋或批量填写楼高。建筑、候选起降场、配送点和人员热点均可编辑。复杂或旋转建筑需要多个矩形近似。复杂卫星图仍可能误检和漏检，本作品没有声称达到某个建筑识别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参赛材料/主报告/主报告_面向园区末端配送的低空风险仿真与起降场选址系统.md，第3.2、3.3节</a:t>
            </a:r>
          </a:p>
          <a:p xmlns:a="http://schemas.openxmlformats.org/drawingml/2006/main">
            <a:r>
              <a:t>map_editor.py</a:t>
            </a:r>
          </a:p>
          <a:p xmlns:a="http://schemas.openxmlformats.org/drawingml/2006/main">
            <a:r>
              <a:t>map_document.py</a:t>
            </a:r>
          </a:p>
          <a:p xmlns:a="http://schemas.openxmlformats.org/drawingml/2006/main">
            <a:r>
              <a:t>image_map.py</a:t>
            </a:r>
          </a:p>
          <a:p xmlns:a="http://schemas.openxmlformats.org/drawingml/2006/main">
            <a:r>
              <a:t>程序界面截图：docs/images/component-editor.png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在给定巡航高度的平面上规划，建筑另外带有高度属性。当建筑高度加垂直间距不低于巡航高度时，将其作为障碍，并在平面外扩。人员热点以简化高斯场叠加形成暴露场。暴露指标是路径经过人员活动区域的相对代理值，没有包含坠落概率、伤害后果和悬停暴露，因此不能直接解释为实际事故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参赛材料/主报告/主报告_面向园区末端配送的低空风险仿真与起降场选址系统.md，第3.4节</a:t>
            </a:r>
          </a:p>
          <a:p xmlns:a="http://schemas.openxmlformats.org/drawingml/2006/main">
            <a:r>
              <a:t>engine.py：risk_at、build_scene</a:t>
            </a:r>
          </a:p>
          <a:p xmlns:a="http://schemas.openxmlformats.org/drawingml/2006/main">
            <a:r>
              <a:t>软件地图截图：docs/images/simulation-map.png</a:t>
            </a:r>
          </a:p>
          <a:p xmlns:a="http://schemas.openxmlformats.org/drawingml/2006/main">
            <a:r>
              <a:t>Primatesta et al., Ground Risk Map, DOI 10.1007/s10846-019-01015-z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边的代价由几何长度和风险惩罚构成，A*利用欧氏距离下界搜索最小加权代价航路。实现中检查障碍、对角拐角和端点连接。需要区分航路目标与选址目标，后面所说的距离优先是场站评分方式，所有批量方案都使用λ等于2的规划器。左图仅解释规划思想，不是本项目已经执行的λ等于0对照实验。算法代价已在构造场景中与独立Dijkstra搜索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参赛材料/主报告/主报告_面向园区末端配送的低空风险仿真与起降场选址系统.md，第3.5节</a:t>
            </a:r>
          </a:p>
          <a:p xmlns:a="http://schemas.openxmlformats.org/drawingml/2006/main">
            <a:r>
              <a:t>engine.py：astar</a:t>
            </a:r>
          </a:p>
          <a:p xmlns:a="http://schemas.openxmlformats.org/drawingml/2006/main">
            <a:r>
              <a:t>Hart et al., 1968, DOI 10.1109/TSSC.1968.300136</a:t>
            </a:r>
          </a:p>
          <a:p xmlns:a="http://schemas.openxmlformats.org/drawingml/2006/main">
            <a:r>
              <a:t>原理示意插画：历史图片_01.png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模拟园区有8个候选起降场，当全部可用时需要评价28组两场站组合。综合评分对暴露、配送时间、总航程和场站等待进行归一化加权，权重分别为45%、30%、15%和10%，失败订单另加惩罚。设计订单与评价订单分离，选完之后冻结场站。当前采用先选址再调度的顺序方案，没有把它表述为城市连续空间的全局联合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参赛材料/主报告/主报告_面向园区末端配送的低空风险仿真与起降场选址系统.md，第3.6节</a:t>
            </a:r>
          </a:p>
          <a:p xmlns:a="http://schemas.openxmlformats.org/drawingml/2006/main">
            <a:r>
              <a:t>engine.py：SCORE_WEIGHTS、design_sites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度时先检查无人机和场站资源，再将候选任务的去程、配送悬停、返程和必要的等待，与已预约任务比较。连续时间检测通过相对运动方程求接近区间，避免逐秒采样漏掉短暂交叉。例子来自保存的实际仿真任务O009，基线388秒出发，错峰403秒出发，单列错峰等待15秒。5秒是时间搜索步长，20米是研究设定，不是引用的监管间隔标准。当前不支持飞行途中的实时避碰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参赛材料/主报告/主报告_面向园区末端配送的低空风险仿真与起降场选址系统.md，第3.7、3.8节</a:t>
            </a:r>
          </a:p>
          <a:p xmlns:a="http://schemas.openxmlformats.org/drawingml/2006/main">
            <a:r>
              <a:t>airspace.py</a:t>
            </a:r>
          </a:p>
          <a:p xmlns:a="http://schemas.openxmlformats.org/drawingml/2006/main">
            <a:r>
              <a:t>results/safety/runs/normal_20261015_baseline.json</a:t>
            </a:r>
          </a:p>
          <a:p xmlns:a="http://schemas.openxmlformats.org/drawingml/2006/main">
            <a:r>
              <a:t>results/safety/runs/normal_20261015_staggered.json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量实验使用一个960乘640米的自建模拟园区，包含10栋建筑、8个候选场站、10个配送点和4个人员热点。组合3种场景、5个评价种子、3种布局、2种调度，共90条运行指标和45组配对。每组只切换错峰开关。局部关闭在运行前已知并整次生效，每个场景分别重新选址，因此不能把这个实验解释为途中突发关闭的鲁棒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参赛材料/主报告/主报告_面向园区末端配送的低空风险仿真与起降场选址系统.md，第3.10节</a:t>
            </a:r>
          </a:p>
          <a:p xmlns:a="http://schemas.openxmlformats.org/drawingml/2006/main">
            <a:r>
              <a:t>data/demo_scene.json</a:t>
            </a:r>
          </a:p>
          <a:p xmlns:a="http://schemas.openxmlformats.org/drawingml/2006/main">
            <a:r>
              <a:t>results/safety/manifest.json</a:t>
            </a:r>
          </a:p>
          <a:p xmlns:a="http://schemas.openxmlformats.org/drawingml/2006/main">
            <a:r>
              <a:t>results/safety/raw_metrics.csv</a:t>
            </a:r>
          </a:p>
          <a:p xmlns:a="http://schemas.openxmlformats.org/drawingml/2006/main">
            <a:r>
              <a:t>results/safety/paired_comparison.csv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风险布局在正常、高峰、局部关闭场景的基线平均间距事件分别为9.2、27.2、9.4次，错峰后均为0。右边的700与0来自所有45组配对的事件合计，而不是左图三根柱子的相加。按45组运行等权计算，平均配送时间增加35.53秒，两种调度没有失败订单。该代价不等同于单列错峰等待，因为时序变化也会影响后续任务分配和资源可用时间。图中展示均值，样本标准差见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参赛材料/主报告/主报告_面向园区末端配送的低空风险仿真与起降场选址系统.md，第3.11节</a:t>
            </a:r>
          </a:p>
          <a:p xmlns:a="http://schemas.openxmlformats.org/drawingml/2006/main">
            <a:r>
              <a:t>results/safety/summary.csv</a:t>
            </a:r>
          </a:p>
          <a:p xmlns:a="http://schemas.openxmlformats.org/drawingml/2006/main">
            <a:r>
              <a:t>results/safety/paired_comparison.csv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常场景下，错峰后的距离优先布局平均配送时间为123.71秒，暴露指数1.093。综合风险布局为137.15秒和0.849，暴露相对降低22.3%，配送时间增加13.44秒。这是场站布局在当前权重下的权衡，不是λ等于0和λ等于2的航路算法对照。图中每单暴露没有计入悬停，因此当前数据不足以计算完整任务的风险与能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参赛材料/主报告/主报告_面向园区末端配送的低空风险仿真与起降场选址系统.md，第3.11、3.12节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的主要工作是工程整合和可复核比较。地图组件直接影响算法输入，场站设计、任务预约和连续时间检查保留可追溯记录。41项自动核验支持实现符合既定模型。限制同样明确，地图为模拟输入，风险与飞行模型简化，只有5个评价种子。高峰场景综合风险布局启用错峰后准时率只有39%，说明时隙调整不能代替容量提升。后续优先补真实园区案例，并研究机队数量、服务位能力、风险权重及悬停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参赛材料/主报告/主报告_面向园区末端配送的低空风险仿真与起降场选址系统.md，第3.12、3.13、4、5章</a:t>
            </a:r>
          </a:p>
          <a:p xmlns:a="http://schemas.openxmlformats.org/drawingml/2006/main">
            <a:r>
              <a:t>docs/验证记录.md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评委提问说明参数。20米间距、5米建筑垂直间距、8米平面外扩均为研究设定。配送时间从下单计至完成配送处理，返航不会直接加在当前单的配送时间里，但会影响无人机后续可用。标准差由summary.csv给出，5个种子不足以据此声称统计显著或跨园区普遍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参赛材料/主报告/主报告_面向园区末端配送的低空风险仿真与起降场选址系统.md，第3.10、3.11节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用于回答算法来源和数据可复核性。标准A*和风险地图文献提供研究依据，当前采用的地面暴露场是简化模型。SIPP与CBS仅在主报告中作为后续研究参照，没有在本作品实现。参赛者应理解代码、输入、评价口径和限制，并如实声明AI辅助使用。可在程序入口运行界面，原始CSV、配对差值和汇总表可逐项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参赛材料/主报告/主报告_面向园区末端配送的低空风险仿真与起降场选址系统.md，参考文献及附录A、B</a:t>
            </a:r>
          </a:p>
          <a:p xmlns:a="http://schemas.openxmlformats.org/drawingml/2006/main">
            <a:r>
              <a:t>Hart DOI 10.1109/TSSC.1968.300136</a:t>
            </a:r>
          </a:p>
          <a:p xmlns:a="http://schemas.openxmlformats.org/drawingml/2006/main">
            <a:r>
              <a:t>Primatesta DOI 10.1007/s10846-018-0924-3</a:t>
            </a:r>
          </a:p>
          <a:p xmlns:a="http://schemas.openxmlformats.org/drawingml/2006/main">
            <a:r>
              <a:t>Primatesta DOI 10.1007/s10846-019-01015-z</a:t>
            </a:r>
          </a:p>
          <a:p xmlns:a="http://schemas.openxmlformats.org/drawingml/2006/main">
            <a:r>
              <a:t>Kuchar DOI 10.1109/6979.898217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5dfddb5f341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f0aac21b34c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851616d774a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f80e0a0c749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981be22e743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5cb483405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489967-8EE7-42AB-B9FE-D8745C37D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E7E551-0010-4251-A33E-6693C138F2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790301-5358-4B47-91EB-38A958DB8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B103DA-07FB-4FCF-81CB-701B458E1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C27456-450D-4F2F-BCD7-D5F4642B81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24211C-FA9F-4526-B794-503202419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1BB4C2-57CD-4B98-8F66-6D5FD040EA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2802C8-06C7-4550-AFA3-42580641ED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2D696-0AD7-4867-B9D0-1B411B8C2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016B90-9519-40E8-A50B-771199DCA8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4e1ad1dea94adf" /><Relationship Type="http://schemas.openxmlformats.org/officeDocument/2006/relationships/slideLayout" Target="/ppt/slideLayouts/slideLayout1.xml" Id="R6ab11c8929f84854" /><Relationship Type="http://schemas.openxmlformats.org/officeDocument/2006/relationships/slideLayout" Target="/ppt/slideLayouts/slideLayout2.xml" Id="R6a33129829c04440" /><Relationship Type="http://schemas.openxmlformats.org/officeDocument/2006/relationships/slideLayout" Target="/ppt/slideLayouts/slideLayout3.xml" Id="Raa033f965ce6406d" /><Relationship Type="http://schemas.openxmlformats.org/officeDocument/2006/relationships/slideLayout" Target="/ppt/slideLayouts/slideLayout4.xml" Id="R42ef7e7749ef48ae" /><Relationship Type="http://schemas.openxmlformats.org/officeDocument/2006/relationships/slideLayout" Target="/ppt/slideLayouts/slideLayout5.xml" Id="R3338ebe2edb64b1c" /><Relationship Type="http://schemas.openxmlformats.org/officeDocument/2006/relationships/slideLayout" Target="/ppt/slideLayouts/slideLayout6.xml" Id="R7f62e882262c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11c8929f84854"/>
    <p:sldLayoutId xmlns:r="http://schemas.openxmlformats.org/officeDocument/2006/relationships" id="2147483650" r:id="R6a33129829c04440"/>
    <p:sldLayoutId xmlns:r="http://schemas.openxmlformats.org/officeDocument/2006/relationships" id="2147483651" r:id="Raa033f965ce6406d"/>
    <p:sldLayoutId xmlns:r="http://schemas.openxmlformats.org/officeDocument/2006/relationships" id="2147483652" r:id="R42ef7e7749ef48ae"/>
    <p:sldLayoutId xmlns:r="http://schemas.openxmlformats.org/officeDocument/2006/relationships" id="2147483653" r:id="R3338ebe2edb64b1c"/>
    <p:sldLayoutId xmlns:r="http://schemas.openxmlformats.org/officeDocument/2006/relationships" id="2147483654" r:id="R7f62e882262c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b0050e2254ea4" /><Relationship Type="http://schemas.openxmlformats.org/officeDocument/2006/relationships/image" Target="/ppt/media/image.jpeg" Id="R28b24e7fda974880" /><Relationship Type="http://schemas.openxmlformats.org/officeDocument/2006/relationships/notesSlide" Target="/ppt/notesSlides/notesSlide1.xml" Id="R139da901fe29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fc9ebb72244b8" /><Relationship Type="http://schemas.openxmlformats.org/officeDocument/2006/relationships/image" Target="/ppt/media/image2.jpeg" Id="Rf405f2c9c85240e4" /><Relationship Type="http://schemas.openxmlformats.org/officeDocument/2006/relationships/notesSlide" Target="/ppt/notesSlides/notesSlide2.xml" Id="R4347c719980044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adca712464819" /><Relationship Type="http://schemas.openxmlformats.org/officeDocument/2006/relationships/image" Target="/ppt/media/image3.jpeg" Id="R020bc9daefd7465e" /><Relationship Type="http://schemas.openxmlformats.org/officeDocument/2006/relationships/notesSlide" Target="/ppt/notesSlides/notesSlide3.xml" Id="R7e87e9f1cdcf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3a445fe2444fa" /><Relationship Type="http://schemas.openxmlformats.org/officeDocument/2006/relationships/image" Target="/ppt/media/image4.jpeg" Id="Rb23c5b169ace4bd2" /><Relationship Type="http://schemas.openxmlformats.org/officeDocument/2006/relationships/notesSlide" Target="/ppt/notesSlides/notesSlide4.xml" Id="R8b6b74dbac214d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c129d56b7428b" /><Relationship Type="http://schemas.openxmlformats.org/officeDocument/2006/relationships/image" Target="/ppt/media/image5.jpeg" Id="Rab25b5ef51304564" /><Relationship Type="http://schemas.openxmlformats.org/officeDocument/2006/relationships/notesSlide" Target="/ppt/notesSlides/notesSlide5.xml" Id="Ra925d2003ecc48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391e7d5d44477" /><Relationship Type="http://schemas.openxmlformats.org/officeDocument/2006/relationships/image" Target="/ppt/media/image6.jpeg" Id="Ref09499bda044705" /><Relationship Type="http://schemas.openxmlformats.org/officeDocument/2006/relationships/notesSlide" Target="/ppt/notesSlides/notesSlide6.xml" Id="Rc32525370dec4d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efec7753a4458" /><Relationship Type="http://schemas.openxmlformats.org/officeDocument/2006/relationships/chart" Target="/ppt/slides/charts/chart1.xml" Id="R1b76984c47a34ef6" /><Relationship Type="http://schemas.openxmlformats.org/officeDocument/2006/relationships/notesSlide" Target="/ppt/notesSlides/notesSlide7.xml" Id="R8a6203b198cf4a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21dd402cd4a83" /><Relationship Type="http://schemas.openxmlformats.org/officeDocument/2006/relationships/notesSlide" Target="/ppt/notesSlides/notesSlide8.xml" Id="Rdd97987b84ac4a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2b0bcca544097" /><Relationship Type="http://schemas.openxmlformats.org/officeDocument/2006/relationships/notesSlide" Target="/ppt/notesSlides/notesSlide9.xml" Id="R154fe05d51f248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2f542aab54af8" /><Relationship Type="http://schemas.openxmlformats.org/officeDocument/2006/relationships/chart" Target="/ppt/slides/charts/chart2.xml" Id="Rc659a00f6e2d47de" /><Relationship Type="http://schemas.openxmlformats.org/officeDocument/2006/relationships/notesSlide" Target="/ppt/notesSlides/notesSlide10.xml" Id="R64ae9c5ce0de4e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dd4fe326c4d40" /><Relationship Type="http://schemas.openxmlformats.org/officeDocument/2006/relationships/chart" Target="/ppt/slides/charts/chart3.xml" Id="R2c3404c194c046f5" /><Relationship Type="http://schemas.openxmlformats.org/officeDocument/2006/relationships/chart" Target="/ppt/slides/charts/chart4.xml" Id="R72ac67c07ba84fcc" /><Relationship Type="http://schemas.openxmlformats.org/officeDocument/2006/relationships/notesSlide" Target="/ppt/notesSlides/notesSlide11.xml" Id="R80641722f5d94a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22c4f0bc04e60" /><Relationship Type="http://schemas.openxmlformats.org/officeDocument/2006/relationships/notesSlide" Target="/ppt/notesSlides/notesSlide12.xml" Id="R0f370951d8ba43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167691c614c94" /><Relationship Type="http://schemas.openxmlformats.org/officeDocument/2006/relationships/notesSlide" Target="/ppt/notesSlides/notesSlide13.xml" Id="R998c561815cb44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0d7d1635d4f63" /><Relationship Type="http://schemas.openxmlformats.org/officeDocument/2006/relationships/notesSlide" Target="/ppt/notesSlides/notesSlide14.xml" Id="R5eb16f3f2976407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评分权重</c:v>
          </c:tx>
          <c:spPr>
            <a:solidFill xmlns:a="http://schemas.openxmlformats.org/drawingml/2006/main">
              <a:srgbClr val="078F8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场站等待</c:v>
                </c:pt>
                <c:pt idx="1">
                  <c:v>总航程</c:v>
                </c:pt>
                <c:pt idx="2">
                  <c:v>配送时间</c:v>
                </c:pt>
                <c:pt idx="3">
                  <c:v>人员暴露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0.1</c:v>
                </c:pt>
                <c:pt idx="1">
                  <c:v>0.15</c:v>
                </c:pt>
                <c:pt idx="2">
                  <c:v>0.3</c:v>
                </c:pt>
                <c:pt idx="3">
                  <c:v>0.45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基线调度</c:v>
          </c:tx>
          <c:spPr>
            <a:solidFill xmlns:a="http://schemas.openxmlformats.org/drawingml/2006/main">
              <a:srgbClr val="8C9AA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正常配送</c:v>
                </c:pt>
                <c:pt idx="1">
                  <c:v>高峰订单</c:v>
                </c:pt>
                <c:pt idx="2">
                  <c:v>局部关闭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9.2</c:v>
                </c:pt>
                <c:pt idx="1">
                  <c:v>27.2</c:v>
                </c:pt>
                <c:pt idx="2">
                  <c:v>9.4</c:v>
                </c:pt>
              </c:numCache>
            </c:numRef>
          </c:val>
        </c:ser>
        <c:ser>
          <c:idx val="1"/>
          <c:order val="1"/>
          <c:tx>
            <c:v>错峰调度</c:v>
          </c:tx>
          <c:spPr>
            <a:solidFill xmlns:a="http://schemas.openxmlformats.org/drawingml/2006/main">
              <a:srgbClr val="078F8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正常配送</c:v>
                </c:pt>
                <c:pt idx="1">
                  <c:v>高峰订单</c:v>
                </c:pt>
                <c:pt idx="2">
                  <c:v>局部关闭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65768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路径暴露</c:v>
          </c:tx>
          <c:spPr>
            <a:solidFill xmlns:a="http://schemas.openxmlformats.org/drawingml/2006/main">
              <a:srgbClr val="078F86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8C9AA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3AC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078F8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综合风险</c:v>
                </c:pt>
                <c:pt idx="1">
                  <c:v>距离优先</c:v>
                </c:pt>
                <c:pt idx="2">
                  <c:v>固定布局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0.849</c:v>
                </c:pt>
                <c:pt idx="1">
                  <c:v>1.093</c:v>
                </c:pt>
                <c:pt idx="2">
                  <c:v>0.928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配送时间</c:v>
          </c:tx>
          <c:spPr>
            <a:solidFill xmlns:a="http://schemas.openxmlformats.org/drawingml/2006/main">
              <a:srgbClr val="078F86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8C9AA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3AC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078F8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综合风险</c:v>
                </c:pt>
                <c:pt idx="1">
                  <c:v>距离优先</c:v>
                </c:pt>
                <c:pt idx="2">
                  <c:v>固定布局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137.15</c:v>
                </c:pt>
                <c:pt idx="1">
                  <c:v>123.71</c:v>
                </c:pt>
                <c:pt idx="2">
                  <c:v>166.12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1A1A9-2E1D-4188-A887-6DBB4BDD0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24e7fda9748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中国仿真创新应用大赛">
            <a:extLst xmlns:a="http://schemas.openxmlformats.org/drawingml/2006/main">
              <a:ext uri="{FF2B5EF4-FFF2-40B4-BE49-F238E27FC236}">
                <a16:creationId xmlns:a16="http://schemas.microsoft.com/office/drawing/2014/main" id="{97B08766-59C2-42C7-8364-65E2C9B4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中国仿真创新应用大赛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54E79-9F70-4815-A009-790687B3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5257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A56"/>
            </a:solidFill>
            <a:prstDash val="solid"/>
          </a:ln>
        </p:spPr>
      </p:sp>
      <p:sp>
        <p:nvSpPr>
          <p:cNvPr id="4" name="园区低空配送">
            <a:extLst xmlns:a="http://schemas.openxmlformats.org/drawingml/2006/main">
              <a:ext uri="{FF2B5EF4-FFF2-40B4-BE49-F238E27FC236}">
                <a16:creationId xmlns:a16="http://schemas.microsoft.com/office/drawing/2014/main" id="{E4522736-97CB-4600-81E2-76BB53C5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334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园区低空配送</a:t>
            </a:r>
          </a:p>
        </p:txBody>
      </p:sp>
      <p:sp>
        <p:nvSpPr>
          <p:cNvPr id="5" name="风险仿真与">
            <a:extLst xmlns:a="http://schemas.openxmlformats.org/drawingml/2006/main">
              <a:ext uri="{FF2B5EF4-FFF2-40B4-BE49-F238E27FC236}">
                <a16:creationId xmlns:a16="http://schemas.microsoft.com/office/drawing/2014/main" id="{414EB77A-FF4F-4FB0-8CF9-C4E26DA8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239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风险仿真与</a:t>
            </a:r>
          </a:p>
        </p:txBody>
      </p:sp>
      <p:sp>
        <p:nvSpPr>
          <p:cNvPr id="6" name="起降场选址">
            <a:extLst xmlns:a="http://schemas.openxmlformats.org/drawingml/2006/main">
              <a:ext uri="{FF2B5EF4-FFF2-40B4-BE49-F238E27FC236}">
                <a16:creationId xmlns:a16="http://schemas.microsoft.com/office/drawing/2014/main" id="{291924F5-A13B-49C3-97FA-4AE91537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7239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起降场选址</a:t>
            </a:r>
          </a:p>
        </p:txBody>
      </p:sp>
      <p:sp>
        <p:nvSpPr>
          <p:cNvPr id="7" name="面向园区末端配送的低空风险仿真与起降场选址系统">
            <a:extLst xmlns:a="http://schemas.openxmlformats.org/drawingml/2006/main">
              <a:ext uri="{FF2B5EF4-FFF2-40B4-BE49-F238E27FC236}">
                <a16:creationId xmlns:a16="http://schemas.microsoft.com/office/drawing/2014/main" id="{43625803-4D44-4E8C-85BE-9D167029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628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面向园区末端配送的低空风险仿真与起降场选址系统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5583B-5CE2-46FE-9093-9392A5C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961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A56"/>
            </a:solidFill>
            <a:prstDash val="solid"/>
          </a:ln>
        </p:spPr>
      </p:sp>
      <p:sp>
        <p:nvSpPr>
          <p:cNvPr id="9" name="项目答辩  /  2026">
            <a:extLst xmlns:a="http://schemas.openxmlformats.org/drawingml/2006/main">
              <a:ext uri="{FF2B5EF4-FFF2-40B4-BE49-F238E27FC236}">
                <a16:creationId xmlns:a16="http://schemas.microsoft.com/office/drawing/2014/main" id="{1786319E-A349-4478-AF5E-EDE2433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723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项目答辩  /  2026</a:t>
            </a:r>
          </a:p>
        </p:txBody>
      </p:sp>
      <p:sp>
        <p:nvSpPr>
          <p:cNvPr id="10" name="园区场景示意">
            <a:extLst xmlns:a="http://schemas.openxmlformats.org/drawingml/2006/main">
              <a:ext uri="{FF2B5EF4-FFF2-40B4-BE49-F238E27FC236}">
                <a16:creationId xmlns:a16="http://schemas.microsoft.com/office/drawing/2014/main" id="{1D52AD39-6314-45EA-BD15-3617D408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0676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园区场景示意</a:t>
            </a:r>
          </a:p>
        </p:txBody>
      </p:sp>
    </p:spTree>
    <p:extLst>
      <p:ext uri="{BB962C8B-B14F-4D97-AF65-F5344CB8AC3E}">
        <p14:creationId xmlns:p14="http://schemas.microsoft.com/office/powerpoint/2010/main" val="1354806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园区配送中的空间与运行约束">
            <a:extLst xmlns:a="http://schemas.openxmlformats.org/drawingml/2006/main">
              <a:ext uri="{FF2B5EF4-FFF2-40B4-BE49-F238E27FC236}">
                <a16:creationId xmlns:a16="http://schemas.microsoft.com/office/drawing/2014/main" id="{85F6FD3E-37CE-4CF2-A74F-C82313B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园区配送中的空间与运行约束</a:t>
            </a:r>
          </a:p>
        </p:txBody>
      </p:sp>
      <p:sp>
        <p:nvSpPr>
          <p:cNvPr id="2" name="规划需要同时回答在哪里起降、沿哪里飞行、何时安排出发">
            <a:extLst xmlns:a="http://schemas.openxmlformats.org/drawingml/2006/main">
              <a:ext uri="{FF2B5EF4-FFF2-40B4-BE49-F238E27FC236}">
                <a16:creationId xmlns:a16="http://schemas.microsoft.com/office/drawing/2014/main" id="{B388C931-0703-41A3-A927-74BE7FB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规划需要同时回答在哪里起降、沿哪里飞行、何时安排出发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8C548-EED6-43D7-8AF3-0F6BCF93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场景插画用于说明问题，定量实验采用自建模拟园区">
            <a:extLst xmlns:a="http://schemas.openxmlformats.org/drawingml/2006/main">
              <a:ext uri="{FF2B5EF4-FFF2-40B4-BE49-F238E27FC236}">
                <a16:creationId xmlns:a16="http://schemas.microsoft.com/office/drawing/2014/main" id="{37AA500D-3680-4542-9DE4-97F2E8A3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场景插画用于说明问题，定量实验采用自建模拟园区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784BF6A4-2039-4C1A-A6AE-B7E667BD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A744E-FC40-40D1-9834-90706EB571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5f2c9c85240e4"/>
          <a:srcRect xmlns:a="http://schemas.openxmlformats.org/drawingml/2006/main" l="0" t="11334" r="0" b="11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000250"/>
            <a:ext cx="6858000" cy="5429250"/>
          </a:xfrm>
          <a:prstGeom xmlns:a="http://schemas.openxmlformats.org/drawingml/2006/main" prst="rect">
            <a:avLst/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33588F45-AAFE-426C-81D6-BE1FCB7A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6692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建筑通行">
            <a:extLst xmlns:a="http://schemas.openxmlformats.org/drawingml/2006/main">
              <a:ext uri="{FF2B5EF4-FFF2-40B4-BE49-F238E27FC236}">
                <a16:creationId xmlns:a16="http://schemas.microsoft.com/office/drawing/2014/main" id="{0E79E187-D6B3-412A-B4BB-ECCD11B8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24075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建筑通行</a:t>
            </a:r>
          </a:p>
        </p:txBody>
      </p:sp>
      <p:sp>
        <p:nvSpPr>
          <p:cNvPr id="9" name="建筑高度与巡航高度共同决定&#10;当前飞行平面能否通过。">
            <a:extLst xmlns:a="http://schemas.openxmlformats.org/drawingml/2006/main">
              <a:ext uri="{FF2B5EF4-FFF2-40B4-BE49-F238E27FC236}">
                <a16:creationId xmlns:a16="http://schemas.microsoft.com/office/drawing/2014/main" id="{442A4D3F-8968-41FD-8D9B-691A70C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38425"/>
            <a:ext cx="520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建筑高度与巡航高度共同决定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当前飞行平面能否通过。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2A48EF1D-0A08-4B7C-ADF1-F9246E8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6715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地面人员暴露">
            <a:extLst xmlns:a="http://schemas.openxmlformats.org/drawingml/2006/main">
              <a:ext uri="{FF2B5EF4-FFF2-40B4-BE49-F238E27FC236}">
                <a16:creationId xmlns:a16="http://schemas.microsoft.com/office/drawing/2014/main" id="{12954F5F-2EC8-4ED5-A1EE-F5371762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243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地面人员暴露</a:t>
            </a:r>
          </a:p>
        </p:txBody>
      </p:sp>
      <p:sp>
        <p:nvSpPr>
          <p:cNvPr id="12" name="相近航程可能经过不同的人群区，&#10;需要比较路径暴露。">
            <a:extLst xmlns:a="http://schemas.openxmlformats.org/drawingml/2006/main">
              <a:ext uri="{FF2B5EF4-FFF2-40B4-BE49-F238E27FC236}">
                <a16:creationId xmlns:a16="http://schemas.microsoft.com/office/drawing/2014/main" id="{F7164C6D-58A2-4018-8099-D2F2321B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438650"/>
            <a:ext cx="520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相近航程可能经过不同的人群区，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需要比较路径暴露。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7781BC95-03E1-4DAD-B9C7-A82E0E1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6737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多机与场站竞争">
            <a:extLst xmlns:a="http://schemas.openxmlformats.org/drawingml/2006/main">
              <a:ext uri="{FF2B5EF4-FFF2-40B4-BE49-F238E27FC236}">
                <a16:creationId xmlns:a16="http://schemas.microsoft.com/office/drawing/2014/main" id="{7367B400-2733-4377-9A0A-868318F2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24525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多机与场站竞争</a:t>
            </a:r>
          </a:p>
        </p:txBody>
      </p:sp>
      <p:sp>
        <p:nvSpPr>
          <p:cNvPr id="15" name="共享起降服务位与交叉航线&#10;会产生排队和间距不足。">
            <a:extLst xmlns:a="http://schemas.openxmlformats.org/drawingml/2006/main">
              <a:ext uri="{FF2B5EF4-FFF2-40B4-BE49-F238E27FC236}">
                <a16:creationId xmlns:a16="http://schemas.microsoft.com/office/drawing/2014/main" id="{B39CB23F-3C9C-4432-8D46-0A2CDCF8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6238875"/>
            <a:ext cx="520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共享起降服务位与交叉航线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会产生排队和间距不足。</a:t>
            </a:r>
          </a:p>
        </p:txBody>
      </p:sp>
    </p:spTree>
    <p:extLst>
      <p:ext uri="{BB962C8B-B14F-4D97-AF65-F5344CB8AC3E}">
        <p14:creationId xmlns:p14="http://schemas.microsoft.com/office/powerpoint/2010/main" val="1336696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可操作的仿真与方案比较系统">
            <a:extLst xmlns:a="http://schemas.openxmlformats.org/drawingml/2006/main">
              <a:ext uri="{FF2B5EF4-FFF2-40B4-BE49-F238E27FC236}">
                <a16:creationId xmlns:a16="http://schemas.microsoft.com/office/drawing/2014/main" id="{D96163D6-A9A9-43E2-B122-2726C18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可操作的仿真与方案比较系统</a:t>
            </a:r>
          </a:p>
        </p:txBody>
      </p:sp>
      <p:sp>
        <p:nvSpPr>
          <p:cNvPr id="2" name="统一场景输入，保留到订单和任务层级的计算结果">
            <a:extLst xmlns:a="http://schemas.openxmlformats.org/drawingml/2006/main">
              <a:ext uri="{FF2B5EF4-FFF2-40B4-BE49-F238E27FC236}">
                <a16:creationId xmlns:a16="http://schemas.microsoft.com/office/drawing/2014/main" id="{173CEBB1-0920-4B37-8D7A-FDED2E07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统一场景输入，保留到订单和任务层级的计算结果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228DF-C07B-48B2-9423-F36E372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界面为单次运行示例，批量实验结果见第10、11页">
            <a:extLst xmlns:a="http://schemas.openxmlformats.org/drawingml/2006/main">
              <a:ext uri="{FF2B5EF4-FFF2-40B4-BE49-F238E27FC236}">
                <a16:creationId xmlns:a16="http://schemas.microsoft.com/office/drawing/2014/main" id="{D475FF96-01B3-4F90-BA97-8672CEFA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界面为单次运行示例，批量实验结果见第10、11页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645DF0A2-AF29-40C9-AC99-08AA14E8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B588F3B0-F1FE-4401-BD09-6E09357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场景输入">
            <a:extLst xmlns:a="http://schemas.openxmlformats.org/drawingml/2006/main">
              <a:ext uri="{FF2B5EF4-FFF2-40B4-BE49-F238E27FC236}">
                <a16:creationId xmlns:a16="http://schemas.microsoft.com/office/drawing/2014/main" id="{1C1185A5-C41C-40D6-9A75-A04DE3C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0275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场景输入</a:t>
            </a:r>
          </a:p>
        </p:txBody>
      </p:sp>
      <p:sp>
        <p:nvSpPr>
          <p:cNvPr id="8" name="图片、Excel或JSON导入，&#10;人工确认地图与建筑属性">
            <a:extLst xmlns:a="http://schemas.openxmlformats.org/drawingml/2006/main">
              <a:ext uri="{FF2B5EF4-FFF2-40B4-BE49-F238E27FC236}">
                <a16:creationId xmlns:a16="http://schemas.microsoft.com/office/drawing/2014/main" id="{ACE506DE-8EFC-414F-8F71-B1FE583E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图片、Excel或JSON导入，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人工确认地图与建筑属性。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E2A04345-C740-4AE1-BCBC-301FAFD7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方案计算">
            <a:extLst xmlns:a="http://schemas.openxmlformats.org/drawingml/2006/main">
              <a:ext uri="{FF2B5EF4-FFF2-40B4-BE49-F238E27FC236}">
                <a16:creationId xmlns:a16="http://schemas.microsoft.com/office/drawing/2014/main" id="{763D54DA-8F06-496F-BBC1-39A246FD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方案计算</a:t>
            </a:r>
          </a:p>
        </p:txBody>
      </p:sp>
      <p:sp>
        <p:nvSpPr>
          <p:cNvPr id="11" name="生成风险航路并评价候选场站，&#10;为订单预约无人机与服务位。">
            <a:extLst xmlns:a="http://schemas.openxmlformats.org/drawingml/2006/main">
              <a:ext uri="{FF2B5EF4-FFF2-40B4-BE49-F238E27FC236}">
                <a16:creationId xmlns:a16="http://schemas.microsoft.com/office/drawing/2014/main" id="{965FA1E9-A9C3-47D5-A0A3-755EC2A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生成风险航路并评价候选场站，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为订单预约无人机与服务位。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6B4E65EA-D887-4CC4-B37B-4989AFCE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结果复核">
            <a:extLst xmlns:a="http://schemas.openxmlformats.org/drawingml/2006/main">
              <a:ext uri="{FF2B5EF4-FFF2-40B4-BE49-F238E27FC236}">
                <a16:creationId xmlns:a16="http://schemas.microsoft.com/office/drawing/2014/main" id="{EA4E5CF8-4A0E-4A93-AAB3-AC255708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62625"/>
            <a:ext cx="367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结果复核</a:t>
            </a:r>
          </a:p>
        </p:txBody>
      </p:sp>
      <p:sp>
        <p:nvSpPr>
          <p:cNvPr id="14" name="回放航迹，检查等待与间距，&#10;导出JSON、CSV及SVG">
            <a:extLst xmlns:a="http://schemas.openxmlformats.org/drawingml/2006/main">
              <a:ext uri="{FF2B5EF4-FFF2-40B4-BE49-F238E27FC236}">
                <a16:creationId xmlns:a16="http://schemas.microsoft.com/office/drawing/2014/main" id="{F635B5B8-53AB-43DC-BC78-3D5F441A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76975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回放航迹，检查等待与间距，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导出JSON、CSV及SVG。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D11D1-A08E-4AC5-839C-03372E956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bc9daefd7465e"/>
          <a:stretch xmlns:a="http://schemas.openxmlformats.org/drawingml/2006/main"/>
        </p:blipFill>
        <p:spPr>
          <a:xfrm xmlns:a="http://schemas.openxmlformats.org/drawingml/2006/main">
            <a:off x="5622504" y="2143125"/>
            <a:ext cx="8852742" cy="5324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1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筑轮廓可编辑，楼高由用户填写">
            <a:extLst xmlns:a="http://schemas.openxmlformats.org/drawingml/2006/main">
              <a:ext uri="{FF2B5EF4-FFF2-40B4-BE49-F238E27FC236}">
                <a16:creationId xmlns:a16="http://schemas.microsoft.com/office/drawing/2014/main" id="{7A3658B2-E02E-4782-9AE2-D58734D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建筑轮廓可编辑，楼高由用户填写</a:t>
            </a:r>
          </a:p>
        </p:txBody>
      </p:sp>
      <p:sp>
        <p:nvSpPr>
          <p:cNvPr id="2" name="图片只生成建筑候选，人工校核后才进入仿真">
            <a:extLst xmlns:a="http://schemas.openxmlformats.org/drawingml/2006/main">
              <a:ext uri="{FF2B5EF4-FFF2-40B4-BE49-F238E27FC236}">
                <a16:creationId xmlns:a16="http://schemas.microsoft.com/office/drawing/2014/main" id="{2EA8BE89-5E67-45E3-B81C-174E0F87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图片只生成建筑候选，人工校核后才进入仿真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7E712-57E3-40B6-AEA6-610A7147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软件实际截图。识别候选需要人工核查，楼高不由图片推断">
            <a:extLst xmlns:a="http://schemas.openxmlformats.org/drawingml/2006/main">
              <a:ext uri="{FF2B5EF4-FFF2-40B4-BE49-F238E27FC236}">
                <a16:creationId xmlns:a16="http://schemas.microsoft.com/office/drawing/2014/main" id="{03012D6F-6B5B-47C3-90C5-6B2A8A09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软件实际截图。识别候选需要人工核查，楼高不由图片推断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DADB84B7-7EAD-4C1A-ACD4-E44B753B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5C785-4C59-484E-970E-5699E4990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c5b169ace4bd2"/>
          <a:stretch xmlns:a="http://schemas.openxmlformats.org/drawingml/2006/main"/>
        </p:blipFill>
        <p:spPr>
          <a:xfrm xmlns:a="http://schemas.openxmlformats.org/drawingml/2006/main">
            <a:off x="1154793" y="1866900"/>
            <a:ext cx="8853714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5AE12A23-84C7-4391-8A17-BCD14C67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11455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确认尺度">
            <a:extLst xmlns:a="http://schemas.openxmlformats.org/drawingml/2006/main">
              <a:ext uri="{FF2B5EF4-FFF2-40B4-BE49-F238E27FC236}">
                <a16:creationId xmlns:a16="http://schemas.microsoft.com/office/drawing/2014/main" id="{96C8BF2C-782F-4A3B-A32D-6D3D065E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1717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确认尺度</a:t>
            </a:r>
          </a:p>
        </p:txBody>
      </p:sp>
      <p:sp>
        <p:nvSpPr>
          <p:cNvPr id="9" name="整图宽度或两点定标，&#10;将像素转换为米制坐标。">
            <a:extLst xmlns:a="http://schemas.openxmlformats.org/drawingml/2006/main">
              <a:ext uri="{FF2B5EF4-FFF2-40B4-BE49-F238E27FC236}">
                <a16:creationId xmlns:a16="http://schemas.microsoft.com/office/drawing/2014/main" id="{E4750489-31CF-42FA-8C82-83588C64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8605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整图宽度或两点定标，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将像素转换为米制坐标。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F97DF280-58C3-4F3E-93B0-8AB09F47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1477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填写楼高">
            <a:extLst xmlns:a="http://schemas.openxmlformats.org/drawingml/2006/main">
              <a:ext uri="{FF2B5EF4-FFF2-40B4-BE49-F238E27FC236}">
                <a16:creationId xmlns:a16="http://schemas.microsoft.com/office/drawing/2014/main" id="{F63729F7-5149-4B13-BE10-0E16E7B5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9719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填写楼高</a:t>
            </a:r>
          </a:p>
        </p:txBody>
      </p:sp>
      <p:sp>
        <p:nvSpPr>
          <p:cNvPr id="12" name="逐栋或批量输入高度，&#10;缺少属性时提示补全。">
            <a:extLst xmlns:a="http://schemas.openxmlformats.org/drawingml/2006/main">
              <a:ext uri="{FF2B5EF4-FFF2-40B4-BE49-F238E27FC236}">
                <a16:creationId xmlns:a16="http://schemas.microsoft.com/office/drawing/2014/main" id="{86B34F68-99B8-4AA4-9CDD-FDD2A908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4862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逐栋或批量输入高度，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缺少属性时提示补全。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5877AD70-F7CA-4582-9EF3-3C6D044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1500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调整组件">
            <a:extLst xmlns:a="http://schemas.openxmlformats.org/drawingml/2006/main">
              <a:ext uri="{FF2B5EF4-FFF2-40B4-BE49-F238E27FC236}">
                <a16:creationId xmlns:a16="http://schemas.microsoft.com/office/drawing/2014/main" id="{366F5C6D-F64B-4E63-8933-A7C61E45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7721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调整组件</a:t>
            </a:r>
          </a:p>
        </p:txBody>
      </p:sp>
      <p:sp>
        <p:nvSpPr>
          <p:cNvPr id="15" name="增删、拖动与调整尺寸，&#10;支持撤销、重做及保存。">
            <a:extLst xmlns:a="http://schemas.openxmlformats.org/drawingml/2006/main">
              <a:ext uri="{FF2B5EF4-FFF2-40B4-BE49-F238E27FC236}">
                <a16:creationId xmlns:a16="http://schemas.microsoft.com/office/drawing/2014/main" id="{8FFDEFFB-F390-4715-8DAD-3D60494F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2865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增删、拖动与调整尺寸，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支持撤销、重做及保存。</a:t>
            </a:r>
          </a:p>
        </p:txBody>
      </p:sp>
    </p:spTree>
    <p:extLst>
      <p:ext uri="{BB962C8B-B14F-4D97-AF65-F5344CB8AC3E}">
        <p14:creationId xmlns:p14="http://schemas.microsoft.com/office/powerpoint/2010/main" val="1832276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固定高度约束与人员暴露模型">
            <a:extLst xmlns:a="http://schemas.openxmlformats.org/drawingml/2006/main">
              <a:ext uri="{FF2B5EF4-FFF2-40B4-BE49-F238E27FC236}">
                <a16:creationId xmlns:a16="http://schemas.microsoft.com/office/drawing/2014/main" id="{D38A77A0-9B41-4548-A88E-E4186D7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固定高度约束与人员暴露模型</a:t>
            </a:r>
          </a:p>
        </p:txBody>
      </p:sp>
      <p:sp>
        <p:nvSpPr>
          <p:cNvPr id="2" name="建筑决定能否通过，风险热点影响路径代价">
            <a:extLst xmlns:a="http://schemas.openxmlformats.org/drawingml/2006/main">
              <a:ext uri="{FF2B5EF4-FFF2-40B4-BE49-F238E27FC236}">
                <a16:creationId xmlns:a16="http://schemas.microsoft.com/office/drawing/2014/main" id="{A83BDB6C-8928-4387-BDBE-D2833995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建筑决定能否通过，风险热点影响路径代价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5AFA2-7D8B-4DAF-B906-37EEEB4B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参数均为研究设定。路径暴露为相对代理指标，尚未计入悬停暴">
            <a:extLst xmlns:a="http://schemas.openxmlformats.org/drawingml/2006/main">
              <a:ext uri="{FF2B5EF4-FFF2-40B4-BE49-F238E27FC236}">
                <a16:creationId xmlns:a16="http://schemas.microsoft.com/office/drawing/2014/main" id="{74DE8853-1FF6-4DBE-9264-DE8FEAE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参数均为研究设定。路径暴露为相对代理指标，尚未计入悬停暴露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EFC279F8-16BC-4CE7-BDF8-6F3D0DD3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B68D6-DB57-4007-B2EF-F5CCF4493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5b5ef51304564"/>
          <a:stretch xmlns:a="http://schemas.openxmlformats.org/drawingml/2006/main"/>
        </p:blipFill>
        <p:spPr>
          <a:xfrm xmlns:a="http://schemas.openxmlformats.org/drawingml/2006/main">
            <a:off x="1504140" y="2019300"/>
            <a:ext cx="6992971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建筑阻塞条件">
            <a:extLst xmlns:a="http://schemas.openxmlformats.org/drawingml/2006/main">
              <a:ext uri="{FF2B5EF4-FFF2-40B4-BE49-F238E27FC236}">
                <a16:creationId xmlns:a16="http://schemas.microsoft.com/office/drawing/2014/main" id="{600763F7-AA19-4672-9957-EAEF945E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建筑阻塞条件</a:t>
            </a:r>
          </a:p>
        </p:txBody>
      </p:sp>
      <p:sp>
        <p:nvSpPr>
          <p:cNvPr id="8" name="h + Δh ≥ H">
            <a:extLst xmlns:a="http://schemas.openxmlformats.org/drawingml/2006/main">
              <a:ext uri="{FF2B5EF4-FFF2-40B4-BE49-F238E27FC236}">
                <a16:creationId xmlns:a16="http://schemas.microsoft.com/office/drawing/2014/main" id="{BC389180-6996-42DC-B9CC-92871E92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h + Δh ≥ H</a:t>
            </a:r>
          </a:p>
        </p:txBody>
      </p:sp>
      <p:sp>
        <p:nvSpPr>
          <p:cNvPr id="9" name="巡航高度 H = 45 m&#10;垂直间距 Δh = 5 m&#10;">
            <a:extLst xmlns:a="http://schemas.openxmlformats.org/drawingml/2006/main">
              <a:ext uri="{FF2B5EF4-FFF2-40B4-BE49-F238E27FC236}">
                <a16:creationId xmlns:a16="http://schemas.microsoft.com/office/drawing/2014/main" id="{2034EA60-7BC0-468A-A2AB-92714EB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290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巡航高度 H = 45 m</a:t>
            </a:r>
          </a:p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垂直间距 Δh = 5 m</a:t>
            </a:r>
          </a:p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平面外扩 Δxy = 8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04B78-DCC2-4036-97BF-3211C0B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10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1" name="路径暴露">
            <a:extLst xmlns:a="http://schemas.openxmlformats.org/drawingml/2006/main">
              <a:ext uri="{FF2B5EF4-FFF2-40B4-BE49-F238E27FC236}">
                <a16:creationId xmlns:a16="http://schemas.microsoft.com/office/drawing/2014/main" id="{A8A62A57-684F-4AC6-A390-F025BBC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769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路径暴露</a:t>
            </a:r>
          </a:p>
        </p:txBody>
      </p:sp>
      <p:sp>
        <p:nvSpPr>
          <p:cNvPr id="12" name="路段长度与中点风险值累加，&#10;按往返航路计算每单指数。">
            <a:extLst xmlns:a="http://schemas.openxmlformats.org/drawingml/2006/main">
              <a:ext uri="{FF2B5EF4-FFF2-40B4-BE49-F238E27FC236}">
                <a16:creationId xmlns:a16="http://schemas.microsoft.com/office/drawing/2014/main" id="{EB357CA9-FDCB-45FE-9F66-EA989D4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路段长度与中点风险值累加，</a:t>
            </a:r>
          </a:p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按往返航路计算每单指数。</a:t>
            </a:r>
          </a:p>
        </p:txBody>
      </p:sp>
    </p:spTree>
    <p:extLst>
      <p:ext uri="{BB962C8B-B14F-4D97-AF65-F5344CB8AC3E}">
        <p14:creationId xmlns:p14="http://schemas.microsoft.com/office/powerpoint/2010/main" val="745345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风险加权A*航路规划">
            <a:extLst xmlns:a="http://schemas.openxmlformats.org/drawingml/2006/main">
              <a:ext uri="{FF2B5EF4-FFF2-40B4-BE49-F238E27FC236}">
                <a16:creationId xmlns:a16="http://schemas.microsoft.com/office/drawing/2014/main" id="{7EB8E7E6-3555-4486-BF60-3653D54E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风险加权A*航路规划</a:t>
            </a:r>
          </a:p>
        </p:txBody>
      </p:sp>
      <p:sp>
        <p:nvSpPr>
          <p:cNvPr id="2" name="在同一离散地图中平衡航程与人员暴露">
            <a:extLst xmlns:a="http://schemas.openxmlformats.org/drawingml/2006/main">
              <a:ext uri="{FF2B5EF4-FFF2-40B4-BE49-F238E27FC236}">
                <a16:creationId xmlns:a16="http://schemas.microsoft.com/office/drawing/2014/main" id="{7276693C-188B-4761-B0A4-E550794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在同一离散地图中平衡航程与人员暴露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0FC9F-44A4-4E3E-AEC5-5B1AF601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左图为规划原理示意。当前批量实验所有布局共用λ=2，未开">
            <a:extLst xmlns:a="http://schemas.openxmlformats.org/drawingml/2006/main">
              <a:ext uri="{FF2B5EF4-FFF2-40B4-BE49-F238E27FC236}">
                <a16:creationId xmlns:a16="http://schemas.microsoft.com/office/drawing/2014/main" id="{0811A471-FF29-4FC6-862E-5687E6BA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左图为规划原理示意。当前批量实验所有布局共用λ=2，未开展λ=0航路消融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29A97B15-4284-4844-9A7C-21B296C0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04359-56B4-4BE1-A950-1B5557402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9499bda044705"/>
          <a:stretch xmlns:a="http://schemas.openxmlformats.org/drawingml/2006/main"/>
        </p:blipFill>
        <p:spPr>
          <a:xfrm xmlns:a="http://schemas.openxmlformats.org/drawingml/2006/main">
            <a:off x="1291819" y="2133600"/>
            <a:ext cx="7893863" cy="5172075"/>
          </a:xfrm>
          <a:prstGeom xmlns:a="http://schemas.openxmlformats.org/drawingml/2006/main" prst="rect">
            <a:avLst/>
          </a:prstGeom>
        </p:spPr>
      </p:pic>
      <p:sp>
        <p:nvSpPr>
          <p:cNvPr id="7" name="灰线：几何距离示意    蓝线：回避高暴露区域的示意">
            <a:extLst xmlns:a="http://schemas.openxmlformats.org/drawingml/2006/main">
              <a:ext uri="{FF2B5EF4-FFF2-40B4-BE49-F238E27FC236}">
                <a16:creationId xmlns:a16="http://schemas.microsoft.com/office/drawing/2014/main" id="{0FEB40CE-6E62-457F-A0B8-4492385F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0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灰线：几何距离示意    蓝线：回避高暴露区域的示意</a:t>
            </a:r>
          </a:p>
        </p:txBody>
      </p:sp>
      <p:sp>
        <p:nvSpPr>
          <p:cNvPr id="8" name="边代价">
            <a:extLst xmlns:a="http://schemas.openxmlformats.org/drawingml/2006/main">
              <a:ext uri="{FF2B5EF4-FFF2-40B4-BE49-F238E27FC236}">
                <a16:creationId xmlns:a16="http://schemas.microsoft.com/office/drawing/2014/main" id="{B5B0F4E4-43FD-4F3C-B17A-8963FC3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336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边代价</a:t>
            </a:r>
          </a:p>
        </p:txBody>
      </p:sp>
      <p:sp>
        <p:nvSpPr>
          <p:cNvPr id="9" name="c = L × (1 + λr)">
            <a:extLst xmlns:a="http://schemas.openxmlformats.org/drawingml/2006/main">
              <a:ext uri="{FF2B5EF4-FFF2-40B4-BE49-F238E27FC236}">
                <a16:creationId xmlns:a16="http://schemas.microsoft.com/office/drawing/2014/main" id="{5565CF3A-AA2D-45D6-A4C6-9240EDE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c = L × (1 + λr)</a:t>
            </a:r>
          </a:p>
        </p:txBody>
      </p:sp>
      <p:sp>
        <p:nvSpPr>
          <p:cNvPr id="10" name="L：相邻节点距离&#10;r：边中点的风险值&#10;λ：非负风险权重">
            <a:extLst xmlns:a="http://schemas.openxmlformats.org/drawingml/2006/main">
              <a:ext uri="{FF2B5EF4-FFF2-40B4-BE49-F238E27FC236}">
                <a16:creationId xmlns:a16="http://schemas.microsoft.com/office/drawing/2014/main" id="{4F3C3360-AFE3-4347-8692-1913DFE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00450"/>
            <a:ext cx="4191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L：相邻节点距离</a:t>
            </a:r>
          </a:p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r：边中点的风险值</a:t>
            </a:r>
          </a:p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λ：非负风险权重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1BB78-7BC4-4599-A21B-1467920C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2" name="八邻域栅格，步长16 m">
            <a:extLst xmlns:a="http://schemas.openxmlformats.org/drawingml/2006/main">
              <a:ext uri="{FF2B5EF4-FFF2-40B4-BE49-F238E27FC236}">
                <a16:creationId xmlns:a16="http://schemas.microsoft.com/office/drawing/2014/main" id="{7AC82450-8AD4-4909-BAA9-0609C3E5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340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八邻域栅格，步长16 m</a:t>
            </a:r>
          </a:p>
        </p:txBody>
      </p:sp>
      <p:sp>
        <p:nvSpPr>
          <p:cNvPr id="13" name="欧氏距离作为启发函数。&#10;最优性限于当前离散图、&#10;接入节点">
            <a:extLst xmlns:a="http://schemas.openxmlformats.org/drawingml/2006/main">
              <a:ext uri="{FF2B5EF4-FFF2-40B4-BE49-F238E27FC236}">
                <a16:creationId xmlns:a16="http://schemas.microsoft.com/office/drawing/2014/main" id="{AC34795E-EBD5-4715-855C-F3CA368E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欧氏距离作为启发函数。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最优性限于当前离散图、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接入节点与约束。</a:t>
            </a:r>
          </a:p>
        </p:txBody>
      </p:sp>
    </p:spTree>
    <p:extLst>
      <p:ext uri="{BB962C8B-B14F-4D97-AF65-F5344CB8AC3E}">
        <p14:creationId xmlns:p14="http://schemas.microsoft.com/office/powerpoint/2010/main" val="821536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两起降场组合选址">
            <a:extLst xmlns:a="http://schemas.openxmlformats.org/drawingml/2006/main">
              <a:ext uri="{FF2B5EF4-FFF2-40B4-BE49-F238E27FC236}">
                <a16:creationId xmlns:a16="http://schemas.microsoft.com/office/drawing/2014/main" id="{D9D4E332-EFAC-473D-BF45-AD02074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两起降场组合选址</a:t>
            </a:r>
          </a:p>
        </p:txBody>
      </p:sp>
      <p:sp>
        <p:nvSpPr>
          <p:cNvPr id="2" name="先使用独立设计订单选址，再冻结场站进行评价">
            <a:extLst xmlns:a="http://schemas.openxmlformats.org/drawingml/2006/main">
              <a:ext uri="{FF2B5EF4-FFF2-40B4-BE49-F238E27FC236}">
                <a16:creationId xmlns:a16="http://schemas.microsoft.com/office/drawing/2014/main" id="{65B8648E-658C-4083-997C-D3E4DE4D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先使用独立设计订单选址，再冻结场站进行评价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5326-1B3B-4257-9863-8DA681B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权重为当前研究设定。最小评分限于给定候选集合、设计订单与">
            <a:extLst xmlns:a="http://schemas.openxmlformats.org/drawingml/2006/main">
              <a:ext uri="{FF2B5EF4-FFF2-40B4-BE49-F238E27FC236}">
                <a16:creationId xmlns:a16="http://schemas.microsoft.com/office/drawing/2014/main" id="{43D8C015-4581-4BCE-B683-E11884E1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权重为当前研究设定。最小评分限于给定候选集合、设计订单与评分规则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5E79C6F5-4B30-41C1-AD4A-A25E3E63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5B0A90E3-C5DC-479C-85BF-0000F28E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476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候选起降位置">
            <a:extLst xmlns:a="http://schemas.openxmlformats.org/drawingml/2006/main">
              <a:ext uri="{FF2B5EF4-FFF2-40B4-BE49-F238E27FC236}">
                <a16:creationId xmlns:a16="http://schemas.microsoft.com/office/drawing/2014/main" id="{B776A6DE-33E1-42DF-B8AF-9FA92339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24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候选起降位置</a:t>
            </a:r>
          </a:p>
        </p:txBody>
      </p:sp>
      <p:sp>
        <p:nvSpPr>
          <p:cNvPr id="8" name="最多28组">
            <a:extLst xmlns:a="http://schemas.openxmlformats.org/drawingml/2006/main">
              <a:ext uri="{FF2B5EF4-FFF2-40B4-BE49-F238E27FC236}">
                <a16:creationId xmlns:a16="http://schemas.microsoft.com/office/drawing/2014/main" id="{986E9568-60AC-4AFC-999C-903A0219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38650"/>
            <a:ext cx="5143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最多28组</a:t>
            </a:r>
          </a:p>
        </p:txBody>
      </p:sp>
      <p:sp>
        <p:nvSpPr>
          <p:cNvPr id="9" name="两两组合，逐组模拟与评分">
            <a:extLst xmlns:a="http://schemas.openxmlformats.org/drawingml/2006/main">
              <a:ext uri="{FF2B5EF4-FFF2-40B4-BE49-F238E27FC236}">
                <a16:creationId xmlns:a16="http://schemas.microsoft.com/office/drawing/2014/main" id="{909ED786-041C-4EC9-93CE-E6731FCD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9592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两两组合，逐组模拟与评分</a:t>
            </a:r>
          </a:p>
        </p:txBody>
      </p:sp>
      <p:sp>
        <p:nvSpPr>
          <p:cNvPr id="10" name="排除不可用候选后再枚举，&#10;失败订单另加惩罚。">
            <a:extLst xmlns:a="http://schemas.openxmlformats.org/drawingml/2006/main">
              <a:ext uri="{FF2B5EF4-FFF2-40B4-BE49-F238E27FC236}">
                <a16:creationId xmlns:a16="http://schemas.microsoft.com/office/drawing/2014/main" id="{8C28334E-83F1-4B60-AEE3-570A9A3F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2007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排除不可用候选后再枚举，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失败订单另加惩罚。</a:t>
            </a:r>
          </a:p>
        </p:txBody>
      </p:sp>
      <p:sp>
        <p:nvSpPr>
          <p:cNvPr id="11" name="综合评分权重">
            <a:extLst xmlns:a="http://schemas.openxmlformats.org/drawingml/2006/main">
              <a:ext uri="{FF2B5EF4-FFF2-40B4-BE49-F238E27FC236}">
                <a16:creationId xmlns:a16="http://schemas.microsoft.com/office/drawing/2014/main" id="{6447DC22-3576-43F0-91F4-20CB153B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综合评分权重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3D6E52BB-812C-4476-9897-2B1FB9B38CDE}"/>
              </a:ext>
            </a:extLst>
          </p:cNvPr>
          <p:cNvGraphicFramePr/>
          <p:nvPr/>
        </p:nvGraphicFramePr>
        <p:xfrm>
          <a:off xmlns:a="http://schemas.openxmlformats.org/drawingml/2006/main" x="6381750" y="2724150"/>
          <a:ext xmlns:a="http://schemas.openxmlformats.org/drawingml/2006/main" cx="8048625" cy="3800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76984c47a34ef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845EC-32FF-4FCC-9CD6-87B16089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772275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4" name="正常场景选中组合">
            <a:extLst xmlns:a="http://schemas.openxmlformats.org/drawingml/2006/main">
              <a:ext uri="{FF2B5EF4-FFF2-40B4-BE49-F238E27FC236}">
                <a16:creationId xmlns:a16="http://schemas.microsoft.com/office/drawing/2014/main" id="{D151713A-384E-4693-9865-B714BADE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91350"/>
            <a:ext cx="333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正常场景选中组合</a:t>
            </a:r>
          </a:p>
        </p:txBody>
      </p:sp>
      <p:sp>
        <p:nvSpPr>
          <p:cNvPr id="15" name="固定 S1+S5    距离优先 S3+S7    综合">
            <a:extLst xmlns:a="http://schemas.openxmlformats.org/drawingml/2006/main">
              <a:ext uri="{FF2B5EF4-FFF2-40B4-BE49-F238E27FC236}">
                <a16:creationId xmlns:a16="http://schemas.microsoft.com/office/drawing/2014/main" id="{74839339-5008-42F3-8C7B-D9E0008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295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固定 S1+S5    距离优先 S3+S7    综合风险 S2+S6</a:t>
            </a:r>
          </a:p>
        </p:txBody>
      </p:sp>
    </p:spTree>
    <p:extLst>
      <p:ext uri="{BB962C8B-B14F-4D97-AF65-F5344CB8AC3E}">
        <p14:creationId xmlns:p14="http://schemas.microsoft.com/office/powerpoint/2010/main" val="244409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连续时间间距检查与错峰出发">
            <a:extLst xmlns:a="http://schemas.openxmlformats.org/drawingml/2006/main">
              <a:ext uri="{FF2B5EF4-FFF2-40B4-BE49-F238E27FC236}">
                <a16:creationId xmlns:a16="http://schemas.microsoft.com/office/drawing/2014/main" id="{5B62D0AD-0C0B-48E5-B6BC-430455B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连续时间间距检查与错峰出发</a:t>
            </a:r>
          </a:p>
        </p:txBody>
      </p:sp>
      <p:sp>
        <p:nvSpPr>
          <p:cNvPr id="2" name="完整任务航迹参与预约检查，必要时推迟出发">
            <a:extLst xmlns:a="http://schemas.openxmlformats.org/drawingml/2006/main">
              <a:ext uri="{FF2B5EF4-FFF2-40B4-BE49-F238E27FC236}">
                <a16:creationId xmlns:a16="http://schemas.microsoft.com/office/drawing/2014/main" id="{C23F44EE-4BEC-4B78-B822-81FD8F97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完整任务航迹参与预约检查，必要时推迟出发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D840-75C1-4FC5-B81D-F8489A1A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O009在两种调度下使用同一场站与航路。时间轴展示去程、">
            <a:extLst xmlns:a="http://schemas.openxmlformats.org/drawingml/2006/main">
              <a:ext uri="{FF2B5EF4-FFF2-40B4-BE49-F238E27FC236}">
                <a16:creationId xmlns:a16="http://schemas.microsoft.com/office/drawing/2014/main" id="{C41927E9-9DA1-4038-99E8-64291700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O009在两种调度下使用同一场站与航路。时间轴展示去程、配送处理和返程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C17357C9-042B-4A89-840D-F8154333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20 m">
            <a:extLst xmlns:a="http://schemas.openxmlformats.org/drawingml/2006/main">
              <a:ext uri="{FF2B5EF4-FFF2-40B4-BE49-F238E27FC236}">
                <a16:creationId xmlns:a16="http://schemas.microsoft.com/office/drawing/2014/main" id="{D78B72BB-32AD-4EC3-9A26-E39C49BE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20 m</a:t>
            </a:r>
          </a:p>
        </p:txBody>
      </p:sp>
      <p:sp>
        <p:nvSpPr>
          <p:cNvPr id="7" name="模型中的最小间距阈值">
            <a:extLst xmlns:a="http://schemas.openxmlformats.org/drawingml/2006/main">
              <a:ext uri="{FF2B5EF4-FFF2-40B4-BE49-F238E27FC236}">
                <a16:creationId xmlns:a16="http://schemas.microsoft.com/office/drawing/2014/main" id="{DC40A0CC-7A58-4E8F-91B1-360E50EA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289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模型中的最小间距阈值</a:t>
            </a:r>
          </a:p>
        </p:txBody>
      </p:sp>
      <p:sp>
        <p:nvSpPr>
          <p:cNvPr id="8" name="5 s">
            <a:extLst xmlns:a="http://schemas.openxmlformats.org/drawingml/2006/main">
              <a:ext uri="{FF2B5EF4-FFF2-40B4-BE49-F238E27FC236}">
                <a16:creationId xmlns:a16="http://schemas.microsoft.com/office/drawing/2014/main" id="{016DA67D-BF21-4D5C-89BE-646EFC7C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5 s</a:t>
            </a:r>
          </a:p>
        </p:txBody>
      </p:sp>
      <p:sp>
        <p:nvSpPr>
          <p:cNvPr id="9" name="逐次推迟的搜索步长">
            <a:extLst xmlns:a="http://schemas.openxmlformats.org/drawingml/2006/main">
              <a:ext uri="{FF2B5EF4-FFF2-40B4-BE49-F238E27FC236}">
                <a16:creationId xmlns:a16="http://schemas.microsoft.com/office/drawing/2014/main" id="{AA14A479-5AEC-481C-B49F-6D3B0EA9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149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逐次推迟的搜索步长</a:t>
            </a:r>
          </a:p>
        </p:txBody>
      </p:sp>
      <p:sp>
        <p:nvSpPr>
          <p:cNvPr id="10" name="连续时间相对运动检测，&#10;最多额外推迟600秒。">
            <a:extLst xmlns:a="http://schemas.openxmlformats.org/drawingml/2006/main">
              <a:ext uri="{FF2B5EF4-FFF2-40B4-BE49-F238E27FC236}">
                <a16:creationId xmlns:a16="http://schemas.microsoft.com/office/drawing/2014/main" id="{8D357F0B-85A0-4D55-9FAD-B3C3B9CA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19825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连续时间相对运动检测，</a:t>
            </a:r>
          </a:p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最多额外推迟600秒。</a:t>
            </a:r>
          </a:p>
        </p:txBody>
      </p:sp>
      <p:sp>
        <p:nvSpPr>
          <p:cNvPr id="11" name="实际任务 O009：出发推迟15秒">
            <a:extLst xmlns:a="http://schemas.openxmlformats.org/drawingml/2006/main">
              <a:ext uri="{FF2B5EF4-FFF2-40B4-BE49-F238E27FC236}">
                <a16:creationId xmlns:a16="http://schemas.microsoft.com/office/drawing/2014/main" id="{AAFDBD91-269E-4412-B6EE-D8A649B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833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实际任务 O009：出发推迟15秒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7692E-F457-4760-8F01-B9F23FD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129FF-B571-406C-9D67-94D9EDBC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14" name="380">
            <a:extLst xmlns:a="http://schemas.openxmlformats.org/drawingml/2006/main">
              <a:ext uri="{FF2B5EF4-FFF2-40B4-BE49-F238E27FC236}">
                <a16:creationId xmlns:a16="http://schemas.microsoft.com/office/drawing/2014/main" id="{F26FAAFC-1282-4D56-A786-841882C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F64DC-414B-445A-B748-A326BDF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8C5F2-B166-4F93-9950-C7F3148D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17" name="400">
            <a:extLst xmlns:a="http://schemas.openxmlformats.org/drawingml/2006/main">
              <a:ext uri="{FF2B5EF4-FFF2-40B4-BE49-F238E27FC236}">
                <a16:creationId xmlns:a16="http://schemas.microsoft.com/office/drawing/2014/main" id="{81D15A4A-F6CC-4364-BBE5-7546BDB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82DDC-8F3B-4E53-8CFB-19A3D6E7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B3931-FB56-4DCF-B5FA-8D3423CF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20" name="420">
            <a:extLst xmlns:a="http://schemas.openxmlformats.org/drawingml/2006/main">
              <a:ext uri="{FF2B5EF4-FFF2-40B4-BE49-F238E27FC236}">
                <a16:creationId xmlns:a16="http://schemas.microsoft.com/office/drawing/2014/main" id="{8838BC5D-ACFB-4017-BD01-F899BB50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7836A-6CA7-46D9-87C7-FE0E786C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3202F-13BA-412F-8B82-AF25B10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23" name="440">
            <a:extLst xmlns:a="http://schemas.openxmlformats.org/drawingml/2006/main">
              <a:ext uri="{FF2B5EF4-FFF2-40B4-BE49-F238E27FC236}">
                <a16:creationId xmlns:a16="http://schemas.microsoft.com/office/drawing/2014/main" id="{9D253A5C-7A93-493A-846C-FF06F28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A4D20-B352-4A3B-8A33-056B4E14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F1E15-7BA8-453F-9D0F-AAAE0520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26" name="460">
            <a:extLst xmlns:a="http://schemas.openxmlformats.org/drawingml/2006/main">
              <a:ext uri="{FF2B5EF4-FFF2-40B4-BE49-F238E27FC236}">
                <a16:creationId xmlns:a16="http://schemas.microsoft.com/office/drawing/2014/main" id="{945010F3-0B57-4D3B-93A0-B4D1572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460</a:t>
            </a:r>
          </a:p>
        </p:txBody>
      </p:sp>
      <p:sp>
        <p:nvSpPr>
          <p:cNvPr id="27" name="基线">
            <a:extLst xmlns:a="http://schemas.openxmlformats.org/drawingml/2006/main">
              <a:ext uri="{FF2B5EF4-FFF2-40B4-BE49-F238E27FC236}">
                <a16:creationId xmlns:a16="http://schemas.microsoft.com/office/drawing/2014/main" id="{67F2A1E1-2544-4FAB-8944-25D6597E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57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93B00-94D3-4B82-8B56-6D727253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去程">
            <a:extLst xmlns:a="http://schemas.openxmlformats.org/drawingml/2006/main">
              <a:ext uri="{FF2B5EF4-FFF2-40B4-BE49-F238E27FC236}">
                <a16:creationId xmlns:a16="http://schemas.microsoft.com/office/drawing/2014/main" id="{99C6F1C8-87C5-4863-990B-74C88242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337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6FEF2-18CA-4CA9-9609-EDDC85F3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12" y="3333750"/>
            <a:ext cx="1714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配送">
            <a:extLst xmlns:a="http://schemas.openxmlformats.org/drawingml/2006/main">
              <a:ext uri="{FF2B5EF4-FFF2-40B4-BE49-F238E27FC236}">
                <a16:creationId xmlns:a16="http://schemas.microsoft.com/office/drawing/2014/main" id="{99A99432-A050-44B3-99D3-E668E098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12" y="3533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CCCC83-0F0B-4E0B-ACA2-DF865627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512" y="33337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返程">
            <a:extLst xmlns:a="http://schemas.openxmlformats.org/drawingml/2006/main">
              <a:ext uri="{FF2B5EF4-FFF2-40B4-BE49-F238E27FC236}">
                <a16:creationId xmlns:a16="http://schemas.microsoft.com/office/drawing/2014/main" id="{4BA6ED20-B7EE-43CB-8960-49907928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512" y="35337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返程</a:t>
            </a:r>
          </a:p>
        </p:txBody>
      </p:sp>
      <p:sp>
        <p:nvSpPr>
          <p:cNvPr id="34" name="出发 388 s">
            <a:extLst xmlns:a="http://schemas.openxmlformats.org/drawingml/2006/main">
              <a:ext uri="{FF2B5EF4-FFF2-40B4-BE49-F238E27FC236}">
                <a16:creationId xmlns:a16="http://schemas.microsoft.com/office/drawing/2014/main" id="{FC93ACCE-06E6-4D08-BF44-A99EA209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出发 388 s</a:t>
            </a:r>
          </a:p>
        </p:txBody>
      </p:sp>
      <p:sp>
        <p:nvSpPr>
          <p:cNvPr id="35" name="错峰">
            <a:extLst xmlns:a="http://schemas.openxmlformats.org/drawingml/2006/main">
              <a:ext uri="{FF2B5EF4-FFF2-40B4-BE49-F238E27FC236}">
                <a16:creationId xmlns:a16="http://schemas.microsoft.com/office/drawing/2014/main" id="{5C48A0AD-3597-42EB-B87E-CEF9044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339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错峰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E13462-517D-4A9C-A4B0-A46BDC6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101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去程">
            <a:extLst xmlns:a="http://schemas.openxmlformats.org/drawingml/2006/main">
              <a:ext uri="{FF2B5EF4-FFF2-40B4-BE49-F238E27FC236}">
                <a16:creationId xmlns:a16="http://schemas.microsoft.com/office/drawing/2014/main" id="{0A067F88-3C46-403C-BDA1-E8D875B7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2101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345511-2E81-487D-86FE-3F5345F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887" y="5010150"/>
            <a:ext cx="1714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配送">
            <a:extLst xmlns:a="http://schemas.openxmlformats.org/drawingml/2006/main">
              <a:ext uri="{FF2B5EF4-FFF2-40B4-BE49-F238E27FC236}">
                <a16:creationId xmlns:a16="http://schemas.microsoft.com/office/drawing/2014/main" id="{8C80040F-4428-46FB-BA3F-D1C0109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887" y="5210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5FCA83-D60D-4685-B0EB-853D07B7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387" y="50101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返程">
            <a:extLst xmlns:a="http://schemas.openxmlformats.org/drawingml/2006/main">
              <a:ext uri="{FF2B5EF4-FFF2-40B4-BE49-F238E27FC236}">
                <a16:creationId xmlns:a16="http://schemas.microsoft.com/office/drawing/2014/main" id="{AA1F51BE-2E89-4D67-A93D-12A1A34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387" y="52101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返程</a:t>
            </a:r>
          </a:p>
        </p:txBody>
      </p:sp>
      <p:sp>
        <p:nvSpPr>
          <p:cNvPr id="42" name="出发 403 s">
            <a:extLst xmlns:a="http://schemas.openxmlformats.org/drawingml/2006/main">
              <a:ext uri="{FF2B5EF4-FFF2-40B4-BE49-F238E27FC236}">
                <a16:creationId xmlns:a16="http://schemas.microsoft.com/office/drawing/2014/main" id="{5737E29E-230E-413B-85CA-3703844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出发 403 s</a:t>
            </a:r>
          </a:p>
        </p:txBody>
      </p:sp>
      <p:sp>
        <p:nvSpPr>
          <p:cNvPr id="43" name="仿真时间 / s">
            <a:extLst xmlns:a="http://schemas.openxmlformats.org/drawingml/2006/main">
              <a:ext uri="{FF2B5EF4-FFF2-40B4-BE49-F238E27FC236}">
                <a16:creationId xmlns:a16="http://schemas.microsoft.com/office/drawing/2014/main" id="{B12B6F6F-2588-4CBC-9942-78475A9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0199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仿真时间 / s</a:t>
            </a:r>
          </a:p>
        </p:txBody>
      </p:sp>
    </p:spTree>
    <p:extLst>
      <p:ext uri="{BB962C8B-B14F-4D97-AF65-F5344CB8AC3E}">
        <p14:creationId xmlns:p14="http://schemas.microsoft.com/office/powerpoint/2010/main" val="335517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实验设计与评价口径">
            <a:extLst xmlns:a="http://schemas.openxmlformats.org/drawingml/2006/main">
              <a:ext uri="{FF2B5EF4-FFF2-40B4-BE49-F238E27FC236}">
                <a16:creationId xmlns:a16="http://schemas.microsoft.com/office/drawing/2014/main" id="{634EC593-4A51-4947-89A8-F76BC08F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实验设计与评价口径</a:t>
            </a:r>
          </a:p>
        </p:txBody>
      </p:sp>
      <p:sp>
        <p:nvSpPr>
          <p:cNvPr id="2" name="每一组调度比较共享订单、布局、航路和服务参数">
            <a:extLst xmlns:a="http://schemas.openxmlformats.org/drawingml/2006/main">
              <a:ext uri="{FF2B5EF4-FFF2-40B4-BE49-F238E27FC236}">
                <a16:creationId xmlns:a16="http://schemas.microsoft.com/office/drawing/2014/main" id="{469F4F59-6DD8-4D7A-8964-BDCE83FD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每一组调度比较共享订单、布局、航路和服务参数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70FBD-1AF6-4AD2-8A44-B0238DD9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自建模拟园区960×640 m。5个评价种子为20261">
            <a:extLst xmlns:a="http://schemas.openxmlformats.org/drawingml/2006/main">
              <a:ext uri="{FF2B5EF4-FFF2-40B4-BE49-F238E27FC236}">
                <a16:creationId xmlns:a16="http://schemas.microsoft.com/office/drawing/2014/main" id="{DB9CB498-DD71-4E72-A3D5-8209057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自建模拟园区960×640 m。5个评价种子为20261015至20261019，仅表示随机流编号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D2C0C886-82E9-44B2-B96B-B51D996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90">
            <a:extLst xmlns:a="http://schemas.openxmlformats.org/drawingml/2006/main">
              <a:ext uri="{FF2B5EF4-FFF2-40B4-BE49-F238E27FC236}">
                <a16:creationId xmlns:a16="http://schemas.microsoft.com/office/drawing/2014/main" id="{0C4AFE02-F32E-435B-AAB2-AFA13A7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3810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7" name="条方案运行指标">
            <a:extLst xmlns:a="http://schemas.openxmlformats.org/drawingml/2006/main">
              <a:ext uri="{FF2B5EF4-FFF2-40B4-BE49-F238E27FC236}">
                <a16:creationId xmlns:a16="http://schemas.microsoft.com/office/drawing/2014/main" id="{E71CAE03-5151-4FBF-842C-089E5E8F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条方案运行指标</a:t>
            </a:r>
          </a:p>
        </p:txBody>
      </p:sp>
      <p:sp>
        <p:nvSpPr>
          <p:cNvPr id="8" name="45">
            <a:extLst xmlns:a="http://schemas.openxmlformats.org/drawingml/2006/main">
              <a:ext uri="{FF2B5EF4-FFF2-40B4-BE49-F238E27FC236}">
                <a16:creationId xmlns:a16="http://schemas.microsoft.com/office/drawing/2014/main" id="{5C94B3DA-7BA6-4098-93B4-FED5BBE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43425"/>
            <a:ext cx="3810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9" name="组基线与错峰配对">
            <a:extLst xmlns:a="http://schemas.openxmlformats.org/drawingml/2006/main">
              <a:ext uri="{FF2B5EF4-FFF2-40B4-BE49-F238E27FC236}">
                <a16:creationId xmlns:a16="http://schemas.microsoft.com/office/drawing/2014/main" id="{B0F63468-E22E-4D4C-8D63-2724FC27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组基线与错峰配对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BD990-B201-450D-AE19-162B3646EFAB}"/>
              </a:ext>
            </a:extLst>
          </p:cNvPr>
          <p:cNvGraphicFramePr/>
          <p:nvPr/>
        </p:nvGraphicFramePr>
        <p:xfrm>
          <a:off xmlns:a="http://schemas.openxmlformats.org/drawingml/2006/main" x="6048375" y="2200275"/>
          <a:ext xmlns:a="http://schemas.openxmlformats.org/drawingml/2006/main" cx="8410575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7575"/>
                <a:gridCol w="2286000"/>
                <a:gridCol w="2667000"/>
              </a:tblGrid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到达窗口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正常配送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高峰订单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固定局部关闭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1" name="3种场景 × 5个种子 × 3种布局 × 2种调度">
            <a:extLst xmlns:a="http://schemas.openxmlformats.org/drawingml/2006/main">
              <a:ext uri="{FF2B5EF4-FFF2-40B4-BE49-F238E27FC236}">
                <a16:creationId xmlns:a16="http://schemas.microsoft.com/office/drawing/2014/main" id="{6F4FC087-87EA-41EC-8937-B3577C0C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1977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3种场景 × 5个种子 × 3种布局 × 2种调度</a:t>
            </a:r>
          </a:p>
        </p:txBody>
      </p:sp>
      <p:sp>
        <p:nvSpPr>
          <p:cNvPr id="12" name="主要指标：配送时间、路径暴露、准时率、&#10;完成率，以及间距">
            <a:extLst xmlns:a="http://schemas.openxmlformats.org/drawingml/2006/main">
              <a:ext uri="{FF2B5EF4-FFF2-40B4-BE49-F238E27FC236}">
                <a16:creationId xmlns:a16="http://schemas.microsoft.com/office/drawing/2014/main" id="{579B506C-0D18-4649-A9C5-F5EFC3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553200"/>
            <a:ext cx="8382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主要指标：配送时间、路径暴露、准时率、</a:t>
            </a:r>
          </a:p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完成率，以及间距不足事件。</a:t>
            </a:r>
          </a:p>
        </p:txBody>
      </p:sp>
    </p:spTree>
    <p:extLst>
      <p:ext uri="{BB962C8B-B14F-4D97-AF65-F5344CB8AC3E}">
        <p14:creationId xmlns:p14="http://schemas.microsoft.com/office/powerpoint/2010/main" val="17742993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本次实验错峰后间距不足归零，配送时间增加">
            <a:extLst xmlns:a="http://schemas.openxmlformats.org/drawingml/2006/main">
              <a:ext uri="{FF2B5EF4-FFF2-40B4-BE49-F238E27FC236}">
                <a16:creationId xmlns:a16="http://schemas.microsoft.com/office/drawing/2014/main" id="{AAB06B6B-5CC2-4DAC-8FD0-2ECB87A3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本次实验错峰后间距不足归零，配送时间增加</a:t>
            </a:r>
          </a:p>
        </p:txBody>
      </p:sp>
      <p:sp>
        <p:nvSpPr>
          <p:cNvPr id="2" name="左图为综合风险布局的五种子均值，右侧为全部45组配对汇总">
            <a:extLst xmlns:a="http://schemas.openxmlformats.org/drawingml/2006/main">
              <a:ext uri="{FF2B5EF4-FFF2-40B4-BE49-F238E27FC236}">
                <a16:creationId xmlns:a16="http://schemas.microsoft.com/office/drawing/2014/main" id="{B260497A-E616-4DE5-8A0A-C90832C4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左图为综合风险布局的五种子均值，右侧为全部45组配对汇总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4A854-CCFB-4BE3-8AF0-FD1FA92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间距不足指模型中距离严格小于20 m的连续接近事件，零事">
            <a:extLst xmlns:a="http://schemas.openxmlformats.org/drawingml/2006/main">
              <a:ext uri="{FF2B5EF4-FFF2-40B4-BE49-F238E27FC236}">
                <a16:creationId xmlns:a16="http://schemas.microsoft.com/office/drawing/2014/main" id="{57B829C5-A833-4C7E-8E2A-2485D28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间距不足指模型中距离严格小于20 m的连续接近事件，零事件不等于真实飞行安全保证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0BF52EF1-92A3-48A0-BC0F-47E5CA36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间距不足事件 / 次">
            <a:extLst xmlns:a="http://schemas.openxmlformats.org/drawingml/2006/main">
              <a:ext uri="{FF2B5EF4-FFF2-40B4-BE49-F238E27FC236}">
                <a16:creationId xmlns:a16="http://schemas.microsoft.com/office/drawing/2014/main" id="{5BE6FC83-A780-48AE-A9DE-DE29DDCF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间距不足事件 / 次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90047BF-A5C7-4834-B90B-25E68CE28109}"/>
              </a:ext>
            </a:extLst>
          </p:cNvPr>
          <p:cNvGraphicFramePr/>
          <p:nvPr/>
        </p:nvGraphicFramePr>
        <p:xfrm>
          <a:off xmlns:a="http://schemas.openxmlformats.org/drawingml/2006/main" x="704850" y="2838450"/>
          <a:ext xmlns:a="http://schemas.openxmlformats.org/drawingml/2006/main" cx="8763000" cy="4514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59a00f6e2d47de"/>
          </a:graphicData>
        </a:graphic>
      </p:graphicFrame>
      <p:sp>
        <p:nvSpPr>
          <p:cNvPr id="8" name="700 / 0">
            <a:extLst xmlns:a="http://schemas.openxmlformats.org/drawingml/2006/main">
              <a:ext uri="{FF2B5EF4-FFF2-40B4-BE49-F238E27FC236}">
                <a16:creationId xmlns:a16="http://schemas.microsoft.com/office/drawing/2014/main" id="{EDDE971D-D593-4535-B7B8-B730C064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4457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700 / 0</a:t>
            </a:r>
          </a:p>
        </p:txBody>
      </p:sp>
      <p:sp>
        <p:nvSpPr>
          <p:cNvPr id="9" name="基线 / 错峰的事件合计">
            <a:extLst xmlns:a="http://schemas.openxmlformats.org/drawingml/2006/main">
              <a:ext uri="{FF2B5EF4-FFF2-40B4-BE49-F238E27FC236}">
                <a16:creationId xmlns:a16="http://schemas.microsoft.com/office/drawing/2014/main" id="{2BEE0915-4932-4E3B-A627-DC758E42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528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基线 / 错峰的事件合计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E3288-F90B-432A-8319-60131EB1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1" name="+35.53 s">
            <a:extLst xmlns:a="http://schemas.openxmlformats.org/drawingml/2006/main">
              <a:ext uri="{FF2B5EF4-FFF2-40B4-BE49-F238E27FC236}">
                <a16:creationId xmlns:a16="http://schemas.microsoft.com/office/drawing/2014/main" id="{190304D7-2192-40AC-865E-0575AE3C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+35.53 s</a:t>
            </a:r>
          </a:p>
        </p:txBody>
      </p:sp>
      <p:sp>
        <p:nvSpPr>
          <p:cNvPr id="12" name="平均配送时间的增加量">
            <a:extLst xmlns:a="http://schemas.openxmlformats.org/drawingml/2006/main">
              <a:ext uri="{FF2B5EF4-FFF2-40B4-BE49-F238E27FC236}">
                <a16:creationId xmlns:a16="http://schemas.microsoft.com/office/drawing/2014/main" id="{AE644AD3-2837-4F01-8E00-2F2E2A6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483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平均配送时间的增加量</a:t>
            </a:r>
          </a:p>
        </p:txBody>
      </p:sp>
      <p:sp>
        <p:nvSpPr>
          <p:cNvPr id="13" name="按45组运行等权计算。&#10;两种调度均无失败订单。">
            <a:extLst xmlns:a="http://schemas.openxmlformats.org/drawingml/2006/main">
              <a:ext uri="{FF2B5EF4-FFF2-40B4-BE49-F238E27FC236}">
                <a16:creationId xmlns:a16="http://schemas.microsoft.com/office/drawing/2014/main" id="{7F2C0D3F-8FBE-4A72-BC02-B16BE54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486525"/>
            <a:ext cx="4438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按45组运行等权计算。</a:t>
            </a:r>
          </a:p>
          <a:p xmlns:a="http://schemas.openxmlformats.org/drawingml/2006/main">
            <a: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两种调度均无失败订单。</a:t>
            </a:r>
          </a:p>
        </p:txBody>
      </p:sp>
    </p:spTree>
    <p:extLst>
      <p:ext uri="{BB962C8B-B14F-4D97-AF65-F5344CB8AC3E}">
        <p14:creationId xmlns:p14="http://schemas.microsoft.com/office/powerpoint/2010/main" val="134408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综合风险布局降低路径暴露，同时增加配送时间">
            <a:extLst xmlns:a="http://schemas.openxmlformats.org/drawingml/2006/main">
              <a:ext uri="{FF2B5EF4-FFF2-40B4-BE49-F238E27FC236}">
                <a16:creationId xmlns:a16="http://schemas.microsoft.com/office/drawing/2014/main" id="{45EC445D-0DC8-4707-B213-24B68D97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综合风险布局降低路径暴露，同时增加配送时间</a:t>
            </a:r>
          </a:p>
        </p:txBody>
      </p:sp>
      <p:sp>
        <p:nvSpPr>
          <p:cNvPr id="2" name="正常场景，启用错峰，三种布局均为五个评价种子的均值">
            <a:extLst xmlns:a="http://schemas.openxmlformats.org/drawingml/2006/main">
              <a:ext uri="{FF2B5EF4-FFF2-40B4-BE49-F238E27FC236}">
                <a16:creationId xmlns:a16="http://schemas.microsoft.com/office/drawing/2014/main" id="{CAB6B1EE-8203-49B9-A440-B65A6F2C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正常场景，启用错峰，三种布局均为五个评价种子的均值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EE66E-2D09-447D-896F-50797B8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相对距离优先布局比较。所有布局共用风险加权航路，结论限于">
            <a:extLst xmlns:a="http://schemas.openxmlformats.org/drawingml/2006/main">
              <a:ext uri="{FF2B5EF4-FFF2-40B4-BE49-F238E27FC236}">
                <a16:creationId xmlns:a16="http://schemas.microsoft.com/office/drawing/2014/main" id="{DDC5853B-EC18-41D8-A774-6C84C774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相对距离优先布局比较。所有布局共用风险加权航路，结论限于本地图与研究参数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6A8B7254-FF0A-48FB-9A00-C400F6E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每单路径暴露指数">
            <a:extLst xmlns:a="http://schemas.openxmlformats.org/drawingml/2006/main">
              <a:ext uri="{FF2B5EF4-FFF2-40B4-BE49-F238E27FC236}">
                <a16:creationId xmlns:a16="http://schemas.microsoft.com/office/drawing/2014/main" id="{73C5863B-20EA-47A9-8B41-0E45BAF7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每单路径暴露指数</a:t>
            </a:r>
          </a:p>
        </p:txBody>
      </p:sp>
      <p:sp>
        <p:nvSpPr>
          <p:cNvPr id="7" name="平均配送时间 / s">
            <a:extLst xmlns:a="http://schemas.openxmlformats.org/drawingml/2006/main">
              <a:ext uri="{FF2B5EF4-FFF2-40B4-BE49-F238E27FC236}">
                <a16:creationId xmlns:a16="http://schemas.microsoft.com/office/drawing/2014/main" id="{C5EAF034-663D-4F7E-AD6F-C233896A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050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平均配送时间 / 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F4EAFDD-5518-468B-AB9B-B235D88767FF}"/>
              </a:ext>
            </a:extLst>
          </p:cNvPr>
          <p:cNvGraphicFramePr/>
          <p:nvPr/>
        </p:nvGraphicFramePr>
        <p:xfrm>
          <a:off xmlns:a="http://schemas.openxmlformats.org/drawingml/2006/main" x="600075" y="2828925"/>
          <a:ext xmlns:a="http://schemas.openxmlformats.org/drawingml/2006/main" cx="67627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3404c194c046f5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79CEDD7-DBBF-4F04-BCFD-D4F581711A97}"/>
              </a:ext>
            </a:extLst>
          </p:cNvPr>
          <p:cNvGraphicFramePr/>
          <p:nvPr/>
        </p:nvGraphicFramePr>
        <p:xfrm>
          <a:off xmlns:a="http://schemas.openxmlformats.org/drawingml/2006/main" x="7715250" y="2828925"/>
          <a:ext xmlns:a="http://schemas.openxmlformats.org/drawingml/2006/main" cx="67627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ac67c07ba84fcc"/>
          </a:graphicData>
        </a:graphic>
      </p:graphicFrame>
      <p:sp>
        <p:nvSpPr>
          <p:cNvPr id="10" name="降低22.3%">
            <a:extLst xmlns:a="http://schemas.openxmlformats.org/drawingml/2006/main">
              <a:ext uri="{FF2B5EF4-FFF2-40B4-BE49-F238E27FC236}">
                <a16:creationId xmlns:a16="http://schemas.microsoft.com/office/drawing/2014/main" id="{AFB80160-855B-4F68-A564-E0903D4F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628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降低22.3%</a:t>
            </a:r>
          </a:p>
        </p:txBody>
      </p:sp>
      <p:sp>
        <p:nvSpPr>
          <p:cNvPr id="11" name="路径暴露：1.093降至0.849">
            <a:extLst xmlns:a="http://schemas.openxmlformats.org/drawingml/2006/main">
              <a:ext uri="{FF2B5EF4-FFF2-40B4-BE49-F238E27FC236}">
                <a16:creationId xmlns:a16="http://schemas.microsoft.com/office/drawing/2014/main" id="{76A46E69-2354-4E6F-AD95-3B06ADF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485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路径暴露：1.093降至0.849</a:t>
            </a:r>
          </a:p>
        </p:txBody>
      </p:sp>
      <p:sp>
        <p:nvSpPr>
          <p:cNvPr id="12" name="增加13.44秒">
            <a:extLst xmlns:a="http://schemas.openxmlformats.org/drawingml/2006/main">
              <a:ext uri="{FF2B5EF4-FFF2-40B4-BE49-F238E27FC236}">
                <a16:creationId xmlns:a16="http://schemas.microsoft.com/office/drawing/2014/main" id="{9AA7CFBB-0AB7-49BE-9C6F-CB0AD866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477000"/>
            <a:ext cx="647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增加13.44秒</a:t>
            </a:r>
          </a:p>
        </p:txBody>
      </p:sp>
      <p:sp>
        <p:nvSpPr>
          <p:cNvPr id="13" name="配送时间：123.71增至137.15秒">
            <a:extLst xmlns:a="http://schemas.openxmlformats.org/drawingml/2006/main">
              <a:ext uri="{FF2B5EF4-FFF2-40B4-BE49-F238E27FC236}">
                <a16:creationId xmlns:a16="http://schemas.microsoft.com/office/drawing/2014/main" id="{8CEE47E9-74E9-42E9-A8F0-A662DA6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485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配送时间：123.71增至137.15秒</a:t>
            </a:r>
          </a:p>
        </p:txBody>
      </p:sp>
    </p:spTree>
    <p:extLst>
      <p:ext uri="{BB962C8B-B14F-4D97-AF65-F5344CB8AC3E}">
        <p14:creationId xmlns:p14="http://schemas.microsoft.com/office/powerpoint/2010/main" val="8522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已形成可复核原型，高峰容量仍需改进">
            <a:extLst xmlns:a="http://schemas.openxmlformats.org/drawingml/2006/main">
              <a:ext uri="{FF2B5EF4-FFF2-40B4-BE49-F238E27FC236}">
                <a16:creationId xmlns:a16="http://schemas.microsoft.com/office/drawing/2014/main" id="{A71F5E75-C572-40A4-84EA-C0900C68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已形成可复核原型，高峰容量仍需改进</a:t>
            </a:r>
          </a:p>
        </p:txBody>
      </p:sp>
      <p:sp>
        <p:nvSpPr>
          <p:cNvPr id="2" name="现阶段适合园区方案比较与仿真教学">
            <a:extLst xmlns:a="http://schemas.openxmlformats.org/drawingml/2006/main">
              <a:ext uri="{FF2B5EF4-FFF2-40B4-BE49-F238E27FC236}">
                <a16:creationId xmlns:a16="http://schemas.microsoft.com/office/drawing/2014/main" id="{A5CBD31F-DBAB-4961-AC87-F91E01C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现阶段适合园区方案比较与仿真教学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D4024-6DBE-4344-A87C-9F2F121A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全部定量结果来自模拟输入，尚未完成真实飞行验证">
            <a:extLst xmlns:a="http://schemas.openxmlformats.org/drawingml/2006/main">
              <a:ext uri="{FF2B5EF4-FFF2-40B4-BE49-F238E27FC236}">
                <a16:creationId xmlns:a16="http://schemas.microsoft.com/office/drawing/2014/main" id="{CED87520-62E8-4D68-900D-CA05B95B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全部定量结果来自模拟输入，尚未完成真实飞行验证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DD9EF6CB-39E7-44DB-A1FE-B796F8FB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已完成">
            <a:extLst xmlns:a="http://schemas.openxmlformats.org/drawingml/2006/main">
              <a:ext uri="{FF2B5EF4-FFF2-40B4-BE49-F238E27FC236}">
                <a16:creationId xmlns:a16="http://schemas.microsoft.com/office/drawing/2014/main" id="{9174B34C-433F-4F3F-9F96-5171D43F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地图组件与计算场景衔接">
            <a:extLst xmlns:a="http://schemas.openxmlformats.org/drawingml/2006/main">
              <a:ext uri="{FF2B5EF4-FFF2-40B4-BE49-F238E27FC236}">
                <a16:creationId xmlns:a16="http://schemas.microsoft.com/office/drawing/2014/main" id="{756A659E-8BAB-4B01-9F32-40BB1C9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地图组件与计算场景衔接</a:t>
            </a:r>
          </a:p>
        </p:txBody>
      </p:sp>
      <p:sp>
        <p:nvSpPr>
          <p:cNvPr id="8" name="手动楼高和编辑结果直接进入航路计算。">
            <a:extLst xmlns:a="http://schemas.openxmlformats.org/drawingml/2006/main">
              <a:ext uri="{FF2B5EF4-FFF2-40B4-BE49-F238E27FC236}">
                <a16:creationId xmlns:a16="http://schemas.microsoft.com/office/drawing/2014/main" id="{20752D21-4236-4584-88D5-4D99C33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433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手动楼高和编辑结果直接进入航路计算。</a:t>
            </a:r>
          </a:p>
        </p:txBody>
      </p:sp>
      <p:sp>
        <p:nvSpPr>
          <p:cNvPr id="9" name="选址、预约与间距检测串联">
            <a:extLst xmlns:a="http://schemas.openxmlformats.org/drawingml/2006/main">
              <a:ext uri="{FF2B5EF4-FFF2-40B4-BE49-F238E27FC236}">
                <a16:creationId xmlns:a16="http://schemas.microsoft.com/office/drawing/2014/main" id="{3A6A2C13-5A12-4401-A265-4BC369C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选址、预约与间距检测串联</a:t>
            </a:r>
          </a:p>
        </p:txBody>
      </p:sp>
      <p:sp>
        <p:nvSpPr>
          <p:cNvPr id="10" name="JSON、CSV、SVG输出支持任务级复核。">
            <a:extLst xmlns:a="http://schemas.openxmlformats.org/drawingml/2006/main">
              <a:ext uri="{FF2B5EF4-FFF2-40B4-BE49-F238E27FC236}">
                <a16:creationId xmlns:a16="http://schemas.microsoft.com/office/drawing/2014/main" id="{7C023675-F72A-4B21-8F82-FF235F50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JSON、CSV、SVG输出支持任务级复核。</a:t>
            </a:r>
          </a:p>
        </p:txBody>
      </p:sp>
      <p:sp>
        <p:nvSpPr>
          <p:cNvPr id="11" name="41项自动核验通过">
            <a:extLst xmlns:a="http://schemas.openxmlformats.org/drawingml/2006/main">
              <a:ext uri="{FF2B5EF4-FFF2-40B4-BE49-F238E27FC236}">
                <a16:creationId xmlns:a16="http://schemas.microsoft.com/office/drawing/2014/main" id="{26B5F42D-580B-44A8-87EA-9521DD96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81725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41项自动核验通过</a:t>
            </a:r>
          </a:p>
        </p:txBody>
      </p:sp>
      <p:sp>
        <p:nvSpPr>
          <p:cNvPr id="12" name="检查实现一致性，现实有效性仍需外部验证。">
            <a:extLst xmlns:a="http://schemas.openxmlformats.org/drawingml/2006/main">
              <a:ext uri="{FF2B5EF4-FFF2-40B4-BE49-F238E27FC236}">
                <a16:creationId xmlns:a16="http://schemas.microsoft.com/office/drawing/2014/main" id="{3E40F5BD-5D96-4B4A-BE1B-4C02A2B0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627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检查实现一致性，现实有效性仍需外部验证。</a:t>
            </a:r>
          </a:p>
        </p:txBody>
      </p:sp>
      <p:sp>
        <p:nvSpPr>
          <p:cNvPr id="13" name="高峰场景准时率">
            <a:extLst xmlns:a="http://schemas.openxmlformats.org/drawingml/2006/main">
              <a:ext uri="{FF2B5EF4-FFF2-40B4-BE49-F238E27FC236}">
                <a16:creationId xmlns:a16="http://schemas.microsoft.com/office/drawing/2014/main" id="{3D514D5A-E4B7-4082-859B-0DDF076C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52650"/>
            <a:ext cx="614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高峰场景准时率</a:t>
            </a:r>
          </a:p>
        </p:txBody>
      </p:sp>
      <p:sp>
        <p:nvSpPr>
          <p:cNvPr id="14" name="39.0%">
            <a:extLst xmlns:a="http://schemas.openxmlformats.org/drawingml/2006/main">
              <a:ext uri="{FF2B5EF4-FFF2-40B4-BE49-F238E27FC236}">
                <a16:creationId xmlns:a16="http://schemas.microsoft.com/office/drawing/2014/main" id="{318982F5-3E2C-40FD-BD19-F89A6A0A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6191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00" b="1">
                <a:solidFill>
                  <a:srgbClr val="C88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00" b="1">
                <a:solidFill>
                  <a:srgbClr val="C88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C88334"/>
                </a:solidFill>
                <a:latin typeface="Microsoft YaHei"/>
                <a:ea typeface="Microsoft YaHei"/>
                <a:cs typeface="Microsoft YaHei"/>
              </a:rPr>
              <a:t>39.0%</a:t>
            </a:r>
          </a:p>
        </p:txBody>
      </p:sp>
      <p:sp>
        <p:nvSpPr>
          <p:cNvPr id="15" name="综合风险布局启用错峰，平均配送778.18秒。">
            <a:extLst xmlns:a="http://schemas.openxmlformats.org/drawingml/2006/main">
              <a:ext uri="{FF2B5EF4-FFF2-40B4-BE49-F238E27FC236}">
                <a16:creationId xmlns:a16="http://schemas.microsoft.com/office/drawing/2014/main" id="{C0A717EF-6DDD-436B-BF80-CB2E130A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00575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综合风险布局启用错峰，平均配送778.18秒。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83AFE-D096-444B-8C78-B07DE845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435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7" name="下一步验证">
            <a:extLst xmlns:a="http://schemas.openxmlformats.org/drawingml/2006/main">
              <a:ext uri="{FF2B5EF4-FFF2-40B4-BE49-F238E27FC236}">
                <a16:creationId xmlns:a16="http://schemas.microsoft.com/office/drawing/2014/main" id="{9D2C9633-5453-42D0-B06A-A53C1E6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124575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18" name="接入可追溯园区数据，开展风险权重与&#10;机队容量实验，补入悬">
            <a:extLst xmlns:a="http://schemas.openxmlformats.org/drawingml/2006/main">
              <a:ext uri="{FF2B5EF4-FFF2-40B4-BE49-F238E27FC236}">
                <a16:creationId xmlns:a16="http://schemas.microsoft.com/office/drawing/2014/main" id="{A234A902-1F71-4344-8053-B18EFED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77227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接入可追溯园区数据，开展风险权重与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机队容量实验，补入悬停暴露和能耗。</a:t>
            </a:r>
          </a:p>
        </p:txBody>
      </p:sp>
    </p:spTree>
    <p:extLst>
      <p:ext uri="{BB962C8B-B14F-4D97-AF65-F5344CB8AC3E}">
        <p14:creationId xmlns:p14="http://schemas.microsoft.com/office/powerpoint/2010/main" val="2107794409"/>
      </p:ext>
    </p:extLst>
  </p:cSld>
</p:sld>
</file>

<file path=ppt/slides/slide1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备用：关键参数与结果离散程度">
            <a:extLst xmlns:a="http://schemas.openxmlformats.org/drawingml/2006/main">
              <a:ext uri="{FF2B5EF4-FFF2-40B4-BE49-F238E27FC236}">
                <a16:creationId xmlns:a16="http://schemas.microsoft.com/office/drawing/2014/main" id="{3B7A0529-2D1B-4298-84A9-064B92D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备用：关键参数与结果离散程度</a:t>
            </a:r>
          </a:p>
        </p:txBody>
      </p:sp>
      <p:sp>
        <p:nvSpPr>
          <p:cNvPr id="2" name="用于解释实验条件、指标含义和稳定性">
            <a:extLst xmlns:a="http://schemas.openxmlformats.org/drawingml/2006/main">
              <a:ext uri="{FF2B5EF4-FFF2-40B4-BE49-F238E27FC236}">
                <a16:creationId xmlns:a16="http://schemas.microsoft.com/office/drawing/2014/main" id="{223ECD54-ADEC-49D1-9262-736477C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用于解释实验条件、指标含义和稳定性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C9432-589E-40DC-95D3-3494D2C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间距事件数为综合风险布局的五种子均值±样本标准差，错峰结">
            <a:extLst xmlns:a="http://schemas.openxmlformats.org/drawingml/2006/main">
              <a:ext uri="{FF2B5EF4-FFF2-40B4-BE49-F238E27FC236}">
                <a16:creationId xmlns:a16="http://schemas.microsoft.com/office/drawing/2014/main" id="{2079E92F-F996-4341-AEF3-3FB50564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间距事件数为综合风险布局的五种子均值±样本标准差，错峰结果均为0±0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FD7BAC77-261F-44F2-BCC7-DAD6243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7FCD8-FDF6-4282-B9D7-0733664E1664}"/>
              </a:ext>
            </a:extLst>
          </p:cNvPr>
          <p:cNvGraphicFramePr/>
          <p:nvPr/>
        </p:nvGraphicFramePr>
        <p:xfrm>
          <a:off xmlns:a="http://schemas.openxmlformats.org/drawingml/2006/main" x="781050" y="2143125"/>
          <a:ext xmlns:a="http://schemas.openxmlformats.org/drawingml/2006/main" cx="7381875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3362325"/>
              </a:tblGrid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模型参数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当前设定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巡航高度 / 栅格步长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 m / 16 m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机队规模 / 匀速飞行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5架 / 9 m·s⁻¹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起飞 / 降落 / 配送处理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s / 20 s / 20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间距 / 搜索步长 / 推迟上限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m / 5 s / 600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准时阈值 / 航路风险权重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下单后600 s / λ=2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基线间距不足事件">
            <a:extLst xmlns:a="http://schemas.openxmlformats.org/drawingml/2006/main">
              <a:ext uri="{FF2B5EF4-FFF2-40B4-BE49-F238E27FC236}">
                <a16:creationId xmlns:a16="http://schemas.microsoft.com/office/drawing/2014/main" id="{62F5A76D-DB42-4DF1-85F1-6D6A08CE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62175"/>
            <a:ext cx="541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基线间距不足事件</a:t>
            </a:r>
          </a:p>
        </p:txBody>
      </p:sp>
      <p:sp>
        <p:nvSpPr>
          <p:cNvPr id="8" name="正常配送   9.20 ± 4.27">
            <a:extLst xmlns:a="http://schemas.openxmlformats.org/drawingml/2006/main">
              <a:ext uri="{FF2B5EF4-FFF2-40B4-BE49-F238E27FC236}">
                <a16:creationId xmlns:a16="http://schemas.microsoft.com/office/drawing/2014/main" id="{7986C07D-F35C-488D-901A-FDBD18F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正常配送   9.20 ± 4.27</a:t>
            </a:r>
          </a:p>
        </p:txBody>
      </p:sp>
      <p:sp>
        <p:nvSpPr>
          <p:cNvPr id="9" name="高峰订单  27.20 ± 2.49">
            <a:extLst xmlns:a="http://schemas.openxmlformats.org/drawingml/2006/main">
              <a:ext uri="{FF2B5EF4-FFF2-40B4-BE49-F238E27FC236}">
                <a16:creationId xmlns:a16="http://schemas.microsoft.com/office/drawing/2014/main" id="{46B00AF7-807E-46F8-9F71-3788ACB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高峰订单  27.20 ± 2.49</a:t>
            </a:r>
          </a:p>
        </p:txBody>
      </p:sp>
      <p:sp>
        <p:nvSpPr>
          <p:cNvPr id="10" name="局部关闭   9.40 ± 4.04">
            <a:extLst xmlns:a="http://schemas.openxmlformats.org/drawingml/2006/main">
              <a:ext uri="{FF2B5EF4-FFF2-40B4-BE49-F238E27FC236}">
                <a16:creationId xmlns:a16="http://schemas.microsoft.com/office/drawing/2014/main" id="{3A93B226-EF87-4727-A929-015BD793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3950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局部关闭   9.40 ± 4.04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EB053-73B5-49C0-86D1-DA1CFC80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531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2" name="5个种子只提供初步稳定性证据。&#10;误差为样本标准差，不是置">
            <a:extLst xmlns:a="http://schemas.openxmlformats.org/drawingml/2006/main">
              <a:ext uri="{FF2B5EF4-FFF2-40B4-BE49-F238E27FC236}">
                <a16:creationId xmlns:a16="http://schemas.microsoft.com/office/drawing/2014/main" id="{F3147413-B301-4683-B2AE-F07275EA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191250"/>
            <a:ext cx="5429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5个种子只提供初步稳定性证据。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误差为样本标准差，不是置信区间。</a:t>
            </a:r>
          </a:p>
        </p:txBody>
      </p:sp>
    </p:spTree>
    <p:extLst>
      <p:ext uri="{BB962C8B-B14F-4D97-AF65-F5344CB8AC3E}">
        <p14:creationId xmlns:p14="http://schemas.microsoft.com/office/powerpoint/2010/main" val="816360858"/>
      </p:ext>
    </p:extLst>
  </p:cSld>
</p:sld>
</file>

<file path=ppt/slides/slide1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备用：算法依据与复现入口">
            <a:extLst xmlns:a="http://schemas.openxmlformats.org/drawingml/2006/main">
              <a:ext uri="{FF2B5EF4-FFF2-40B4-BE49-F238E27FC236}">
                <a16:creationId xmlns:a16="http://schemas.microsoft.com/office/drawing/2014/main" id="{90D580EA-5A17-46CB-B4AC-F3E68DB0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备用：算法依据与复现入口</a:t>
            </a:r>
          </a:p>
        </p:txBody>
      </p:sp>
      <p:sp>
        <p:nvSpPr>
          <p:cNvPr id="2" name="标准算法提供基础，本作品实现面向园区的可编辑仿真流程">
            <a:extLst xmlns:a="http://schemas.openxmlformats.org/drawingml/2006/main">
              <a:ext uri="{FF2B5EF4-FFF2-40B4-BE49-F238E27FC236}">
                <a16:creationId xmlns:a16="http://schemas.microsoft.com/office/drawing/2014/main" id="{A3A3C688-0B73-479C-B4D6-484DFD4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标准算法提供基础，本作品实现面向园区的可编辑仿真流程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D4A2-E1C6-470A-B1B6-F9ED3FD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完整参考文献、算法边界与AI辅助说明见主报告">
            <a:extLst xmlns:a="http://schemas.openxmlformats.org/drawingml/2006/main">
              <a:ext uri="{FF2B5EF4-FFF2-40B4-BE49-F238E27FC236}">
                <a16:creationId xmlns:a16="http://schemas.microsoft.com/office/drawing/2014/main" id="{7D22C3A1-98E7-485F-8281-52D406FE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完整参考文献、算法边界与AI辅助说明见主报告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6A9AA830-CBCC-4181-8230-695F6450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主要算法依据">
            <a:extLst xmlns:a="http://schemas.openxmlformats.org/drawingml/2006/main">
              <a:ext uri="{FF2B5EF4-FFF2-40B4-BE49-F238E27FC236}">
                <a16:creationId xmlns:a16="http://schemas.microsoft.com/office/drawing/2014/main" id="{191FBC7D-7A3E-4C91-9694-A3CE708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主要算法依据</a:t>
            </a:r>
          </a:p>
        </p:txBody>
      </p:sp>
      <p:sp>
        <p:nvSpPr>
          <p:cNvPr id="7" name="A*搜索">
            <a:extLst xmlns:a="http://schemas.openxmlformats.org/drawingml/2006/main">
              <a:ext uri="{FF2B5EF4-FFF2-40B4-BE49-F238E27FC236}">
                <a16:creationId xmlns:a16="http://schemas.microsoft.com/office/drawing/2014/main" id="{18957727-02C0-4B2D-BE75-B6EFCBC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A*搜索</a:t>
            </a:r>
          </a:p>
        </p:txBody>
      </p:sp>
      <p:sp>
        <p:nvSpPr>
          <p:cNvPr id="8" name="Hart等，1968&#10;DOI: 10.1109/TSSC">
            <a:extLst xmlns:a="http://schemas.openxmlformats.org/drawingml/2006/main">
              <a:ext uri="{FF2B5EF4-FFF2-40B4-BE49-F238E27FC236}">
                <a16:creationId xmlns:a16="http://schemas.microsoft.com/office/drawing/2014/main" id="{4EE08B41-9CA7-42F2-8985-79F207A6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Hart等，1968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DOI: 10.1109/TSSC.1968.300136</a:t>
            </a:r>
          </a:p>
        </p:txBody>
      </p:sp>
      <p:sp>
        <p:nvSpPr>
          <p:cNvPr id="9" name="地面风险地图与风险航路">
            <a:extLst xmlns:a="http://schemas.openxmlformats.org/drawingml/2006/main">
              <a:ext uri="{FF2B5EF4-FFF2-40B4-BE49-F238E27FC236}">
                <a16:creationId xmlns:a16="http://schemas.microsoft.com/office/drawing/2014/main" id="{FAC020E8-ED3D-462F-A7B4-A352A04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地面风险地图与风险航路</a:t>
            </a:r>
          </a:p>
        </p:txBody>
      </p:sp>
      <p:sp>
        <p:nvSpPr>
          <p:cNvPr id="10" name="Primatesta等，2019 / 2020&#10;DOI:">
            <a:extLst xmlns:a="http://schemas.openxmlformats.org/drawingml/2006/main">
              <a:ext uri="{FF2B5EF4-FFF2-40B4-BE49-F238E27FC236}">
                <a16:creationId xmlns:a16="http://schemas.microsoft.com/office/drawing/2014/main" id="{9DC57812-CF69-456B-B84A-5056E1C3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685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Primatesta等，2019 / 2020</a:t>
            </a:r>
          </a:p>
          <a:p xmlns:a="http://schemas.openxmlformats.org/drawingml/2006/main">
            <a: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DOI: 10.1007/s10846-018-0924-3</a:t>
            </a:r>
          </a:p>
          <a:p xmlns:a="http://schemas.openxmlformats.org/drawingml/2006/main">
            <a: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DOI: 10.1007/s10846-019-01015-z</a:t>
            </a:r>
          </a:p>
        </p:txBody>
      </p:sp>
      <p:sp>
        <p:nvSpPr>
          <p:cNvPr id="11" name="冲突检测综述">
            <a:extLst xmlns:a="http://schemas.openxmlformats.org/drawingml/2006/main">
              <a:ext uri="{FF2B5EF4-FFF2-40B4-BE49-F238E27FC236}">
                <a16:creationId xmlns:a16="http://schemas.microsoft.com/office/drawing/2014/main" id="{4FFA325F-0DF5-48BC-8D8A-BD45606B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2940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冲突检测综述</a:t>
            </a:r>
          </a:p>
        </p:txBody>
      </p:sp>
      <p:sp>
        <p:nvSpPr>
          <p:cNvPr id="12" name="Kuchar与Yang，2000，DOI: 10.110">
            <a:extLst xmlns:a="http://schemas.openxmlformats.org/drawingml/2006/main">
              <a:ext uri="{FF2B5EF4-FFF2-40B4-BE49-F238E27FC236}">
                <a16:creationId xmlns:a16="http://schemas.microsoft.com/office/drawing/2014/main" id="{8C365631-F293-4CC1-BEEB-9AA6E954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247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Kuchar与Yang，2000，DOI: 10.1109/6979.898217</a:t>
            </a:r>
          </a:p>
        </p:txBody>
      </p:sp>
      <p:sp>
        <p:nvSpPr>
          <p:cNvPr id="13" name="复现入口">
            <a:extLst xmlns:a="http://schemas.openxmlformats.org/drawingml/2006/main">
              <a:ext uri="{FF2B5EF4-FFF2-40B4-BE49-F238E27FC236}">
                <a16:creationId xmlns:a16="http://schemas.microsoft.com/office/drawing/2014/main" id="{3F6515F5-10EC-4CB5-94C8-E150B848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14" name="程序入口">
            <a:extLst xmlns:a="http://schemas.openxmlformats.org/drawingml/2006/main">
              <a:ext uri="{FF2B5EF4-FFF2-40B4-BE49-F238E27FC236}">
                <a16:creationId xmlns:a16="http://schemas.microsoft.com/office/drawing/2014/main" id="{964B91A8-AB62-4326-A618-409C2B0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0375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程序入口</a:t>
            </a:r>
          </a:p>
        </p:txBody>
      </p:sp>
      <p:sp>
        <p:nvSpPr>
          <p:cNvPr id="15" name="python run.py">
            <a:extLst xmlns:a="http://schemas.openxmlformats.org/drawingml/2006/main">
              <a:ext uri="{FF2B5EF4-FFF2-40B4-BE49-F238E27FC236}">
                <a16:creationId xmlns:a16="http://schemas.microsoft.com/office/drawing/2014/main" id="{89B02A04-416C-4BFA-9236-FFB519B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python run.py</a:t>
            </a:r>
          </a:p>
        </p:txBody>
      </p:sp>
      <p:sp>
        <p:nvSpPr>
          <p:cNvPr id="16" name="原始实验与配对结果">
            <a:extLst xmlns:a="http://schemas.openxmlformats.org/drawingml/2006/main">
              <a:ext uri="{FF2B5EF4-FFF2-40B4-BE49-F238E27FC236}">
                <a16:creationId xmlns:a16="http://schemas.microsoft.com/office/drawing/2014/main" id="{0BAC7BAA-AD5F-4FD9-AB32-2B53756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57725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原始实验与配对结果</a:t>
            </a:r>
          </a:p>
        </p:txBody>
      </p:sp>
      <p:sp>
        <p:nvSpPr>
          <p:cNvPr id="17" name="results/safety/raw_metrics.c">
            <a:extLst xmlns:a="http://schemas.openxmlformats.org/drawingml/2006/main">
              <a:ext uri="{FF2B5EF4-FFF2-40B4-BE49-F238E27FC236}">
                <a16:creationId xmlns:a16="http://schemas.microsoft.com/office/drawing/2014/main" id="{570C7998-0695-466F-8184-698780C1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00650"/>
            <a:ext cx="590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results/safety/raw_metrics.csv</a:t>
            </a:r>
          </a:p>
          <a:p xmlns:a="http://schemas.openxmlformats.org/drawingml/2006/main">
            <a: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results/safety/paired_comparison.csv</a:t>
            </a:r>
          </a:p>
          <a:p xmlns:a="http://schemas.openxmlformats.org/drawingml/2006/main">
            <a: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results/safety/summary.csv</a:t>
            </a:r>
          </a:p>
        </p:txBody>
      </p:sp>
      <p:sp>
        <p:nvSpPr>
          <p:cNvPr id="18" name="核心实现">
            <a:extLst xmlns:a="http://schemas.openxmlformats.org/drawingml/2006/main">
              <a:ext uri="{FF2B5EF4-FFF2-40B4-BE49-F238E27FC236}">
                <a16:creationId xmlns:a16="http://schemas.microsoft.com/office/drawing/2014/main" id="{C3C4C877-1F8D-45C8-ACE1-9886C42F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743700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核心实现</a:t>
            </a:r>
          </a:p>
        </p:txBody>
      </p:sp>
      <p:sp>
        <p:nvSpPr>
          <p:cNvPr id="19" name="engine.py    airspace.py    ">
            <a:extLst xmlns:a="http://schemas.openxmlformats.org/drawingml/2006/main">
              <a:ext uri="{FF2B5EF4-FFF2-40B4-BE49-F238E27FC236}">
                <a16:creationId xmlns:a16="http://schemas.microsoft.com/office/drawing/2014/main" id="{FA583DB3-791E-4AB6-8D81-E285288B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2294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engine.py    airspace.py    map_editor.py</a:t>
            </a:r>
          </a:p>
        </p:txBody>
      </p:sp>
    </p:spTree>
    <p:extLst>
      <p:ext uri="{BB962C8B-B14F-4D97-AF65-F5344CB8AC3E}">
        <p14:creationId xmlns:p14="http://schemas.microsoft.com/office/powerpoint/2010/main" val="836228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2026-10-17T04:31:48.7260000Z</dcterms:created>
  <dcterms:modified xsi:type="dcterms:W3CDTF">2026-10-17T04:31:48.7260000Z</dcterms:modified>
</coreProperties>
</file>