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7ea1cc34ea464e" /><Relationship Type="http://schemas.openxmlformats.org/officeDocument/2006/relationships/extended-properties" Target="/docProps/app.xml" Id="R401364cd950143f8" /><Relationship Type="http://schemas.openxmlformats.org/officeDocument/2006/relationships/officeDocument" Target="/ppt/presentation.xml" Id="R718236f8e2d74b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ea2d7f6bea4076"/>
  </p:sldMasterIdLst>
  <p:notesMasterIdLst>
    <p:notesMasterId xmlns:r="http://schemas.openxmlformats.org/officeDocument/2006/relationships" r:id="Rc8f2b5553f1f49c8"/>
  </p:notesMasterIdLst>
  <p:sldIdLst>
    <p:sldId xmlns:r="http://schemas.openxmlformats.org/officeDocument/2006/relationships" id="256" r:id="R8671a3d2109248e0"/>
    <p:sldId xmlns:r="http://schemas.openxmlformats.org/officeDocument/2006/relationships" id="257" r:id="Rc1915a8cb4c94c6f"/>
    <p:sldId xmlns:r="http://schemas.openxmlformats.org/officeDocument/2006/relationships" id="258" r:id="R5324509003ec4bdf"/>
    <p:sldId xmlns:r="http://schemas.openxmlformats.org/officeDocument/2006/relationships" id="259" r:id="R40ac301d88d448cb"/>
    <p:sldId xmlns:r="http://schemas.openxmlformats.org/officeDocument/2006/relationships" id="260" r:id="R6376ccdf1aa0451f"/>
    <p:sldId xmlns:r="http://schemas.openxmlformats.org/officeDocument/2006/relationships" id="261" r:id="R3b05ffd197654776"/>
    <p:sldId xmlns:r="http://schemas.openxmlformats.org/officeDocument/2006/relationships" id="262" r:id="R8de8375c26b94636"/>
    <p:sldId xmlns:r="http://schemas.openxmlformats.org/officeDocument/2006/relationships" id="263" r:id="R6c168895d6fe44bb"/>
    <p:sldId xmlns:r="http://schemas.openxmlformats.org/officeDocument/2006/relationships" id="264" r:id="R4143c55c60fb40fe"/>
    <p:sldId xmlns:r="http://schemas.openxmlformats.org/officeDocument/2006/relationships" id="265" r:id="Re0adbe390a3e4b24"/>
    <p:sldId xmlns:r="http://schemas.openxmlformats.org/officeDocument/2006/relationships" id="266" r:id="Re9f672a42bf34db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40f6f67e3d40de" /><Relationship Type="http://schemas.openxmlformats.org/officeDocument/2006/relationships/slideMaster" Target="/ppt/slideMasters/slideMaster1.xml" Id="R8eea2d7f6bea4076" /><Relationship Type="http://schemas.openxmlformats.org/officeDocument/2006/relationships/notesMaster" Target="/ppt/notesMasters/notesMaster1.xml" Id="Rc8f2b5553f1f49c8" /><Relationship Type="http://schemas.openxmlformats.org/officeDocument/2006/relationships/presProps" Target="/ppt/presProps.xml" Id="R46eeb1da4d86425b" /><Relationship Type="http://schemas.openxmlformats.org/officeDocument/2006/relationships/tableStyles" Target="/ppt/tableStyles.xml" Id="R098f0b0651d348e0" /><Relationship Type="http://schemas.openxmlformats.org/officeDocument/2006/relationships/slide" Target="/ppt/slides/slide1.xml" Id="R8671a3d2109248e0" /><Relationship Type="http://schemas.openxmlformats.org/officeDocument/2006/relationships/slide" Target="/ppt/slides/slide2.xml" Id="Rc1915a8cb4c94c6f" /><Relationship Type="http://schemas.openxmlformats.org/officeDocument/2006/relationships/slide" Target="/ppt/slides/slide3.xml" Id="R5324509003ec4bdf" /><Relationship Type="http://schemas.openxmlformats.org/officeDocument/2006/relationships/slide" Target="/ppt/slides/slide4.xml" Id="R40ac301d88d448cb" /><Relationship Type="http://schemas.openxmlformats.org/officeDocument/2006/relationships/slide" Target="/ppt/slides/slide5.xml" Id="R6376ccdf1aa0451f" /><Relationship Type="http://schemas.openxmlformats.org/officeDocument/2006/relationships/slide" Target="/ppt/slides/slide6.xml" Id="R3b05ffd197654776" /><Relationship Type="http://schemas.openxmlformats.org/officeDocument/2006/relationships/slide" Target="/ppt/slides/slide7.xml" Id="R8de8375c26b94636" /><Relationship Type="http://schemas.openxmlformats.org/officeDocument/2006/relationships/slide" Target="/ppt/slides/slide8.xml" Id="R6c168895d6fe44bb" /><Relationship Type="http://schemas.openxmlformats.org/officeDocument/2006/relationships/slide" Target="/ppt/slides/slide9.xml" Id="R4143c55c60fb40fe" /><Relationship Type="http://schemas.openxmlformats.org/officeDocument/2006/relationships/slide" Target="/ppt/slides/slide10.xml" Id="Re0adbe390a3e4b24" /><Relationship Type="http://schemas.openxmlformats.org/officeDocument/2006/relationships/slide" Target="/ppt/slides/slide11.xml" Id="Re9f672a42bf34d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5561ca40b84c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43699bad4b46b9" /><Relationship Type="http://schemas.openxmlformats.org/officeDocument/2006/relationships/notesMaster" Target="/ppt/notesMasters/notesMaster1.xml" Id="R3eb74a5f161d42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c8f10b3bcb43e2" /><Relationship Type="http://schemas.openxmlformats.org/officeDocument/2006/relationships/notesMaster" Target="/ppt/notesMasters/notesMaster1.xml" Id="R090452c93d2a4e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c65e28f5d64eae" /><Relationship Type="http://schemas.openxmlformats.org/officeDocument/2006/relationships/notesMaster" Target="/ppt/notesMasters/notesMaster1.xml" Id="R8694b2cc37ae4c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242a1dde5e49eb" /><Relationship Type="http://schemas.openxmlformats.org/officeDocument/2006/relationships/notesMaster" Target="/ppt/notesMasters/notesMaster1.xml" Id="R50579e2f55e54a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c5c7866eb54157" /><Relationship Type="http://schemas.openxmlformats.org/officeDocument/2006/relationships/notesMaster" Target="/ppt/notesMasters/notesMaster1.xml" Id="R8438730b59bc48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897926d59741a9" /><Relationship Type="http://schemas.openxmlformats.org/officeDocument/2006/relationships/notesMaster" Target="/ppt/notesMasters/notesMaster1.xml" Id="Rde1f77c3c0d74b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350462ce3b46d4" /><Relationship Type="http://schemas.openxmlformats.org/officeDocument/2006/relationships/notesMaster" Target="/ppt/notesMasters/notesMaster1.xml" Id="Rc6f852bbbb704f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c941ff9ef5454a" /><Relationship Type="http://schemas.openxmlformats.org/officeDocument/2006/relationships/notesMaster" Target="/ppt/notesMasters/notesMaster1.xml" Id="R16bae1892cdd49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79e340266a46d1" /><Relationship Type="http://schemas.openxmlformats.org/officeDocument/2006/relationships/notesMaster" Target="/ppt/notesMasters/notesMaster1.xml" Id="R8b7806d5586741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30329f023e4cb1" /><Relationship Type="http://schemas.openxmlformats.org/officeDocument/2006/relationships/notesMaster" Target="/ppt/notesMasters/notesMaster1.xml" Id="R994a2a57209e4a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ccfaf2a44b4b03" /><Relationship Type="http://schemas.openxmlformats.org/officeDocument/2006/relationships/notesMaster" Target="/ppt/notesMasters/notesMaster1.xml" Id="Rcb3f5d516f7e48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建议15秒。说明作品定位与单位。研究固定巡航高度下的园区前期方案比较，没有真实飞行安全或运营认证。成员姓名和指导教师尚待本人填入。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results/sites_v1/manifest.json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建议15秒。90%只检查场景跨运行等权平均准时率，不是官方线、法规或逐单保证。四轴为失败率降低、准时率提高、配送秒数降低和路径暴露降低；仅针对本次三方案。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decision_support.py</a:t>
            </a:r>
          </a:p>
          <a:p xmlns:a="http://schemas.openxmlformats.org/drawingml/2006/main">
            <a:r>
              <a:t>docs/参赛验收/第二轮实验协议.json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40秒。现场先看团队可调目标，再看正常取舍及高峰全不达标。回放需主动选行，导出全研究无需选行；修改目标须应用后再回放或导出。设计优选即原运行优选，旧raw保留combined和旧名，名称只表示设计选择。图片尺度和楼高需人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site_ui.py</a:t>
            </a:r>
          </a:p>
          <a:p xmlns:a="http://schemas.openxmlformats.org/drawingml/2006/main">
            <a:r>
              <a:t>decision_support.py</a:t>
            </a:r>
          </a:p>
          <a:p xmlns:a="http://schemas.openxmlformats.org/drawingml/2006/main">
            <a:r>
              <a:t>docs/起飞点优选.md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建议25秒。间距、缓冲和权重是研究参数。连续时间检测包含去程、配送悬停、返程和返场等待悬停。固定高度匀速折线模型没有真实动力学、导航误差或避碰控制。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engine.py</a:t>
            </a:r>
          </a:p>
          <a:p xmlns:a="http://schemas.openxmlformats.org/drawingml/2006/main">
            <a:r>
              <a:t>airspace.py</a:t>
            </a:r>
          </a:p>
          <a:p xmlns:a="http://schemas.openxmlformats.org/drawingml/2006/main">
            <a:r>
              <a:t>tests/test_airspace.py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35秒。原四层为失败率、非准时率、每单超时、配送秒数+30×暴露。原3种子全样本精确复现；逐次留一每图3次中2次改变。默认去掉20470473后第二层仅-5.55e-17，精确选S4+S7，但跳过1e-8近似平局后第3层实质差+0.9884秒反而更差。分别报告精确/实质首分歧，不修改原排序，也不据留一重选旧布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results/sites_v1/manifest.json</a:t>
            </a:r>
          </a:p>
          <a:p xmlns:a="http://schemas.openxmlformats.org/drawingml/2006/main">
            <a:r>
              <a:t>results/decision_v07_round2/design_stability.json</a:t>
            </a:r>
          </a:p>
          <a:p xmlns:a="http://schemas.openxmlformats.org/drawingml/2006/main">
            <a:r>
              <a:t>results/decision_v07_round2/demo_5/decision_diagnostics.json</a:t>
            </a:r>
          </a:p>
          <a:p xmlns:a="http://schemas.openxmlformats.org/drawingml/2006/main">
            <a:r>
              <a:t>facility.py:_objective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建议30秒。正常运行优选143.35秒、0.797，距离123.71秒、1.093。暴露下降并非免费时效提升。跨种子样本标准差仅反映这5个种子。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results/sites_v1/raw_metrics.csv</a:t>
            </a:r>
          </a:p>
          <a:p xmlns:a="http://schemas.openxmlformats.org/drawingml/2006/main">
            <a:r>
              <a:t>results/sites_v1/summary.csv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建议35秒。39%、778.18秒不满足团队90%研究目标。等待无人机含前序各阶段传导，额外错峰仅12.42秒；这是诊断线索，不能据此证明唯一瓶颈或扩容有效。返场排队影响后续单，不能重复加到本单送达。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results/sites_v1/raw_metrics.csv</a:t>
            </a:r>
          </a:p>
          <a:p xmlns:a="http://schemas.openxmlformats.org/drawingml/2006/main">
            <a:r>
              <a:t>decision_support.py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30秒。截图原5种子，设计优选对固定位置慢64.41秒，三候选均未达90%目标，设计优选被两基线支配。下方是协议冻结后新20261040—59的20种子，模型位置均不改，2地图240条评价不混算。此前20261020—39截图高峰慢42.34秒仍保留。帕累托仅对本次3候选4指标；90%只检查场景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docs/images/site-diagnosis-adverse.png</a:t>
            </a:r>
          </a:p>
          <a:p xmlns:a="http://schemas.openxmlformats.org/drawingml/2006/main">
            <a:r>
              <a:t>docs/参赛验收/第二轮实验协议.json</a:t>
            </a:r>
          </a:p>
          <a:p xmlns:a="http://schemas.openxmlformats.org/drawingml/2006/main">
            <a:r>
              <a:t>results/decision_v07_round2/manifest.json</a:t>
            </a:r>
          </a:p>
          <a:p xmlns:a="http://schemas.openxmlformats.org/drawingml/2006/main">
            <a:r>
              <a:t>results/competition_v07/追加种子检验.md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建议20秒。旧engine.evaluate_plans：单设计种子、关闭错峰选址、min-max综合评分。这里证明同订单、同旧位置与航路切换错峰的模型结果，不能把700次作为当前30条位置评价的基线。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results/safety/paired_comparison.csv</a:t>
            </a:r>
          </a:p>
          <a:p xmlns:a="http://schemas.openxmlformats.org/drawingml/2006/main">
            <a:r>
              <a:t>results/safety/summary.csv</a:t>
            </a:r>
          </a:p>
          <a:p xmlns:a="http://schemas.openxmlformats.org/drawingml/2006/main">
            <a:r>
              <a:t>study.py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20秒。命令分两步：run.py导出原研究，tools/diagnose_study.py读取study.json另产出诊断JSON/CSV/Markdown，其输出目录须新建或为空；GUI也可导出全研究与诊断。第二轮94项实际通过35.930秒，日志.verification/competition_20261018/full_tests_decision_round2.txt；80项为前轮。独立诊断和轨迹审计另保存。核心不依赖MATLAB。公开图源不等于已取得传播授权，提交前仍需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tools/diagnose_study.py</a:t>
            </a:r>
          </a:p>
          <a:p xmlns:a="http://schemas.openxmlformats.org/drawingml/2006/main">
            <a:r>
              <a:t>data/真实校园地图/清华大学/使用与来源说明.md</a:t>
            </a:r>
          </a:p>
          <a:p xmlns:a="http://schemas.openxmlformats.org/drawingml/2006/main">
            <a:r>
              <a:t>docs/参赛验收/第二轮证据/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建议20秒。总预算285秒，另留15秒切换余量。国奖竞争力需通过研究和使用证据提升，不能承诺奖项。回答提问时以输入、模型范围与保存结果为依据。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results/sites_v1/实验分析.md</a:t>
            </a:r>
          </a:p>
          <a:p xmlns:a="http://schemas.openxmlformats.org/drawingml/2006/main">
            <a:r>
              <a:t>docs/起飞点优选.md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e2b7f440845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a191f08114c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f479edcf4b46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2991337a84b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d17c13d1f4e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0f49a2f3349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5B7D48-5E3C-42F4-B663-457637A307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F36167-E67E-47B5-8EBC-A7FF8EE29C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56D6100-86FC-4DCB-86B5-3D9DE9B86B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C9678D-62F6-4A65-BB11-35768F5CD6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9A261A-D2A4-4B8A-A01F-C31BAC41CD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7A52B0-1DDA-4B9B-A5DE-7ADD4A0E89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651D84-FE71-4FF5-B956-004F2FFEAE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E1B2DB-ACD9-468D-A1D5-7791034363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2856FD-4A1B-4A41-8657-69F87764E5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5469B8-B15C-4D4F-B080-6EDB9B0FC4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c278264c884416" /><Relationship Type="http://schemas.openxmlformats.org/officeDocument/2006/relationships/slideLayout" Target="/ppt/slideLayouts/slideLayout1.xml" Id="R56bbe27afacf4d4b" /><Relationship Type="http://schemas.openxmlformats.org/officeDocument/2006/relationships/slideLayout" Target="/ppt/slideLayouts/slideLayout2.xml" Id="R36ab49ade78340c0" /><Relationship Type="http://schemas.openxmlformats.org/officeDocument/2006/relationships/slideLayout" Target="/ppt/slideLayouts/slideLayout3.xml" Id="R59564ae0ad23489f" /><Relationship Type="http://schemas.openxmlformats.org/officeDocument/2006/relationships/slideLayout" Target="/ppt/slideLayouts/slideLayout4.xml" Id="R63d6e8bc73064c86" /><Relationship Type="http://schemas.openxmlformats.org/officeDocument/2006/relationships/slideLayout" Target="/ppt/slideLayouts/slideLayout5.xml" Id="R3c2cacce61c544d8" /><Relationship Type="http://schemas.openxmlformats.org/officeDocument/2006/relationships/slideLayout" Target="/ppt/slideLayouts/slideLayout6.xml" Id="R7c6903d2d88341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bbe27afacf4d4b"/>
    <p:sldLayoutId xmlns:r="http://schemas.openxmlformats.org/officeDocument/2006/relationships" id="2147483650" r:id="R36ab49ade78340c0"/>
    <p:sldLayoutId xmlns:r="http://schemas.openxmlformats.org/officeDocument/2006/relationships" id="2147483651" r:id="R59564ae0ad23489f"/>
    <p:sldLayoutId xmlns:r="http://schemas.openxmlformats.org/officeDocument/2006/relationships" id="2147483652" r:id="R63d6e8bc73064c86"/>
    <p:sldLayoutId xmlns:r="http://schemas.openxmlformats.org/officeDocument/2006/relationships" id="2147483653" r:id="R3c2cacce61c544d8"/>
    <p:sldLayoutId xmlns:r="http://schemas.openxmlformats.org/officeDocument/2006/relationships" id="2147483654" r:id="R7c6903d2d88341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2090b09dd409f" /><Relationship Type="http://schemas.openxmlformats.org/officeDocument/2006/relationships/image" Target="/ppt/media/image.png" Id="R36efde2baf394808" /><Relationship Type="http://schemas.openxmlformats.org/officeDocument/2006/relationships/notesSlide" Target="/ppt/notesSlides/notesSlide1.xml" Id="R9e0dffdb870048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26f76acd64070" /><Relationship Type="http://schemas.openxmlformats.org/officeDocument/2006/relationships/notesSlide" Target="/ppt/notesSlides/notesSlide2.xml" Id="Re82204d9b6f341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b1eddd85474f4e" /><Relationship Type="http://schemas.openxmlformats.org/officeDocument/2006/relationships/image" Target="/ppt/media/image2.png" Id="Rfecad86519564c2e" /><Relationship Type="http://schemas.openxmlformats.org/officeDocument/2006/relationships/notesSlide" Target="/ppt/notesSlides/notesSlide3.xml" Id="Raae12e3563e54f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60ca054194e81" /><Relationship Type="http://schemas.openxmlformats.org/officeDocument/2006/relationships/notesSlide" Target="/ppt/notesSlides/notesSlide4.xml" Id="Rb5f0dc421fe042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37c5778624236" /><Relationship Type="http://schemas.openxmlformats.org/officeDocument/2006/relationships/notesSlide" Target="/ppt/notesSlides/notesSlide5.xml" Id="R5c3b20519e2548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5ed27027140b8" /><Relationship Type="http://schemas.openxmlformats.org/officeDocument/2006/relationships/notesSlide" Target="/ppt/notesSlides/notesSlide6.xml" Id="R1da10a5bcde847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de56f48244be5" /><Relationship Type="http://schemas.openxmlformats.org/officeDocument/2006/relationships/notesSlide" Target="/ppt/notesSlides/notesSlide7.xml" Id="R679812b8cd0947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3cfbd3a66415e" /><Relationship Type="http://schemas.openxmlformats.org/officeDocument/2006/relationships/image" Target="/ppt/media/image3.png" Id="R70b000d03ea94588" /><Relationship Type="http://schemas.openxmlformats.org/officeDocument/2006/relationships/notesSlide" Target="/ppt/notesSlides/notesSlide8.xml" Id="Raf1a063a51e043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496a4211e499a" /><Relationship Type="http://schemas.openxmlformats.org/officeDocument/2006/relationships/notesSlide" Target="/ppt/notesSlides/notesSlide9.xml" Id="R051aae96410349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8b2f4893d44570" /><Relationship Type="http://schemas.openxmlformats.org/officeDocument/2006/relationships/notesSlide" Target="/ppt/notesSlides/notesSlide10.xml" Id="Raca5f5eb449c4d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66c416bbd4467a" /><Relationship Type="http://schemas.openxmlformats.org/officeDocument/2006/relationships/notesSlide" Target="/ppt/notesSlides/notesSlide11.xml" Id="R2c5ce071d53645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5F088-F587-4763-9089-21EB5A33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园区低空配送风险仿真与起降位置决策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32094-59D5-4023-8C68-B1D559A0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新疆大学   数字建模与智能决策赛道   智能决策方向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12C31-2E81-4DB9-8896-FD6EDFFE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Python V0.7第二轮诊断增强   研究仿真候选版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F14D4-D451-40AC-B57F-4FB5ACCF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24878-ED1A-46F5-B9E0-6859F004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771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面向园区末端配送的低空风险仿真与起降场选址系统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CFF59-3DC4-4883-8EF6-81703CA4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比较位置、时效与路径暴露</a:t>
            </a:r>
          </a:p>
          <a:p xmlns:a="http://schemas.openxmlformats.org/drawingml/2006/main">
            <a:pPr algn="l">
              <a:defRPr sz="25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显示取舍与不宜采用的场景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6CCC1-0B64-4FCF-9809-23E80027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72250"/>
            <a:ext cx="7524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离线桌面原型</a:t>
            </a:r>
          </a:p>
          <a:p xmlns:a="http://schemas.openxmlformats.org/drawingml/2006/main">
            <a:pPr algn="l">
              <a:defRPr sz="21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模拟数据   尚无真实飞行验证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D44BD-F9A9-4CDC-A3AA-03DBAB586F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fde2baf394808"/>
          <a:stretch xmlns:a="http://schemas.openxmlformats.org/drawingml/2006/main"/>
        </p:blipFill>
        <p:spPr>
          <a:xfrm xmlns:a="http://schemas.openxmlformats.org/drawingml/2006/main">
            <a:off x="8905875" y="3177416"/>
            <a:ext cx="5429250" cy="326541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352F9-2A35-450D-B67E-CC388136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286625"/>
            <a:ext cx="542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历史基础入口回放示意</a:t>
            </a:r>
          </a:p>
        </p:txBody>
      </p:sp>
    </p:spTree>
    <p:extLst>
      <p:ext uri="{BB962C8B-B14F-4D97-AF65-F5344CB8AC3E}">
        <p14:creationId xmlns:p14="http://schemas.microsoft.com/office/powerpoint/2010/main" val="708909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1E073-B610-4A80-8C18-7E23E55B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园区方案比较与人工决策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EE1F8-9122-4260-B83D-EF7FEA72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输入地图并核实假设，查看三候选，依据目标和取舍判断采用或暂缓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81A1C-A14E-45CC-B905-CA4B0ACD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本轮增加只读解释，原航路、位置设计与调度算法保持一致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65FBD-1E6F-4F91-B418-2A9E2E87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4DAC5-ED3D-44AC-812F-B829292F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三候选与基线差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43735-55F9-4AE7-8A3C-701D4309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固定位置、距离优先、设计优选。逐场景显示相对两基线的准时率、配送时间与暴露差。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93F8D-5675-41E6-95EB-EE6F22A9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481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目标检查与取舍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7FB9E-8948-4A37-8761-F1E58F6B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67275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默认90%是团队可调准时率研究目标。四指标帕累托关系说明被支配或非劣，非劣仍可能有取舍。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A19DC-7F2B-4D08-A1D1-9009E699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6267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用户决定采用或暂缓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B4273-73A0-4771-9CE0-D606CF92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8180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三候选均未达到目标时提示当前场景不推荐采用。存在达标候选时也不自动推荐，由用户结合偏好判断。</a:t>
            </a:r>
          </a:p>
        </p:txBody>
      </p:sp>
    </p:spTree>
    <p:extLst>
      <p:ext uri="{BB962C8B-B14F-4D97-AF65-F5344CB8AC3E}">
        <p14:creationId xmlns:p14="http://schemas.microsoft.com/office/powerpoint/2010/main" val="11184651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C7A55-0D2E-4B3A-809C-4CAAF30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V0.7第二轮决策诊断工作台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34568-0867-4E52-A8E7-6984DA56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地图输入与1—20架机配置，目标和取舍检查，回放与证据导出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7FAE0-CDD2-48A6-893A-64B00055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实际程序界面：docs/images/site-diagnosis.png；未选定默认推荐方案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1E628-E97D-4713-8689-7C4BE2C0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E96F5-637D-4025-82C3-C1E3EA51E8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ad86519564c2e"/>
          <a:stretch xmlns:a="http://schemas.openxmlformats.org/drawingml/2006/main"/>
        </p:blipFill>
        <p:spPr>
          <a:xfrm xmlns:a="http://schemas.openxmlformats.org/drawingml/2006/main">
            <a:off x="3568891" y="2133600"/>
            <a:ext cx="8102217" cy="5467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02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81789-C240-4693-82F6-9ABDB4E5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固定高度航路与连续时间间距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F3FDA-B83D-4C11-AA81-B7054F3C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沿建筑高度约束规划，用分段轨迹审计模型中的接近事件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09E13-EE44-4B59-8797-A18836C3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标准A*与相对运动方法为已有方法；本作品贡献是约束衔接、交互和可审计输出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87CC2-F2BB-4508-80F4-4F4CDC4C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B797B-5448-4B8F-AE39-749B74AD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风险加权A*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40DCA-0C74-41D7-B69C-3C378EF2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3370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16米八邻域；建筑高度＋5米达到巡航高度时绕行，平面外扩8米。代价为距离×（1＋λ×中点暴露）。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73471-F1B0-45FC-800C-B50B8871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481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路径人员暴露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4EFDC-3E76-4778-A8AF-95965490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67275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模拟高斯人群热点形成相对暴露场，往返路径积分除以100。尚未包含悬停暴露，不能解释为事故概率。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B0481-2D8B-4223-9B3B-343F931F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6267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连续时间与错峰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E1D65-CCD2-4DE8-B196-E0AA1B57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8180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只查共同空中的正时长区间，地面与瞬时交接不计。20米阈值、5秒步长推迟，默认等待上限600秒。</a:t>
            </a:r>
          </a:p>
        </p:txBody>
      </p:sp>
    </p:spTree>
    <p:extLst>
      <p:ext uri="{BB962C8B-B14F-4D97-AF65-F5344CB8AC3E}">
        <p14:creationId xmlns:p14="http://schemas.microsoft.com/office/powerpoint/2010/main" val="6012216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544A9-2B8C-41ED-B5B1-D37A006E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正常与高峰共同设计起飞位置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9E78B-13EE-4940-AF1E-AE5F8340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3个设计种子选择位置，再用5个互不重叠种子冻结评价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8CD78-6709-48D0-8F21-861820A9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当前入口site_selection.py；不采用历史min-max综合评分，也不考虑设施等级和成本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002BB-7956-4A1F-96A4-DD74746D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646D3-9C47-4689-82C3-CA328131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公平比较28种布局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C1C21-0AC0-4E9B-A08B-7DB40069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5架机、8候选点，选择2点；各布局总机队相同、按顺序3＋2分配。设计中正常和高峰等权、均开启错峰。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89347-E422-4824-89AB-0C736F27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481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三种候选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84D7F-5446-49CF-9AF5-A63E617F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67275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固定位置S1＋S5；距离优先S3＋S7；设计优选S6＋S8。设计优选原名运行优选，旧raw文件保留原名。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E518E-8274-443C-9D8F-70EC8652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6267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原排序与稳定性边界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092B3-8F06-4D08-B25C-B372A71D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8180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全样本第2层已区分候选，30未决胜。两图各2/3留一改变位置，发现浮点近似平局，设计稳定性不足。</a:t>
            </a:r>
          </a:p>
        </p:txBody>
      </p:sp>
    </p:spTree>
    <p:extLst>
      <p:ext uri="{BB962C8B-B14F-4D97-AF65-F5344CB8AC3E}">
        <p14:creationId xmlns:p14="http://schemas.microsoft.com/office/powerpoint/2010/main" val="44343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9DC65-802C-4920-B152-0032A69C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正常场景的时效与暴露权衡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E3AE0-7872-46B8-8C59-38193C35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同一30单负荷、5个独立评价种子、同一冻结位置与机队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9586F-BB28-433F-8170-AB2580F0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来源results/sites_v1/summary.csv；均值±样本标准差，非置信区间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4F662-CB16-4577-A661-C403A8B1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FC5D3-7156-4931-A0BC-8DE8AF6D22EE}"/>
              </a:ext>
            </a:extLst>
          </p:cNvPr>
          <p:cNvGraphicFramePr/>
          <p:nvPr/>
        </p:nvGraphicFramePr>
        <p:xfrm>
          <a:off xmlns:a="http://schemas.openxmlformats.org/drawingml/2006/main" x="781050" y="2343150"/>
          <a:ext xmlns:a="http://schemas.openxmlformats.org/drawingml/2006/main" cx="136969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714750"/>
                <a:gridCol w="3143250"/>
                <a:gridCol w="2457450"/>
              </a:tblGrid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方案及位置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配送时间 / 秒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路径暴露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准时率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</a:tr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固定位置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 3架 + S5 2架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166.12 ± 23.89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0.928 ± 0.085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距离优先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 3架 + S7 2架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123.71 ± 18.95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1.093 ± 0.107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设计优选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S6 3架 + S8 2架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143.35 ± 16.92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0.797 ± 0.092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CF50D-1459-447A-B3DC-093FCF87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设计优选相对距离优先存在取舍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EA089-A1B8-45C4-AD04-9FD10594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19900"/>
            <a:ext cx="1352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路径暴露降低27.1%，平均配送增加19.64秒。全部方案完成率100%，间距事件0。</a:t>
            </a:r>
          </a:p>
        </p:txBody>
      </p:sp>
    </p:spTree>
    <p:extLst>
      <p:ext uri="{BB962C8B-B14F-4D97-AF65-F5344CB8AC3E}">
        <p14:creationId xmlns:p14="http://schemas.microsoft.com/office/powerpoint/2010/main" val="3345112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BA827-8026-4287-978B-6B650A67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高峰三候选均未达到研究目标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6E177-C819-468E-B369-FF79062E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60单在800秒内到达，单笔订单创建后600秒内送达视为准时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87C3D-0006-4669-9D30-768C2665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来源results/sites_v1/summary.csv；默认90%是团队可调平均准时率研究目标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98D35-6D79-4637-A3AD-76AFA196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A5E60-BF1B-4DE5-9672-D9B96CAD340D}"/>
              </a:ext>
            </a:extLst>
          </p:cNvPr>
          <p:cNvGraphicFramePr/>
          <p:nvPr/>
        </p:nvGraphicFramePr>
        <p:xfrm>
          <a:off xmlns:a="http://schemas.openxmlformats.org/drawingml/2006/main" x="781050" y="2343150"/>
          <a:ext xmlns:a="http://schemas.openxmlformats.org/drawingml/2006/main" cx="136969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714750"/>
                <a:gridCol w="3143250"/>
                <a:gridCol w="2457450"/>
              </a:tblGrid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方案及位置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配送时间 / 秒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路径暴露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准时率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</a:tr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固定位置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 3架 + S5 2架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882.68 ± 38.81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0.957 ± 0.073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32.33%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距离优先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 3架 + S7 2架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731.00 ± 40.00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1.180 ± 0.093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39.67%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设计优选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S6 3架 + S8 2架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778.18 ± 43.11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0.865 ± 0.113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39.00%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D0C6E-A554-4E12-8345-EEA52598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当前场景不推荐采用任何方案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F7BEA-CE35-4E39-98F1-EF9206B0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19900"/>
            <a:ext cx="1352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设计优选慢47.18秒、暴露低26.6%，仍需人工判断。等待无人机655.17秒，优先检验周转与容量。</a:t>
            </a:r>
          </a:p>
        </p:txBody>
      </p:sp>
    </p:spTree>
    <p:extLst>
      <p:ext uri="{BB962C8B-B14F-4D97-AF65-F5344CB8AC3E}">
        <p14:creationId xmlns:p14="http://schemas.microsoft.com/office/powerpoint/2010/main" val="1309299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F41A2-95B0-43D6-8920-F1E71EC6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截图高峰显示被支配与目标未达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D4FCB-99F0-4CCF-97D8-83DF4D4D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截图为原5种子20261015—19的诊断，输入尺度、楼高及需求含假设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724C6-455F-4A87-BD94-396B8DF3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图为原5种子；下方为协议后新20种子，旧20261020—39反例保留在报告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DC01F-F5CE-4EAD-A2A9-202F433A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2B1BC-6227-41C8-A729-0DEF046F32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000d03ea94588"/>
          <a:stretch xmlns:a="http://schemas.openxmlformats.org/drawingml/2006/main"/>
        </p:blipFill>
        <p:spPr>
          <a:xfrm xmlns:a="http://schemas.openxmlformats.org/drawingml/2006/main">
            <a:off x="4112333" y="2095500"/>
            <a:ext cx="7015335" cy="4733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0E167-10C5-4CEB-BC64-916D1523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81825"/>
            <a:ext cx="1362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协议后新20种子20261040—59，截图高峰对固定位置：配送差+51.32秒，</a:t>
            </a:r>
          </a:p>
          <a:p xmlns:a="http://schemas.openxmlformats.org/drawingml/2006/main">
            <a:pPr algn="l">
              <a:defRPr sz="20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暴露差+0.062，准时率差-4.33个百分点。</a:t>
            </a:r>
          </a:p>
        </p:txBody>
      </p:sp>
    </p:spTree>
    <p:extLst>
      <p:ext uri="{BB962C8B-B14F-4D97-AF65-F5344CB8AC3E}">
        <p14:creationId xmlns:p14="http://schemas.microsoft.com/office/powerpoint/2010/main" val="923961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3149C-C169-4084-9A49-7792C5D3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历史安全配对证据单独保留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B250E-5E09-4AAE-B22A-308F4181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旧选址流程的3场景×5种子×3布局×2调度，共90条评价、45组配对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9A7BD-1894-4947-AA87-C71AC81E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来源results/safety/；旧流程每个场景重新选址，不能替代当前V0.7位置评价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B7D5C-68B3-43AC-92B5-E693D29B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BB6C3-61CB-4873-A46F-159FBCD4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3477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700 次降为 0 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2CE5A-6C98-4F26-A69A-0D3CB8ED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1343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保存样本中间距不足事件合计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C6E3D-2926-4657-9DBD-214BC614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366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平均配送时间增加 35.53 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30CB1-7B25-4529-9016-1BD3DC79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1343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按45组运行等权；两种调度均无失败。说明时隙约束的代价，不代表真实飞行安全认证。</a:t>
            </a:r>
          </a:p>
        </p:txBody>
      </p:sp>
    </p:spTree>
    <p:extLst>
      <p:ext uri="{BB962C8B-B14F-4D97-AF65-F5344CB8AC3E}">
        <p14:creationId xmlns:p14="http://schemas.microsoft.com/office/powerpoint/2010/main" val="10149318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AB9BB-76EE-4684-AC8B-464BD336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可复现交付与数据边界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DCAB8-0970-4280-9717-BE776B34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核心与Excel使用标准库，桌面运行需Python3.10及Tkinter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57C84-F929-4039-AE71-3157470F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第二轮完整94项测试通过，35.930秒；原80项为前轮记录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582DC-A09F-4B1C-9A9B-A17F7CED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E7C17-75FD-4545-8586-3CF68046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复现入口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C2C09-B855-4187-9099-FE00A792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362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python run.py --mode sites --drones 5 --output results/my_sites</a:t>
            </a:r>
          </a:p>
          <a:p xmlns:a="http://schemas.openxmlformats.org/drawingml/2006/main">
            <a:pPr algn="l">
              <a:defRPr sz="16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python tools/diagnose_study.py --study results/my_sites/study.json --output results/my_diagnosis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8674C-2486-40B2-BA90-FD7136E7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33800"/>
            <a:ext cx="1362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先导出研究，再生成诊断JSON/CSV/Markdown；诊断输出须为新空目录。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B8BEE-3936-40A8-88BD-F756AFE0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7672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模拟与真实图源分开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27B28-DEF5-4E5F-8464-B3CB1949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9585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标准园区所有尺度、楼高、需求与人群为模拟。清华官网导览图用于识别与操作草稿，尚待核实尺度、楼高和需求。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14673-569E-4769-9471-A2F10AE4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方法与版权可追溯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71A54-1534-4A82-95F6-6D814D8A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810375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参考文献说明A*等已有方法；报告披露Codex/ChatGPT辅助代码、测试、文字及材料制作，团队须理解并核对全部结果。</a:t>
            </a:r>
          </a:p>
        </p:txBody>
      </p:sp>
    </p:spTree>
    <p:extLst>
      <p:ext uri="{BB962C8B-B14F-4D97-AF65-F5344CB8AC3E}">
        <p14:creationId xmlns:p14="http://schemas.microsoft.com/office/powerpoint/2010/main" val="16577663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78AA8-F3D2-46D5-8E74-B4A112D8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人工决策与下一步验证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B9BAC-6827-48CA-A851-75D1FAA8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正常取舍与高峰拒绝均可导出复核，方案名称不替代用户判断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F9D4B-769B-4B58-BA72-3B7FE74D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可解释诊断为工程集成；A*、帕累托及相对运动均为已有方法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CBB50-85C0-4765-BC21-27B5CFCD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1736B-A677-4707-A035-68236D41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可核查的贡献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C4D6F-365B-4899-97BF-E4E5A17D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输入与三候选比较相连，显示目标、基线差与取舍，解释设计排序和评价反转，并保留不利结果。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20AD4-8098-40CF-B814-FE776C55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481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尚未覆盖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92A9B-DC0B-419D-BD9C-3DA060D4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67275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实测楼高、人群与需求校准，真实动力学、气象、能源、导航误差、滚动重规划及真实飞行验证。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BBB01-45EE-453F-91D8-1741759B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6267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优先验证方向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3C99B-CBC1-4804-B765-FFBE4FEF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8180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用户可以暂缓所有未达标候选。下一步用控制实验检验周转与容量干预，再补充经核实的数据与实地验证。</a:t>
            </a:r>
          </a:p>
        </p:txBody>
      </p:sp>
    </p:spTree>
    <p:extLst>
      <p:ext uri="{BB962C8B-B14F-4D97-AF65-F5344CB8AC3E}">
        <p14:creationId xmlns:p14="http://schemas.microsoft.com/office/powerpoint/2010/main" val="1376768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2026-10-18T17:03:48.4680000Z</dcterms:created>
  <dcterms:modified xsi:type="dcterms:W3CDTF">2026-10-18T17:03:48.4680000Z</dcterms:modified>
</coreProperties>
</file>