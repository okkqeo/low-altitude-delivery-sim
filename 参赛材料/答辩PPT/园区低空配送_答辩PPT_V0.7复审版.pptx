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d161a318f049b5" /><Relationship Type="http://schemas.openxmlformats.org/officeDocument/2006/relationships/extended-properties" Target="/docProps/app.xml" Id="Re68d690b867f4569" /><Relationship Type="http://schemas.openxmlformats.org/officeDocument/2006/relationships/officeDocument" Target="/ppt/presentation.xml" Id="R06742fd9c38440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e6a416d2f640c5"/>
  </p:sldMasterIdLst>
  <p:notesMasterIdLst>
    <p:notesMasterId xmlns:r="http://schemas.openxmlformats.org/officeDocument/2006/relationships" r:id="R8c6f1bc290ac4a02"/>
  </p:notesMasterIdLst>
  <p:sldIdLst>
    <p:sldId xmlns:r="http://schemas.openxmlformats.org/officeDocument/2006/relationships" id="256" r:id="Rbeb4d3975c014c41"/>
    <p:sldId xmlns:r="http://schemas.openxmlformats.org/officeDocument/2006/relationships" id="257" r:id="R11a1587d31f84d05"/>
    <p:sldId xmlns:r="http://schemas.openxmlformats.org/officeDocument/2006/relationships" id="258" r:id="R2744456ebb214923"/>
    <p:sldId xmlns:r="http://schemas.openxmlformats.org/officeDocument/2006/relationships" id="259" r:id="R44b8135fc1e14800"/>
    <p:sldId xmlns:r="http://schemas.openxmlformats.org/officeDocument/2006/relationships" id="260" r:id="Rfc851d1c665d4669"/>
    <p:sldId xmlns:r="http://schemas.openxmlformats.org/officeDocument/2006/relationships" id="261" r:id="Re8bf280cd7fc4e34"/>
    <p:sldId xmlns:r="http://schemas.openxmlformats.org/officeDocument/2006/relationships" id="262" r:id="R88c43fc2d16b4e0c"/>
    <p:sldId xmlns:r="http://schemas.openxmlformats.org/officeDocument/2006/relationships" id="263" r:id="R0fb0ad9a1ede476f"/>
    <p:sldId xmlns:r="http://schemas.openxmlformats.org/officeDocument/2006/relationships" id="264" r:id="Rb08662b0d4be4b7f"/>
    <p:sldId xmlns:r="http://schemas.openxmlformats.org/officeDocument/2006/relationships" id="265" r:id="Ra3dfbbedfa304889"/>
    <p:sldId xmlns:r="http://schemas.openxmlformats.org/officeDocument/2006/relationships" id="266" r:id="R4c5f1955dbdb4992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f4f5a2d22d4a73" /><Relationship Type="http://schemas.openxmlformats.org/officeDocument/2006/relationships/slideMaster" Target="/ppt/slideMasters/slideMaster1.xml" Id="Rf9e6a416d2f640c5" /><Relationship Type="http://schemas.openxmlformats.org/officeDocument/2006/relationships/notesMaster" Target="/ppt/notesMasters/notesMaster1.xml" Id="R8c6f1bc290ac4a02" /><Relationship Type="http://schemas.openxmlformats.org/officeDocument/2006/relationships/presProps" Target="/ppt/presProps.xml" Id="R92036ff27f6b4e67" /><Relationship Type="http://schemas.openxmlformats.org/officeDocument/2006/relationships/tableStyles" Target="/ppt/tableStyles.xml" Id="R9300e38f968b4c3a" /><Relationship Type="http://schemas.openxmlformats.org/officeDocument/2006/relationships/slide" Target="/ppt/slides/slide1.xml" Id="Rbeb4d3975c014c41" /><Relationship Type="http://schemas.openxmlformats.org/officeDocument/2006/relationships/slide" Target="/ppt/slides/slide2.xml" Id="R11a1587d31f84d05" /><Relationship Type="http://schemas.openxmlformats.org/officeDocument/2006/relationships/slide" Target="/ppt/slides/slide3.xml" Id="R2744456ebb214923" /><Relationship Type="http://schemas.openxmlformats.org/officeDocument/2006/relationships/slide" Target="/ppt/slides/slide4.xml" Id="R44b8135fc1e14800" /><Relationship Type="http://schemas.openxmlformats.org/officeDocument/2006/relationships/slide" Target="/ppt/slides/slide5.xml" Id="Rfc851d1c665d4669" /><Relationship Type="http://schemas.openxmlformats.org/officeDocument/2006/relationships/slide" Target="/ppt/slides/slide6.xml" Id="Re8bf280cd7fc4e34" /><Relationship Type="http://schemas.openxmlformats.org/officeDocument/2006/relationships/slide" Target="/ppt/slides/slide7.xml" Id="R88c43fc2d16b4e0c" /><Relationship Type="http://schemas.openxmlformats.org/officeDocument/2006/relationships/slide" Target="/ppt/slides/slide8.xml" Id="R0fb0ad9a1ede476f" /><Relationship Type="http://schemas.openxmlformats.org/officeDocument/2006/relationships/slide" Target="/ppt/slides/slide9.xml" Id="Rb08662b0d4be4b7f" /><Relationship Type="http://schemas.openxmlformats.org/officeDocument/2006/relationships/slide" Target="/ppt/slides/slide10.xml" Id="Ra3dfbbedfa304889" /><Relationship Type="http://schemas.openxmlformats.org/officeDocument/2006/relationships/slide" Target="/ppt/slides/slide11.xml" Id="R4c5f1955dbdb49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6221b53d6844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c9031d1f8a47b4" /><Relationship Type="http://schemas.openxmlformats.org/officeDocument/2006/relationships/notesMaster" Target="/ppt/notesMasters/notesMaster1.xml" Id="Rccd2adac1a0b4a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c4f2df9bfd4da7" /><Relationship Type="http://schemas.openxmlformats.org/officeDocument/2006/relationships/notesMaster" Target="/ppt/notesMasters/notesMaster1.xml" Id="R44c186067f2f4c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06dffc13c94004" /><Relationship Type="http://schemas.openxmlformats.org/officeDocument/2006/relationships/notesMaster" Target="/ppt/notesMasters/notesMaster1.xml" Id="R8e8c775b898c4e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e4282204bd46c5" /><Relationship Type="http://schemas.openxmlformats.org/officeDocument/2006/relationships/notesMaster" Target="/ppt/notesMasters/notesMaster1.xml" Id="Rdf5bb204008944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c52dd9acee4312" /><Relationship Type="http://schemas.openxmlformats.org/officeDocument/2006/relationships/notesMaster" Target="/ppt/notesMasters/notesMaster1.xml" Id="Ra29f993337e540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49a330f2b847d4" /><Relationship Type="http://schemas.openxmlformats.org/officeDocument/2006/relationships/notesMaster" Target="/ppt/notesMasters/notesMaster1.xml" Id="R0fbe27eb6e344a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2c9fd306054543" /><Relationship Type="http://schemas.openxmlformats.org/officeDocument/2006/relationships/notesMaster" Target="/ppt/notesMasters/notesMaster1.xml" Id="R26531c4c6e664f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e89fe19987417e" /><Relationship Type="http://schemas.openxmlformats.org/officeDocument/2006/relationships/notesMaster" Target="/ppt/notesMasters/notesMaster1.xml" Id="R1f492f5aa0ed45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fb460d3bcc4950" /><Relationship Type="http://schemas.openxmlformats.org/officeDocument/2006/relationships/notesMaster" Target="/ppt/notesMasters/notesMaster1.xml" Id="R58c1266498ab4b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92a34751764e60" /><Relationship Type="http://schemas.openxmlformats.org/officeDocument/2006/relationships/notesMaster" Target="/ppt/notesMasters/notesMaster1.xml" Id="R5512233a43e142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c59183778b484b" /><Relationship Type="http://schemas.openxmlformats.org/officeDocument/2006/relationships/notesMaster" Target="/ppt/notesMasters/notesMaster1.xml" Id="R56c14d86d83849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建议20秒。说明作品定位与单位。研究固定巡航高度下的园区前期方案比较，没有真实飞行安全或运营认证。成员姓名和指导教师尚待本人填入。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results/sites_v1/manifest.json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建议25秒。强调用户任务和系统输出，不将代理暴露指标称为事故概率。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engine.py</a:t>
            </a:r>
          </a:p>
          <a:p xmlns:a="http://schemas.openxmlformats.org/drawingml/2006/main">
            <a:r>
              <a:t>site_selection.py</a:t>
            </a:r>
          </a:p>
          <a:p xmlns:a="http://schemas.openxmlformats.org/drawingml/2006/main">
            <a:r>
              <a:t>reporting.py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建议35秒。现场展示导入地图、修改无人机数量、重新计算、切换三种位置方案以及动画时间拖动。图片尺度和楼高需人工确认，图像不提供真实楼高。核心仿真、Excel和JSON无需第三方Python包。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site_ui.py</a:t>
            </a:r>
          </a:p>
          <a:p xmlns:a="http://schemas.openxmlformats.org/drawingml/2006/main">
            <a:r>
              <a:t>site_selection.py</a:t>
            </a:r>
          </a:p>
          <a:p xmlns:a="http://schemas.openxmlformats.org/drawingml/2006/main">
            <a:r>
              <a:t>docs/起飞点优选.md</a:t>
            </a:r>
          </a:p>
          <a:p xmlns:a="http://schemas.openxmlformats.org/drawingml/2006/main">
            <a:r>
              <a:t>requirements-image.txt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建议30秒。间距、缓冲和权重是研究参数。连续时间检测包含去程、配送悬停、返程和返场等待悬停。固定高度匀速折线模型没有真实动力学、导航误差或避碰控制。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engine.py</a:t>
            </a:r>
          </a:p>
          <a:p xmlns:a="http://schemas.openxmlformats.org/drawingml/2006/main">
            <a:r>
              <a:t>airspace.py</a:t>
            </a:r>
          </a:p>
          <a:p xmlns:a="http://schemas.openxmlformats.org/drawingml/2006/main">
            <a:r>
              <a:t>tests/test_airspace.py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建议35秒。设计种子为20365744、20470473、20575202；评价20261015至20261019。正常高峰复用同一位置和机队。有限枚举只保证给定设计样本和目标下最小，不保证独立评价逐指标最优或连续选址最优。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results/sites_v1/manifest.json</a:t>
            </a:r>
          </a:p>
          <a:p xmlns:a="http://schemas.openxmlformats.org/drawingml/2006/main">
            <a:r>
              <a:t>results/sites_v1/design_candidates.csv</a:t>
            </a:r>
          </a:p>
          <a:p xmlns:a="http://schemas.openxmlformats.org/drawingml/2006/main">
            <a:r>
              <a:t>site_selection.py</a:t>
            </a:r>
          </a:p>
          <a:p xmlns:a="http://schemas.openxmlformats.org/drawingml/2006/main">
            <a:r>
              <a:t>facility.py:_objective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建议30秒。正常运行优选143.35秒、0.797，距离123.71秒、1.093。暴露下降并非免费时效提升。跨种子样本标准差仅反映这5个种子。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results/sites_v1/raw_metrics.csv</a:t>
            </a:r>
          </a:p>
          <a:p xmlns:a="http://schemas.openxmlformats.org/drawingml/2006/main">
            <a:r>
              <a:t>results/sites_v1/summary.csv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建议35秒。如实说明最重要的不利结果。运行优选39%、778.18秒；距离39.67%、731秒。设计目标没有保证独立样本结果逐指标占优。不能用历史高峰距离S6+S8与当前距离S3+S7混用。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results/sites_v1/raw_metrics.csv</a:t>
            </a:r>
          </a:p>
          <a:p xmlns:a="http://schemas.openxmlformats.org/drawingml/2006/main">
            <a:r>
              <a:t>results/sites_v1/configurations.csv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建议25秒。新增订单种子为20261020—20261039；2既有地图×2场景×20种子×3方案。10800条为不同方案重复评价的任务记录，不是真实独立订单。所有7项指标分开保存差值、样本标准差和范围，没有总胜率。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results/competition_v07/追加种子检验.md</a:t>
            </a:r>
          </a:p>
          <a:p xmlns:a="http://schemas.openxmlformats.org/drawingml/2006/main">
            <a:r>
              <a:t>results/competition_v07/manifest.json</a:t>
            </a:r>
          </a:p>
          <a:p xmlns:a="http://schemas.openxmlformats.org/drawingml/2006/main">
            <a:r>
              <a:t>cases/run_competition_holdout.py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建议25秒。旧engine.evaluate_plans：单设计种子、关闭错峰选址、min-max综合评分。这里证明同订单、同旧位置与航路切换错峰的模型结果，不能把700次作为当前30条位置评价的基线。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results/safety/paired_comparison.csv</a:t>
            </a:r>
          </a:p>
          <a:p xmlns:a="http://schemas.openxmlformats.org/drawingml/2006/main">
            <a:r>
              <a:t>results/safety/summary.csv</a:t>
            </a:r>
          </a:p>
          <a:p xmlns:a="http://schemas.openxmlformats.org/drawingml/2006/main">
            <a:r>
              <a:t>study.py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25秒。80项完整日志在.verification/competition_20261018/full_tests_round2.txt；交付验证记录另索引。核心不依赖MATLAB。真实图源有使用与来源说明和来源记录，公开不等于已取得商用或传播授权，提交前仍需按范围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data/真实校园地图/清华大学/使用与来源说明.md</a:t>
            </a:r>
          </a:p>
          <a:p xmlns:a="http://schemas.openxmlformats.org/drawingml/2006/main">
            <a:r>
              <a:t>参赛材料/主报告/主报告_面向园区末端配送的低空风险仿真与起降场选址系统.md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建议25秒。总建议演示300秒。国奖竞争力需通过研究和使用证据提升，不能承诺奖项。回答提问时以输入、模型范围与保存结果为依据。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results/sites_v1/实验分析.md</a:t>
            </a:r>
          </a:p>
          <a:p xmlns:a="http://schemas.openxmlformats.org/drawingml/2006/main">
            <a:r>
              <a:t>docs/起飞点优选.md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eff7f27bbe410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1bfb63d1cf406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5a593e026c4fb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572ae60bba48e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698c8cdc544c4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d7fae1217546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822D09-C78C-4049-AA28-EE35769CF6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67E1110-B72A-4203-9F6A-DA4EEC8F054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FD856E1-CCAC-4BC1-A5E9-12B4072EDB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91F485-D3D5-42C4-BA45-D1A8C6BBD6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942A1E7-94FF-4985-B8B3-C3B9C08549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761796D-CFD1-45E4-88CF-62A4C3E69F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4E69C7B-7BAB-44CD-A3B7-0921CC4561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688067D-C40E-42CE-A764-331F0709E66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D5BDDA-4D6E-44C2-8299-BFB5AA6AE0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3DA677B-D626-406E-B0E4-EC6018EA5C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6f01761c4841c1" /><Relationship Type="http://schemas.openxmlformats.org/officeDocument/2006/relationships/slideLayout" Target="/ppt/slideLayouts/slideLayout1.xml" Id="R8ccf2a31cf81494b" /><Relationship Type="http://schemas.openxmlformats.org/officeDocument/2006/relationships/slideLayout" Target="/ppt/slideLayouts/slideLayout2.xml" Id="R8db609739a9a4d3b" /><Relationship Type="http://schemas.openxmlformats.org/officeDocument/2006/relationships/slideLayout" Target="/ppt/slideLayouts/slideLayout3.xml" Id="R5958da37e20844cc" /><Relationship Type="http://schemas.openxmlformats.org/officeDocument/2006/relationships/slideLayout" Target="/ppt/slideLayouts/slideLayout4.xml" Id="R05db432115574568" /><Relationship Type="http://schemas.openxmlformats.org/officeDocument/2006/relationships/slideLayout" Target="/ppt/slideLayouts/slideLayout5.xml" Id="R9bc1dc3bf9314dfd" /><Relationship Type="http://schemas.openxmlformats.org/officeDocument/2006/relationships/slideLayout" Target="/ppt/slideLayouts/slideLayout6.xml" Id="Rc66ef7b4baa847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cf2a31cf81494b"/>
    <p:sldLayoutId xmlns:r="http://schemas.openxmlformats.org/officeDocument/2006/relationships" id="2147483650" r:id="R8db609739a9a4d3b"/>
    <p:sldLayoutId xmlns:r="http://schemas.openxmlformats.org/officeDocument/2006/relationships" id="2147483651" r:id="R5958da37e20844cc"/>
    <p:sldLayoutId xmlns:r="http://schemas.openxmlformats.org/officeDocument/2006/relationships" id="2147483652" r:id="R05db432115574568"/>
    <p:sldLayoutId xmlns:r="http://schemas.openxmlformats.org/officeDocument/2006/relationships" id="2147483653" r:id="R9bc1dc3bf9314dfd"/>
    <p:sldLayoutId xmlns:r="http://schemas.openxmlformats.org/officeDocument/2006/relationships" id="2147483654" r:id="Rc66ef7b4baa847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9824e26c414f68" /><Relationship Type="http://schemas.openxmlformats.org/officeDocument/2006/relationships/image" Target="/ppt/media/image.png" Id="R2e763251b8114ffe" /><Relationship Type="http://schemas.openxmlformats.org/officeDocument/2006/relationships/notesSlide" Target="/ppt/notesSlides/notesSlide1.xml" Id="R1eabce8bb5fa45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28944cacdc4c17" /><Relationship Type="http://schemas.openxmlformats.org/officeDocument/2006/relationships/notesSlide" Target="/ppt/notesSlides/notesSlide2.xml" Id="Rc2fbcaa4d7614c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1af415572249db" /><Relationship Type="http://schemas.openxmlformats.org/officeDocument/2006/relationships/image" Target="/ppt/media/image2.png" Id="Red9195516afc44b4" /><Relationship Type="http://schemas.openxmlformats.org/officeDocument/2006/relationships/notesSlide" Target="/ppt/notesSlides/notesSlide3.xml" Id="R0197b3ff57b547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dad75c36de4f2a" /><Relationship Type="http://schemas.openxmlformats.org/officeDocument/2006/relationships/notesSlide" Target="/ppt/notesSlides/notesSlide4.xml" Id="Re3746509e98945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f0f65025174ff8" /><Relationship Type="http://schemas.openxmlformats.org/officeDocument/2006/relationships/notesSlide" Target="/ppt/notesSlides/notesSlide5.xml" Id="R88417865d3594a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91549836f946c7" /><Relationship Type="http://schemas.openxmlformats.org/officeDocument/2006/relationships/notesSlide" Target="/ppt/notesSlides/notesSlide6.xml" Id="R7571c0dd7afa49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b314d89bff4f46" /><Relationship Type="http://schemas.openxmlformats.org/officeDocument/2006/relationships/notesSlide" Target="/ppt/notesSlides/notesSlide7.xml" Id="R365ce63d953a4a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997227e3df4bc7" /><Relationship Type="http://schemas.openxmlformats.org/officeDocument/2006/relationships/notesSlide" Target="/ppt/notesSlides/notesSlide8.xml" Id="Rd3b929df41ca47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1f8069eabd4e47" /><Relationship Type="http://schemas.openxmlformats.org/officeDocument/2006/relationships/notesSlide" Target="/ppt/notesSlides/notesSlide9.xml" Id="R25fc467cb90143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d3380f24d64bb5" /><Relationship Type="http://schemas.openxmlformats.org/officeDocument/2006/relationships/notesSlide" Target="/ppt/notesSlides/notesSlide10.xml" Id="R99536bc38879498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957fe4c40c4328" /><Relationship Type="http://schemas.openxmlformats.org/officeDocument/2006/relationships/notesSlide" Target="/ppt/notesSlides/notesSlide11.xml" Id="Rf1ae9b78d38f40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1D57C-8554-4C6C-BE3F-F4BDE8A2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园区低空配送风险仿真与起降位置决策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E932A-DB74-4777-ABFC-E3E1E4ED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90650"/>
            <a:ext cx="1362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新疆大学   数字建模与智能决策赛道   智能决策方向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9BDD0-CD72-463C-9040-65C8107C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53375"/>
            <a:ext cx="1266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Python V0.7研究仿真候选版   2026年10月18日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480B1-B762-440F-B69D-A1FC15CB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15275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FE362-63EA-40A8-B780-FB56641E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771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面向园区末端配送的低空风险仿真与起降场选址系统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BCDFAD-EC1F-4F8B-B438-0B1A08F7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67225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在可核查的地图、订单与约束下</a:t>
            </a:r>
          </a:p>
          <a:p xmlns:a="http://schemas.openxmlformats.org/drawingml/2006/main">
            <a:pPr algn="l">
              <a:defRPr sz="25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比较位置、时效及人员路径暴露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D4868-C76B-47FA-A969-3F952BCF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572250"/>
            <a:ext cx="7524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离线桌面原型</a:t>
            </a:r>
          </a:p>
          <a:p xmlns:a="http://schemas.openxmlformats.org/drawingml/2006/main">
            <a:pPr algn="l">
              <a:defRPr sz="217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模拟数据   尚无真实飞行验证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3A9CBE-B1BB-4F12-8687-36A786B0A8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763251b8114ffe"/>
          <a:stretch xmlns:a="http://schemas.openxmlformats.org/drawingml/2006/main"/>
        </p:blipFill>
        <p:spPr>
          <a:xfrm xmlns:a="http://schemas.openxmlformats.org/drawingml/2006/main">
            <a:off x="8905875" y="3177416"/>
            <a:ext cx="5429250" cy="3265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0191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801317-FACA-4438-80AC-C0A895EC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园区配送中的位置与运行约束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3C489-E34B-47C4-8794-B5E3A448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90650"/>
            <a:ext cx="1362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决策对象是候选起飞点、机队归属与任务出发时间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76DE4-8016-410F-8D4E-B09E9918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53375"/>
            <a:ext cx="1266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所有需求与楼高均为模拟输入，真实底图接入另做来源与人工核对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66BE5-8F7A-4671-AF54-78AE308A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15275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1DFEE-E724-4ADC-B6A0-62DC67FB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1362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使用者需要回答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B21D3-750E-4AF8-9B76-A0FD8DDB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1352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同一片园区选择哪些起飞点，能否按时送达，以及航路会经过怎样的人员活动区域。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33A4F1-ACEB-4C61-AB8E-45566DEE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48150"/>
            <a:ext cx="1362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模型同时记录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FE59D7-5ADD-4B81-97BE-04ACFF7D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67275"/>
            <a:ext cx="1352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完成率与准时率、平均配送时间、路径暴露、起降等待、错峰等待及间距不足事件。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770B9-8013-4519-8CD7-C4A1E921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62675"/>
            <a:ext cx="1362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输出用于方案比较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44D25F-6CA6-4FBB-BACA-4FCED380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781800"/>
            <a:ext cx="1352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修改地图、楼高、点位或无人机数量后重新计算，从汇总指标回查订单、航路与失败原因。</a:t>
            </a:r>
          </a:p>
        </p:txBody>
      </p:sp>
    </p:spTree>
    <p:extLst>
      <p:ext uri="{BB962C8B-B14F-4D97-AF65-F5344CB8AC3E}">
        <p14:creationId xmlns:p14="http://schemas.microsoft.com/office/powerpoint/2010/main" val="8084646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AED29-5F59-4E93-8939-9243F607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当前V0.7起飞点优选工作台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31A47D-3E77-47D5-AD33-67D6046B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90650"/>
            <a:ext cx="1362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图片、Excel、JSON导入   米制定标与手动楼高   1—20架机   回放与导出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DB454-DE25-45E7-8648-17444053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53375"/>
            <a:ext cx="1266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实际程序界面：docs/images/site-selection.png；图片高级识别需Pillow、NumPy、OpenCV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E101B-807B-49AB-A4CC-B5945D47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15275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9DC5E4-918D-4F1B-B006-554B6D103C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9195516afc44b4"/>
          <a:stretch xmlns:a="http://schemas.openxmlformats.org/drawingml/2006/main"/>
        </p:blipFill>
        <p:spPr>
          <a:xfrm xmlns:a="http://schemas.openxmlformats.org/drawingml/2006/main">
            <a:off x="3568891" y="2133600"/>
            <a:ext cx="8102217" cy="5467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497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1A2DD1-EACF-475C-9DF0-E001495B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固定高度航路与连续时间间距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61D99-C11E-4BAF-B918-F8169B9B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90650"/>
            <a:ext cx="1362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沿建筑高度约束规划，用分段轨迹审计模型中的接近事件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845B9-6C59-443A-B232-079ACF4A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53375"/>
            <a:ext cx="1266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标准A*与相对运动方法为已有方法；本作品贡献是约束衔接、交互和可审计输出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BD9D4-9967-4B51-A700-C98B851F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15275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4AA59-9281-43A1-A406-BA5D5DAC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14575"/>
            <a:ext cx="1362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风险加权A*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440E1-0B5E-4C76-9E88-53455CC0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33700"/>
            <a:ext cx="1352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16米八邻域栅格；建筑高度＋5米达到巡航高度时绕行，平面外扩8米。边代价为距离×（1＋λ×中点暴露）。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EA871-333E-4B27-A254-C96DAFC0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48150"/>
            <a:ext cx="1362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路径人员暴露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714CD-5092-423A-98D1-D260D674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67275"/>
            <a:ext cx="1352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模拟高斯人群热点形成相对暴露场，往返路径积分除以100。尚未包含悬停暴露，不能解释为事故概率。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89FFFE-2183-4DCD-8E33-03E2EF1D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62675"/>
            <a:ext cx="1362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连续时间与错峰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C57669-38AB-46EC-9431-C098E345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781800"/>
            <a:ext cx="1352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解析计算重叠运动时段的相对距离；间距低于20米记录事件。按5秒步长推迟起飞，默认等待上限600秒。</a:t>
            </a:r>
          </a:p>
        </p:txBody>
      </p:sp>
    </p:spTree>
    <p:extLst>
      <p:ext uri="{BB962C8B-B14F-4D97-AF65-F5344CB8AC3E}">
        <p14:creationId xmlns:p14="http://schemas.microsoft.com/office/powerpoint/2010/main" val="2490085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C176E-28EB-4A75-AC1E-7A975DE3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正常与高峰共同设计起飞位置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49C1C-4B2A-42FC-9A6F-D678DE30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90650"/>
            <a:ext cx="1362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3个设计种子选择位置，再用5个互不重叠种子冻结评价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3E2EB-1520-4851-AD95-2E1DBAC4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53375"/>
            <a:ext cx="1266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当前入口site_selection.py；不采用历史min-max综合评分，也不考虑设施等级和成本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6785A-C8B0-4DDF-A723-BBDF37BF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15275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93904-4331-40EA-91FA-1F6A866F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1362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公平比较28种布局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C93C95-DD92-48B4-8C22-2ED9AAB9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1352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5架机、8候选点，选择2点；各布局总机队相同、按顺序3＋2分配。设计中正常和高峰等权、均开启错峰。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EB4B5F-F908-4B6B-878B-1C1BE7F2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48150"/>
            <a:ext cx="1362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三种方案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DB0750-0E38-4720-B6C6-92EE155B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67275"/>
            <a:ext cx="1352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固定位置S1＋S5；距离优先S3＋S7；运行优选S6＋S8。距离优先依据正常设计样本的失败数与航程。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D573EE-41BC-4B2E-9D38-E28BD5B8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62675"/>
            <a:ext cx="1362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运行优选的词典序目标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8485B-9B12-42EF-9A5A-BDE9F2E7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781800"/>
            <a:ext cx="1352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依次比较失败率、非准时率、每单超时秒数、配送秒数＋30×路径暴露。30是人为权衡系数。</a:t>
            </a:r>
          </a:p>
        </p:txBody>
      </p:sp>
    </p:spTree>
    <p:extLst>
      <p:ext uri="{BB962C8B-B14F-4D97-AF65-F5344CB8AC3E}">
        <p14:creationId xmlns:p14="http://schemas.microsoft.com/office/powerpoint/2010/main" val="8288049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CFCE00-E9CA-46A3-B8A7-DC736E2F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正常场景的时效与暴露权衡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010DD-935D-4323-8F23-91148201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90650"/>
            <a:ext cx="1362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同一30单负荷、5个独立评价种子、同一冻结位置与机队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74D87-4F1C-4177-AC0A-20A8CB5A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53375"/>
            <a:ext cx="1266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来源results/sites_v1/summary.csv；均值±样本标准差，非置信区间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ED638-5F70-4F2F-931D-FC06EDB7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15275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FF8ED-7829-4021-87E3-4630050A67C2}"/>
              </a:ext>
            </a:extLst>
          </p:cNvPr>
          <p:cNvGraphicFramePr/>
          <p:nvPr/>
        </p:nvGraphicFramePr>
        <p:xfrm>
          <a:off xmlns:a="http://schemas.openxmlformats.org/drawingml/2006/main" x="781050" y="2343150"/>
          <a:ext xmlns:a="http://schemas.openxmlformats.org/drawingml/2006/main" cx="136969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3714750"/>
                <a:gridCol w="3143250"/>
                <a:gridCol w="2457450"/>
              </a:tblGrid>
              <a:tr h="833438"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方案及位置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9E1E8"/>
                      </a:solidFill>
                      <a:prstDash val="solid"/>
                    </a:lnL>
                    <a:lnR w="7620">
                      <a:solidFill>
                        <a:srgbClr val="D9E1E8"/>
                      </a:solidFill>
                      <a:prstDash val="solid"/>
                    </a:lnR>
                    <a:lnT w="7620">
                      <a:solidFill>
                        <a:srgbClr val="D9E1E8"/>
                      </a:solidFill>
                      <a:prstDash val="solid"/>
                    </a:lnT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102A56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配送时间 / 秒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T w="7620">
                      <a:solidFill>
                        <a:srgbClr val="D9E1E8"/>
                      </a:solidFill>
                      <a:prstDash val="solid"/>
                    </a:lnT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102A56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路径暴露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T w="7620">
                      <a:solidFill>
                        <a:srgbClr val="D9E1E8"/>
                      </a:solidFill>
                      <a:prstDash val="solid"/>
                    </a:lnT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102A56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准时率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T w="7620">
                      <a:solidFill>
                        <a:srgbClr val="D9E1E8"/>
                      </a:solidFill>
                      <a:prstDash val="solid"/>
                    </a:lnT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102A56"/>
                    </a:solidFill>
                  </a:tcPr>
                </a:tc>
              </a:tr>
              <a:tr h="833438"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固定位置</a:t>
                      </a:r>
                    </a:p>
                    <a:p>
                      <a:pPr algn="l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S1 3架 + S5 2架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9E1E8"/>
                      </a:solidFill>
                      <a:prstDash val="solid"/>
                    </a:lnL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166.12 ± 23.89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0.928 ± 0.085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100.00%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  <a:tr h="833438"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距离优先</a:t>
                      </a:r>
                    </a:p>
                    <a:p>
                      <a:pPr algn="l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S3 3架 + S7 2架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9E1E8"/>
                      </a:solidFill>
                      <a:prstDash val="solid"/>
                    </a:lnL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123.71 ± 18.95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1.093 ± 0.107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100.00%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运行优选</a:t>
                      </a:r>
                    </a:p>
                    <a:p>
                      <a:pPr algn="l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S6 3架 + S8 2架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9E1E8"/>
                      </a:solidFill>
                      <a:prstDash val="solid"/>
                    </a:lnL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143.35 ± 16.92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0.797 ± 0.092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100.00%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1AF7B0-F867-4DBB-BDDE-D2929AF0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34100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运行优选相对距离优先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8C426B-5D6C-4868-8D1F-C2AE9B55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19900"/>
            <a:ext cx="1352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路径暴露降低27.1%，平均配送增加19.64秒。全部方案完成率100%，间距事件0。</a:t>
            </a:r>
          </a:p>
        </p:txBody>
      </p:sp>
    </p:spTree>
    <p:extLst>
      <p:ext uri="{BB962C8B-B14F-4D97-AF65-F5344CB8AC3E}">
        <p14:creationId xmlns:p14="http://schemas.microsoft.com/office/powerpoint/2010/main" val="4751946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5EB41-25AD-40FD-B215-6287E4C9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高峰仍存在明显容量不足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6D009F-DFE6-4ABB-A772-C237284C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90650"/>
            <a:ext cx="1362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60单在800秒内到达，600秒内送达视为准时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C5DC6-8511-44A4-8591-59641201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53375"/>
            <a:ext cx="1266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来源results/sites_v1/summary.csv；失败0、完成率100%不等于按时完成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1D386-062A-4333-83B1-C06DA138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15275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1207C-09F4-4250-B53B-2D61785F3F90}"/>
              </a:ext>
            </a:extLst>
          </p:cNvPr>
          <p:cNvGraphicFramePr/>
          <p:nvPr/>
        </p:nvGraphicFramePr>
        <p:xfrm>
          <a:off xmlns:a="http://schemas.openxmlformats.org/drawingml/2006/main" x="781050" y="2343150"/>
          <a:ext xmlns:a="http://schemas.openxmlformats.org/drawingml/2006/main" cx="136969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3714750"/>
                <a:gridCol w="3143250"/>
                <a:gridCol w="2457450"/>
              </a:tblGrid>
              <a:tr h="833438"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方案及位置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9E1E8"/>
                      </a:solidFill>
                      <a:prstDash val="solid"/>
                    </a:lnL>
                    <a:lnR w="7620">
                      <a:solidFill>
                        <a:srgbClr val="D9E1E8"/>
                      </a:solidFill>
                      <a:prstDash val="solid"/>
                    </a:lnR>
                    <a:lnT w="7620">
                      <a:solidFill>
                        <a:srgbClr val="D9E1E8"/>
                      </a:solidFill>
                      <a:prstDash val="solid"/>
                    </a:lnT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102A56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配送时间 / 秒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T w="7620">
                      <a:solidFill>
                        <a:srgbClr val="D9E1E8"/>
                      </a:solidFill>
                      <a:prstDash val="solid"/>
                    </a:lnT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102A56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路径暴露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T w="7620">
                      <a:solidFill>
                        <a:srgbClr val="D9E1E8"/>
                      </a:solidFill>
                      <a:prstDash val="solid"/>
                    </a:lnT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102A56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准时率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T w="7620">
                      <a:solidFill>
                        <a:srgbClr val="D9E1E8"/>
                      </a:solidFill>
                      <a:prstDash val="solid"/>
                    </a:lnT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102A56"/>
                    </a:solidFill>
                  </a:tcPr>
                </a:tc>
              </a:tr>
              <a:tr h="833438"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固定位置</a:t>
                      </a:r>
                    </a:p>
                    <a:p>
                      <a:pPr algn="l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S1 3架 + S5 2架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9E1E8"/>
                      </a:solidFill>
                      <a:prstDash val="solid"/>
                    </a:lnL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882.68 ± 38.81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0.957 ± 0.073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32.33%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  <a:tr h="833438"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距离优先</a:t>
                      </a:r>
                    </a:p>
                    <a:p>
                      <a:pPr algn="l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S3 3架 + S7 2架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9E1E8"/>
                      </a:solidFill>
                      <a:prstDash val="solid"/>
                    </a:lnL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731.00 ± 40.00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1.180 ± 0.093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39.67%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运行优选</a:t>
                      </a:r>
                    </a:p>
                    <a:p>
                      <a:pPr algn="l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S6 3架 + S8 2架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9E1E8"/>
                      </a:solidFill>
                      <a:prstDash val="solid"/>
                    </a:lnL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778.18 ± 43.11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0.865 ± 0.113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53C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39.00%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9E1E8"/>
                      </a:solidFill>
                      <a:prstDash val="solid"/>
                    </a:lnR>
                    <a:lnB w="7620">
                      <a:solidFill>
                        <a:srgbClr val="D9E1E8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DFA83-6B07-4A77-90AB-17579C58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34100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运行优选未在高峰时效上优于距离优先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1B829-C9C4-40DC-8115-72BA53FB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19900"/>
            <a:ext cx="1352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配送慢47.18秒，准时率低0.67个百分点，暴露低26.6%。多数订单超时，须补充容量研究。</a:t>
            </a:r>
          </a:p>
        </p:txBody>
      </p:sp>
    </p:spTree>
    <p:extLst>
      <p:ext uri="{BB962C8B-B14F-4D97-AF65-F5344CB8AC3E}">
        <p14:creationId xmlns:p14="http://schemas.microsoft.com/office/powerpoint/2010/main" val="10274639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C3B5DE-D99E-447C-A5D8-1BCFC17B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追加20种子检验保留相反结果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39095-D639-47A8-AD43-C27AE2F1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90650"/>
            <a:ext cx="1362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冻结两张既有地图的布局与参数，240条新增评价，不能当作新增实测园区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3A064-4517-4C91-9426-BBEB48FC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53375"/>
            <a:ext cx="1266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来源results/competition_v07/追加种子检验.md；不与原5种子混算，没有统计显著性结论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7FCE6-35DA-4BA7-9039-83C9D5D6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15275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46D7B-8914-4092-B2EE-ACABE30D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14575"/>
            <a:ext cx="1362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默认园区高峰对距离优先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F9A0D1-E0A9-41D6-BC8B-161A6731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33700"/>
            <a:ext cx="1352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运行优选准时率低4.17个百分点，0优2平18劣；配送慢88.63秒，1优19劣；路径暴露20次均优。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352423-2BC5-420A-971C-1E047A25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48150"/>
            <a:ext cx="1362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截图示例高峰对固定位置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E783A1-1AF4-4041-97F7-A49B4FA0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67275"/>
            <a:ext cx="1352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运行优选准时率低1.83个百分点；配送慢42.34秒，3优17劣；路径暴露20次均劣。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33D27F-A2E0-4323-927B-2B692FBE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62675"/>
            <a:ext cx="1362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结论依赖地图和目标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CD2522-7428-4DF1-9BE9-C9AA80F1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781800"/>
            <a:ext cx="1352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新增种子没有保证运行优选在独立评价占优。真实截图仍含假设尺度、楼高与需求，不能据此宣称实测验证。</a:t>
            </a:r>
          </a:p>
        </p:txBody>
      </p:sp>
    </p:spTree>
    <p:extLst>
      <p:ext uri="{BB962C8B-B14F-4D97-AF65-F5344CB8AC3E}">
        <p14:creationId xmlns:p14="http://schemas.microsoft.com/office/powerpoint/2010/main" val="3437612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00157B-A9B9-4AC6-9D95-610CB1A2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历史安全配对证据单独保留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582C5-F7F5-4D51-9C4D-9439611C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90650"/>
            <a:ext cx="1362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旧选址流程的3场景×5种子×3布局×2调度，共90条评价、45组配对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235A59-E455-46F6-92D9-A980B5AE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53375"/>
            <a:ext cx="1266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来源results/safety/；旧流程每个场景重新选址，不能替代当前V0.7位置评价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25341-E141-4AA5-B537-BBE2033E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15275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4EB9DC-3A46-4D37-82AE-DC4D226A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13477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700 次降为 0 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41D42-E88E-44F3-A7B9-730F8A28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14775"/>
            <a:ext cx="1343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保存样本中间距不足事件合计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6EC43-7AA0-4235-8F6E-83C9CA57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13668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7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97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平均配送时间增加 35.53 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65FE0-8DD0-410D-BAFB-F6E82FD7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91250"/>
            <a:ext cx="13430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按45组运行等权；两种调度均无失败。说明时隙约束的代价，不代表真实飞行安全认证。</a:t>
            </a:r>
          </a:p>
        </p:txBody>
      </p:sp>
    </p:spTree>
    <p:extLst>
      <p:ext uri="{BB962C8B-B14F-4D97-AF65-F5344CB8AC3E}">
        <p14:creationId xmlns:p14="http://schemas.microsoft.com/office/powerpoint/2010/main" val="10219563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FB8F48-3584-406A-92F5-CAE2F0C4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可复现交付与数据边界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E4FE86-C546-4B79-948E-2134E2AD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90650"/>
            <a:ext cx="1362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核心与Excel使用标准库，桌面运行需Python3.10及Tkinter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87E8B-968E-4BC4-AFCE-3749DA7C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53375"/>
            <a:ext cx="1266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本轮2026年10月18日：80项测试通过，30.538秒；另实际启动Tk工作台核查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2D8BFC-D35E-4F84-8491-0767CC55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15275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067F8-D957-4DCE-8519-B0A27259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05050"/>
            <a:ext cx="1362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复现入口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E413F2-2F0B-4260-BB9A-1326A2D8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24175"/>
            <a:ext cx="1352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python run.py --mode sites --drones 5 --output results/my_sites</a:t>
            </a:r>
          </a:p>
          <a:p xmlns:a="http://schemas.openxmlformats.org/drawingml/2006/main">
            <a: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保存候选、种子、冻结配置、30条记录、完整任务JSON与文件校验。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31FED-AFEE-4E0D-979E-A39660D7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76725"/>
            <a:ext cx="1362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模拟与真实图源分开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28829-7E48-4716-B59B-0CD2C2B8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95850"/>
            <a:ext cx="1352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标准园区所有尺度、楼高、需求与人群为模拟。清华官网导览图用于识别与操作草稿，尚待核实尺度、楼高和需求。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3136FD-6E6E-482B-BB8D-F03DBD97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91250"/>
            <a:ext cx="1362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方法与版权可追溯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9AD5F-F9D0-4C5D-8E62-59B83C30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810375"/>
            <a:ext cx="1352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参考文献说明A*等已有方法；报告披露Codex/ChatGPT辅助代码、测试、文字及材料制作，团队须理解并核对全部结果。</a:t>
            </a:r>
          </a:p>
        </p:txBody>
      </p:sp>
    </p:spTree>
    <p:extLst>
      <p:ext uri="{BB962C8B-B14F-4D97-AF65-F5344CB8AC3E}">
        <p14:creationId xmlns:p14="http://schemas.microsoft.com/office/powerpoint/2010/main" val="575936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612118-B91C-4122-BF4D-7CA0A991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当前成果与下一步验证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DA72D5-2AA6-4128-849D-FDF8A731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90650"/>
            <a:ext cx="1362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研究原型已连通输入、决策、回放与证据导出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446CF-D7BE-427B-9F28-D5EB3E4D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53375"/>
            <a:ext cx="1266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B7D"/>
                </a:solidFill>
                <a:latin typeface="Microsoft YaHei"/>
                <a:ea typeface="Microsoft YaHei"/>
                <a:cs typeface="Microsoft YaHei"/>
              </a:rPr>
              <a:t>有限模拟结果支撑方案讨论，尚不能形成真实运营或安全认证结论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CD2EEA-B963-41A8-8ED9-A85F53F4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15275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E63A5-73E4-472B-9A43-BB0ACA14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1362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可核查的贡献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13FB6-A331-4C96-9A18-9685F012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1352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可编辑地图直接进入航路与位置计算；正常与高峰共同设计；冻结位置独立评价，并保留时效代价与不利结果。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6B2C95-92CB-4836-9E48-380C3E80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48150"/>
            <a:ext cx="1362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尚未覆盖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B191E5-6A12-4366-B354-32855300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67275"/>
            <a:ext cx="1352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实测楼高、人群与需求校准，真实动力学、气象、能源、导航误差、滚动重规划及真实飞行验证。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C883A-0E0D-4631-98FA-66B12147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62675"/>
            <a:ext cx="1362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优先验证方向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7D46BF-7E2B-4BE4-A144-F3BEBB8C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781800"/>
            <a:ext cx="1352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3C52"/>
                </a:solidFill>
                <a:latin typeface="Microsoft YaHei"/>
                <a:ea typeface="Microsoft YaHei"/>
                <a:cs typeface="Microsoft YaHei"/>
              </a:rPr>
              <a:t>针对追加检验暴露的时效与跨地图反例，检查机队容量、目标偏好及参数敏感性，补充实测数据与符合条件的实地验证。</a:t>
            </a:r>
          </a:p>
        </p:txBody>
      </p:sp>
    </p:spTree>
    <p:extLst>
      <p:ext uri="{BB962C8B-B14F-4D97-AF65-F5344CB8AC3E}">
        <p14:creationId xmlns:p14="http://schemas.microsoft.com/office/powerpoint/2010/main" val="5587361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2026-10-18T14:15:31.0200000Z</dcterms:created>
  <dcterms:modified xsi:type="dcterms:W3CDTF">2026-10-18T14:15:31.0200000Z</dcterms:modified>
</coreProperties>
</file>