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4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7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dd7d9a8d2046aa" /><Relationship Type="http://schemas.openxmlformats.org/officeDocument/2006/relationships/extended-properties" Target="/docProps/app.xml" Id="R99e5f8ac5f72464b" /><Relationship Type="http://schemas.openxmlformats.org/officeDocument/2006/relationships/officeDocument" Target="/ppt/presentation.xml" Id="R51c16b2ee70344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c43a2aac7f4e88"/>
  </p:sldMasterIdLst>
  <p:notesMasterIdLst>
    <p:notesMasterId xmlns:r="http://schemas.openxmlformats.org/officeDocument/2006/relationships" r:id="R9d1dfd8726214409"/>
  </p:notesMasterIdLst>
  <p:sldIdLst>
    <p:sldId xmlns:r="http://schemas.openxmlformats.org/officeDocument/2006/relationships" id="256" r:id="R9dd7bc3e5abd448b"/>
    <p:sldId xmlns:r="http://schemas.openxmlformats.org/officeDocument/2006/relationships" id="257" r:id="Rbf0b1c2a8e7843c9"/>
    <p:sldId xmlns:r="http://schemas.openxmlformats.org/officeDocument/2006/relationships" id="258" r:id="R5290e82789184f9b"/>
    <p:sldId xmlns:r="http://schemas.openxmlformats.org/officeDocument/2006/relationships" id="259" r:id="Rf198940395e5483e"/>
    <p:sldId xmlns:r="http://schemas.openxmlformats.org/officeDocument/2006/relationships" id="260" r:id="R18bd8718c42a4024"/>
    <p:sldId xmlns:r="http://schemas.openxmlformats.org/officeDocument/2006/relationships" id="261" r:id="R5fde322276d543ac"/>
    <p:sldId xmlns:r="http://schemas.openxmlformats.org/officeDocument/2006/relationships" id="262" r:id="Rd676a29248014fb9"/>
    <p:sldId xmlns:r="http://schemas.openxmlformats.org/officeDocument/2006/relationships" id="263" r:id="R25d0c439f357473c"/>
    <p:sldId xmlns:r="http://schemas.openxmlformats.org/officeDocument/2006/relationships" id="264" r:id="Re33c68728a4f4a96"/>
    <p:sldId xmlns:r="http://schemas.openxmlformats.org/officeDocument/2006/relationships" id="265" r:id="Rd715d75c27b740b0"/>
    <p:sldId xmlns:r="http://schemas.openxmlformats.org/officeDocument/2006/relationships" id="266" r:id="Rf8072f4a29cd420e"/>
    <p:sldId xmlns:r="http://schemas.openxmlformats.org/officeDocument/2006/relationships" id="267" r:id="Re00a5db43c5d4de2"/>
    <p:sldId xmlns:r="http://schemas.openxmlformats.org/officeDocument/2006/relationships" id="268" r:id="R6bea5712a44d4ac9"/>
    <p:sldId xmlns:r="http://schemas.openxmlformats.org/officeDocument/2006/relationships" id="269" r:id="Rb2bf45bd982046f3"/>
    <p:sldId xmlns:r="http://schemas.openxmlformats.org/officeDocument/2006/relationships" id="270" r:id="R99bd91a0af3e4d9a"/>
    <p:sldId xmlns:r="http://schemas.openxmlformats.org/officeDocument/2006/relationships" id="271" r:id="R6c50dfb2a1bc470a"/>
    <p:sldId xmlns:r="http://schemas.openxmlformats.org/officeDocument/2006/relationships" id="272" r:id="R0b5dad21e9aa4a52"/>
    <p:sldId xmlns:r="http://schemas.openxmlformats.org/officeDocument/2006/relationships" id="273" r:id="R8471c7bf5c9843d2"/>
    <p:sldId xmlns:r="http://schemas.openxmlformats.org/officeDocument/2006/relationships" id="274" r:id="R8bc4c27b983e4876"/>
    <p:sldId xmlns:r="http://schemas.openxmlformats.org/officeDocument/2006/relationships" id="275" r:id="Rba18f026a9064c1a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5a089e3cd54de5" /><Relationship Type="http://schemas.openxmlformats.org/officeDocument/2006/relationships/slideMaster" Target="/ppt/slideMasters/slideMaster1.xml" Id="Ra7c43a2aac7f4e88" /><Relationship Type="http://schemas.openxmlformats.org/officeDocument/2006/relationships/notesMaster" Target="/ppt/notesMasters/notesMaster1.xml" Id="R9d1dfd8726214409" /><Relationship Type="http://schemas.openxmlformats.org/officeDocument/2006/relationships/presProps" Target="/ppt/presProps.xml" Id="Ra2ce4c71821547cb" /><Relationship Type="http://schemas.openxmlformats.org/officeDocument/2006/relationships/tableStyles" Target="/ppt/tableStyles.xml" Id="Re5eccf67141948d8" /><Relationship Type="http://schemas.openxmlformats.org/officeDocument/2006/relationships/slide" Target="/ppt/slides/slide1.xml" Id="R9dd7bc3e5abd448b" /><Relationship Type="http://schemas.openxmlformats.org/officeDocument/2006/relationships/slide" Target="/ppt/slides/slide2.xml" Id="Rbf0b1c2a8e7843c9" /><Relationship Type="http://schemas.openxmlformats.org/officeDocument/2006/relationships/slide" Target="/ppt/slides/slide3.xml" Id="R5290e82789184f9b" /><Relationship Type="http://schemas.openxmlformats.org/officeDocument/2006/relationships/slide" Target="/ppt/slides/slide4.xml" Id="Rf198940395e5483e" /><Relationship Type="http://schemas.openxmlformats.org/officeDocument/2006/relationships/slide" Target="/ppt/slides/slide5.xml" Id="R18bd8718c42a4024" /><Relationship Type="http://schemas.openxmlformats.org/officeDocument/2006/relationships/slide" Target="/ppt/slides/slide6.xml" Id="R5fde322276d543ac" /><Relationship Type="http://schemas.openxmlformats.org/officeDocument/2006/relationships/slide" Target="/ppt/slides/slide7.xml" Id="Rd676a29248014fb9" /><Relationship Type="http://schemas.openxmlformats.org/officeDocument/2006/relationships/slide" Target="/ppt/slides/slide8.xml" Id="R25d0c439f357473c" /><Relationship Type="http://schemas.openxmlformats.org/officeDocument/2006/relationships/slide" Target="/ppt/slides/slide9.xml" Id="Re33c68728a4f4a96" /><Relationship Type="http://schemas.openxmlformats.org/officeDocument/2006/relationships/slide" Target="/ppt/slides/slide10.xml" Id="Rd715d75c27b740b0" /><Relationship Type="http://schemas.openxmlformats.org/officeDocument/2006/relationships/slide" Target="/ppt/slides/slide11.xml" Id="Rf8072f4a29cd420e" /><Relationship Type="http://schemas.openxmlformats.org/officeDocument/2006/relationships/slide" Target="/ppt/slides/slide12.xml" Id="Re00a5db43c5d4de2" /><Relationship Type="http://schemas.openxmlformats.org/officeDocument/2006/relationships/slide" Target="/ppt/slides/slide13.xml" Id="R6bea5712a44d4ac9" /><Relationship Type="http://schemas.openxmlformats.org/officeDocument/2006/relationships/slide" Target="/ppt/slides/slide14.xml" Id="Rb2bf45bd982046f3" /><Relationship Type="http://schemas.openxmlformats.org/officeDocument/2006/relationships/slide" Target="/ppt/slides/slide15.xml" Id="R99bd91a0af3e4d9a" /><Relationship Type="http://schemas.openxmlformats.org/officeDocument/2006/relationships/slide" Target="/ppt/slides/slide16.xml" Id="R6c50dfb2a1bc470a" /><Relationship Type="http://schemas.openxmlformats.org/officeDocument/2006/relationships/slide" Target="/ppt/slides/slide17.xml" Id="R0b5dad21e9aa4a52" /><Relationship Type="http://schemas.openxmlformats.org/officeDocument/2006/relationships/slide" Target="/ppt/slides/slide18.xml" Id="R8471c7bf5c9843d2" /><Relationship Type="http://schemas.openxmlformats.org/officeDocument/2006/relationships/slide" Target="/ppt/slides/slide19.xml" Id="R8bc4c27b983e4876" /><Relationship Type="http://schemas.openxmlformats.org/officeDocument/2006/relationships/slide" Target="/ppt/slides/slide20.xml" Id="Rba18f026a9064c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c54f5151ff4c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0e336ca2e04c4c" /><Relationship Type="http://schemas.openxmlformats.org/officeDocument/2006/relationships/notesMaster" Target="/ppt/notesMasters/notesMaster1.xml" Id="R444feb8be2744b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6ea4fcb6a24be8" /><Relationship Type="http://schemas.openxmlformats.org/officeDocument/2006/relationships/notesMaster" Target="/ppt/notesMasters/notesMaster1.xml" Id="Rf89e991828b44b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ff2b348280450d" /><Relationship Type="http://schemas.openxmlformats.org/officeDocument/2006/relationships/notesMaster" Target="/ppt/notesMasters/notesMaster1.xml" Id="R7729f02c733f48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f37dce879e4a9c" /><Relationship Type="http://schemas.openxmlformats.org/officeDocument/2006/relationships/notesMaster" Target="/ppt/notesMasters/notesMaster1.xml" Id="R85a791561f4140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a3594564ae4494" /><Relationship Type="http://schemas.openxmlformats.org/officeDocument/2006/relationships/notesMaster" Target="/ppt/notesMasters/notesMaster1.xml" Id="Rdd1bab8723154f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5d186a5ab048f8" /><Relationship Type="http://schemas.openxmlformats.org/officeDocument/2006/relationships/notesMaster" Target="/ppt/notesMasters/notesMaster1.xml" Id="Ra7682d935dd748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5e14ab101948b5" /><Relationship Type="http://schemas.openxmlformats.org/officeDocument/2006/relationships/notesMaster" Target="/ppt/notesMasters/notesMaster1.xml" Id="Rc805956de77648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2e2a543fca4f46" /><Relationship Type="http://schemas.openxmlformats.org/officeDocument/2006/relationships/notesMaster" Target="/ppt/notesMasters/notesMaster1.xml" Id="R9547a0c6479e46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813e02ebe0425a" /><Relationship Type="http://schemas.openxmlformats.org/officeDocument/2006/relationships/notesMaster" Target="/ppt/notesMasters/notesMaster1.xml" Id="R3e8c4c2920634f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b68da7484640aa" /><Relationship Type="http://schemas.openxmlformats.org/officeDocument/2006/relationships/notesMaster" Target="/ppt/notesMasters/notesMaster1.xml" Id="R86e742aeb19c4b4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6304d8d1914070" /><Relationship Type="http://schemas.openxmlformats.org/officeDocument/2006/relationships/notesMaster" Target="/ppt/notesMasters/notesMaster1.xml" Id="Rda120326a1fd49e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bcfaa341da0408b" /><Relationship Type="http://schemas.openxmlformats.org/officeDocument/2006/relationships/notesMaster" Target="/ppt/notesMasters/notesMaster1.xml" Id="R442b01c2e920431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e832e4566b3491c" /><Relationship Type="http://schemas.openxmlformats.org/officeDocument/2006/relationships/notesMaster" Target="/ppt/notesMasters/notesMaster1.xml" Id="R0d69683d55504db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f9191013c4d4818" /><Relationship Type="http://schemas.openxmlformats.org/officeDocument/2006/relationships/notesMaster" Target="/ppt/notesMasters/notesMaster1.xml" Id="R0ddcb7f128b64ad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0dce1b99fe44b98" /><Relationship Type="http://schemas.openxmlformats.org/officeDocument/2006/relationships/notesMaster" Target="/ppt/notesMasters/notesMaster1.xml" Id="R411392b3bd94456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9888ee0bcbd4821" /><Relationship Type="http://schemas.openxmlformats.org/officeDocument/2006/relationships/notesMaster" Target="/ppt/notesMasters/notesMaster1.xml" Id="R2c34c109f0a5434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e61be1cbb6a4a20" /><Relationship Type="http://schemas.openxmlformats.org/officeDocument/2006/relationships/notesMaster" Target="/ppt/notesMasters/notesMaster1.xml" Id="Rf46d0056a70e4fe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b00587178604393" /><Relationship Type="http://schemas.openxmlformats.org/officeDocument/2006/relationships/notesMaster" Target="/ppt/notesMasters/notesMaster1.xml" Id="Rf0f7e32bbde2409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4ba1187b38e4e80" /><Relationship Type="http://schemas.openxmlformats.org/officeDocument/2006/relationships/notesMaster" Target="/ppt/notesMasters/notesMaster1.xml" Id="R9620e6e906464ec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ab7289c980f4d21" /><Relationship Type="http://schemas.openxmlformats.org/officeDocument/2006/relationships/notesMaster" Target="/ppt/notesMasters/notesMaster1.xml" Id="R758ca8a3862d4d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本作品研究园区无人机末端配送中的路径规划、起降场布局和多机调度问题。系统使用Python实现，已经贯通地图编辑、计算、回放和结果导出。后续展示的定量结论均来自自建模拟园区，封面是场景示意图。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参赛材料/主报告/主报告_面向园区末端配送的低空风险仿真与起降场选址系统.md</a:t>
            </a:r>
          </a:p>
          <a:p xmlns:a="http://schemas.openxmlformats.org/drawingml/2006/main">
            <a:r>
              <a:t>封面插画：用户已选定的本地AI生成风格参考图 历史图片_02.png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园区内的无人机配送不只涉及起终点之间的距离。高建筑会阻断部分航路，人员活动区域会改变路径暴露。多架无人机还需要共享起降服务位，并检查飞行过程中的接近。因此，本作品把路径、场站和时序放到同一个可操作的仿真流程中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参赛材料/主报告/主报告_面向园区末端配送的低空风险仿真与起降场选址系统.md，第1、2章</a:t>
            </a:r>
          </a:p>
          <a:p xmlns:a="http://schemas.openxmlformats.org/drawingml/2006/main">
            <a:r>
              <a:t>场景插画：历史图片_01.png，非真实园区测绘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明确作品的贡献定位。基础算法来自成熟方法，团队的主要工作是把人工校核地图、风险航路、候选场站、服务位预约和间距复核放在同一套可保存的输入输出中。输入组件可编辑，运行比较有共同条件，结论可以追溯至订单。本项目不把A*或枚举包装成新的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engine.py</a:t>
            </a:r>
          </a:p>
          <a:p xmlns:a="http://schemas.openxmlformats.org/drawingml/2006/main">
            <a:r>
              <a:t>map_document.py</a:t>
            </a:r>
          </a:p>
          <a:p xmlns:a="http://schemas.openxmlformats.org/drawingml/2006/main">
            <a:r>
              <a:t>map_editor.py</a:t>
            </a:r>
          </a:p>
          <a:p xmlns:a="http://schemas.openxmlformats.org/drawingml/2006/main">
            <a:r>
              <a:t>airspace.py</a:t>
            </a:r>
          </a:p>
          <a:p xmlns:a="http://schemas.openxmlformats.org/drawingml/2006/main">
            <a:r>
              <a:t>reporting.py</a:t>
            </a:r>
          </a:p>
          <a:p xmlns:a="http://schemas.openxmlformats.org/drawingml/2006/main">
            <a:r>
              <a:t>results/safety/manifest.json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主体采用Python与Tkinter。本页和下一页使用同一张data/图片导入示例.png及实操录像。图片生成10个建筑候选、6个候选起降场和8个配送点，人工定标为960米，全部楼高先设32米，B1改52米，S1拖动至录像保存的位置。示例楼高需在真实应用中逐栋核实。新近从原图重复这些MapDocument操作，保存JSON、重新载入计算，三个布局的任务记录和指标都与录像保存结果逐项相同。综合布局选S5+S6，30单全部完成，平均配送124.2683秒。录像实际记录导入、编辑、计算与回放，本次另外调用应用共用的export_result导出该图片地图的JSON、CSV、SVG，并保存20条航迹插值记录。后续标准园区实验有8个候选场站，两者不可混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参赛材料/答辩PPT/增强版验证数据/image_case_scene.json</a:t>
            </a:r>
          </a:p>
          <a:p xmlns:a="http://schemas.openxmlformats.org/drawingml/2006/main">
            <a:r>
              <a:t>参赛材料/答辩PPT/增强版验证数据/image_case/result.json</a:t>
            </a:r>
          </a:p>
          <a:p xmlns:a="http://schemas.openxmlformats.org/drawingml/2006/main">
            <a:r>
              <a:t>参赛材料/答辩PPT/增强版验证数据/image_case/jobs.csv</a:t>
            </a:r>
          </a:p>
          <a:p xmlns:a="http://schemas.openxmlformats.org/drawingml/2006/main">
            <a:r>
              <a:t>参赛材料/答辩PPT/增强版验证数据/image_case_playback.csv</a:t>
            </a:r>
          </a:p>
          <a:p xmlns:a="http://schemas.openxmlformats.org/drawingml/2006/main">
            <a:r>
              <a:t>参赛材料/演示视频/制作工程/operations/segments/05.mp4，4.3秒原生界面帧</a:t>
            </a:r>
          </a:p>
          <a:p xmlns:a="http://schemas.openxmlformats.org/drawingml/2006/main">
            <a:r>
              <a:t>参赛材料/演示视频/制作工程/operations/图片地图_计算结果.json</a:t>
            </a:r>
          </a:p>
          <a:p xmlns:a="http://schemas.openxmlformats.org/drawingml/2006/main">
            <a:r>
              <a:t>app.py</a:t>
            </a:r>
          </a:p>
          <a:p xmlns:a="http://schemas.openxmlformats.org/drawingml/2006/main">
            <a:r>
              <a:t>reporting.py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前页同一图片地图的编辑过程，截自实际原生编辑器录屏。所有建筑高度先手动填写32米，B1另改52米，S1位置已经拖动并保存。图片导入仅提供建筑候选，用户先确认尺度，再逐栋或批量填写楼高。建筑、候选起降场、配送点和人员热点均可编辑。复杂或旋转建筑需要多个矩形近似，复杂卫星图仍可能误检和漏检。示例楼高用于操作说明，不是现场测绘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参赛材料/主报告/主报告_面向园区末端配送的低空风险仿真与起降场选址系统.md，第3.2、3.3节</a:t>
            </a:r>
          </a:p>
          <a:p xmlns:a="http://schemas.openxmlformats.org/drawingml/2006/main">
            <a:r>
              <a:t>map_editor.py</a:t>
            </a:r>
          </a:p>
          <a:p xmlns:a="http://schemas.openxmlformats.org/drawingml/2006/main">
            <a:r>
              <a:t>map_document.py</a:t>
            </a:r>
          </a:p>
          <a:p xmlns:a="http://schemas.openxmlformats.org/drawingml/2006/main">
            <a:r>
              <a:t>image_map.py</a:t>
            </a:r>
          </a:p>
          <a:p xmlns:a="http://schemas.openxmlformats.org/drawingml/2006/main">
            <a:r>
              <a:t>参赛材料/演示视频/制作工程/operations/segments/04.mp4，14.5秒原生编辑器帧</a:t>
            </a:r>
          </a:p>
          <a:p xmlns:a="http://schemas.openxmlformats.org/drawingml/2006/main">
            <a:r>
              <a:t>参赛材料/答辩PPT/增强版验证数据/image_case_scene.json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默认960×640米模拟园区，调用与编辑器共用的MapDocument.update，把B1高度由32改为52米。MapDocument.save后从JSON重新建立设计并评价；只更改一个高度数值，配置和两个随机种子保持一致。巡航高度45米，垂直间距5米，因此B1由可越过变为阻塞。固定布局中O008实际使用S1:D9，单程504.014285变为518.877200米。共9条候选航路延长。综合风险布局重新选址仍是S2+S6，其订单指标没有变化；不把这个案例解读成所有方案都变化。图由实际reporting.map_svg输出，仅过滤其他航线以便阅读。不是GUI操作录像或实测建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参赛材料/答辩PPT/增强版验证数据/case_before_scene.json</a:t>
            </a:r>
          </a:p>
          <a:p xmlns:a="http://schemas.openxmlformats.org/drawingml/2006/main">
            <a:r>
              <a:t>参赛材料/答辩PPT/增强版验证数据/case_after_scene.json</a:t>
            </a:r>
          </a:p>
          <a:p xmlns:a="http://schemas.openxmlformats.org/drawingml/2006/main">
            <a:r>
              <a:t>参赛材料/答辩PPT/增强版验证数据/case_before/result.json</a:t>
            </a:r>
          </a:p>
          <a:p xmlns:a="http://schemas.openxmlformats.org/drawingml/2006/main">
            <a:r>
              <a:t>参赛材料/答辩PPT/增强版验证数据/case_after/result.json</a:t>
            </a:r>
          </a:p>
          <a:p xmlns:a="http://schemas.openxmlformats.org/drawingml/2006/main">
            <a:r>
              <a:t>map_document.py：update、save</a:t>
            </a:r>
          </a:p>
          <a:p xmlns:a="http://schemas.openxmlformats.org/drawingml/2006/main">
            <a:r>
              <a:t>reporting.py：map_svg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表把同一个输入修改连接到实际任务，不混用来自不同地图的截图。固定布局的O008在两次运行均由U1从S1出发送往D9，26秒创建、51秒起飞。修改前127.001587秒完成配送，修改后128.653022秒完成配送，相差约1.65秒；该任务返航和降落后结束时间也改变。评价30个订单的整体时间并不一定随这一条航路单调增加，因为后续分配和等待也可能改变。本案例只说明输入编辑进入计算且可追溯。完整三个布局的输出均已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参赛材料/答辩PPT/增强版验证数据/case_before/jobs.csv</a:t>
            </a:r>
          </a:p>
          <a:p xmlns:a="http://schemas.openxmlformats.org/drawingml/2006/main">
            <a:r>
              <a:t>参赛材料/答辩PPT/增强版验证数据/case_after/jobs.csv</a:t>
            </a:r>
          </a:p>
          <a:p xmlns:a="http://schemas.openxmlformats.org/drawingml/2006/main">
            <a:r>
              <a:t>参赛材料/答辩PPT/增强版验证数据/evidence_summary.json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作品在给定巡航高度的平面上规划，建筑另外带有高度属性。当建筑高度加垂直间距不低于巡航高度时，将其作为障碍，并在平面外扩。人员热点以简化高斯场叠加形成暴露场。暴露指标是路径经过人员活动区域的相对代理值，没有包含坠落概率、伤害后果和悬停暴露，因此不能直接解释为实际事故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参赛材料/主报告/主报告_面向园区末端配送的低空风险仿真与起降场选址系统.md，第3.4节</a:t>
            </a:r>
          </a:p>
          <a:p xmlns:a="http://schemas.openxmlformats.org/drawingml/2006/main">
            <a:r>
              <a:t>engine.py：risk_at、build_scene</a:t>
            </a:r>
          </a:p>
          <a:p xmlns:a="http://schemas.openxmlformats.org/drawingml/2006/main">
            <a:r>
              <a:t>软件地图截图：docs/images/simulation-map.png</a:t>
            </a:r>
          </a:p>
          <a:p xmlns:a="http://schemas.openxmlformats.org/drawingml/2006/main">
            <a:r>
              <a:t>Primatesta et al., Ground Risk Map, DOI 10.1007/s10846-019-01015-z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条边的代价由几何长度和风险惩罚构成，A*利用欧氏距离下界搜索最小加权代价航路。实现中检查障碍、对角拐角和端点连接。需要区分航路目标与选址目标，后面所说的距离优先是场站评分方式，所有批量方案都使用λ等于2的规划器。左图仅解释规划思想，不是本项目已经执行的λ等于0对照实验。算法代价已在构造场景中与独立Dijkstra搜索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参赛材料/主报告/主报告_面向园区末端配送的低空风险仿真与起降场选址系统.md，第3.5节</a:t>
            </a:r>
          </a:p>
          <a:p xmlns:a="http://schemas.openxmlformats.org/drawingml/2006/main">
            <a:r>
              <a:t>engine.py：astar</a:t>
            </a:r>
          </a:p>
          <a:p xmlns:a="http://schemas.openxmlformats.org/drawingml/2006/main">
            <a:r>
              <a:t>Hart et al., 1968, DOI 10.1109/TSSC.1968.300136</a:t>
            </a:r>
          </a:p>
          <a:p xmlns:a="http://schemas.openxmlformats.org/drawingml/2006/main">
            <a:r>
              <a:t>原理示意插画：历史图片_01.png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增航路层级消融。固定地图、巡航高度、栅格和80组起终点，仅改变A*风险权重λ。两组80条路线均可达。等权平均单程长度从453.8443938888816增加到475.742460290506米，沿线暴露积分从94.48369446045822降为59.97197895077275。该积分是engine.measure_path中长度乘风险值的累加，单位可理解为米乘相对风险值；与任务往返暴露指数的归一化口径不同。该实验隔离航路权重效果，没有重新选址、没有随机订单，也不推断所有园区普遍具有相同降幅。原先90条运行实验继续共用λ=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参赛材料/答辩PPT/增强版验证数据/route_ablation_raw.csv</a:t>
            </a:r>
          </a:p>
          <a:p xmlns:a="http://schemas.openxmlformats.org/drawingml/2006/main">
            <a:r>
              <a:t>参赛材料/答辩PPT/增强版验证数据/evidence_summary.json</a:t>
            </a:r>
          </a:p>
          <a:p xmlns:a="http://schemas.openxmlformats.org/drawingml/2006/main">
            <a:r>
              <a:t>engine.py：astar、measure_path、route_catalog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默认模拟园区有8个候选起降场，当全部可用时需要评价28组两场站组合。综合评分对暴露、配送时间、总航程和场站等待进行归一化加权，权重分别为45%、30%、15%和10%，失败订单另加惩罚。设计订单与评价订单分离，选完之后冻结场站。当前采用先选址再调度的顺序方案，没有把它表述为城市连续空间的全局联合最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参赛材料/主报告/主报告_面向园区末端配送的低空风险仿真与起降场选址系统.md，第3.6节</a:t>
            </a:r>
          </a:p>
          <a:p xmlns:a="http://schemas.openxmlformats.org/drawingml/2006/main">
            <a:r>
              <a:t>engine.py：SCORE_WEIGHTS、design_sites</a:t>
            </a:r>
          </a:p>
          <a:p xmlns:a="http://schemas.openxmlformats.org/drawingml/2006/main">
            <a:r>
              <a:t>results/safety/summary.csv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调度时先检查无人机和场站资源，再将候选任务的去程、配送悬停、返程和必要的等待，与已预约任务比较。连续时间检测通过相对运动方程求接近区间，避免逐秒采样漏掉短暂交叉。例子来自保存的实际仿真任务O009，基线388秒出发，错峰403秒出发，单列错峰等待15秒。5秒是时间搜索步长，20米是研究设定，不是引用的监管间隔标准。当前不支持飞行途中的实时避碰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参赛材料/主报告/主报告_面向园区末端配送的低空风险仿真与起降场选址系统.md，第3.7、3.8节</a:t>
            </a:r>
          </a:p>
          <a:p xmlns:a="http://schemas.openxmlformats.org/drawingml/2006/main">
            <a:r>
              <a:t>airspace.py</a:t>
            </a:r>
          </a:p>
          <a:p xmlns:a="http://schemas.openxmlformats.org/drawingml/2006/main">
            <a:r>
              <a:t>results/safety/runs/normal_20261015_baseline.json</a:t>
            </a:r>
          </a:p>
          <a:p xmlns:a="http://schemas.openxmlformats.org/drawingml/2006/main">
            <a:r>
              <a:t>results/safety/runs/normal_20261015_staggered.json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定量实验使用一个960乘640米的自建模拟园区，包含10栋建筑、8个候选场站、10个配送点和4个人员热点。组合3种场景、5个评价种子、3种布局、2种调度，共90条运行指标和45组配对。每组只切换错峰开关。局部关闭在运行前已知并整次生效，每个场景分别重新选址，因此不能把这个实验解释为途中突发关闭的鲁棒性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参赛材料/主报告/主报告_面向园区末端配送的低空风险仿真与起降场选址系统.md，第3.10节</a:t>
            </a:r>
          </a:p>
          <a:p xmlns:a="http://schemas.openxmlformats.org/drawingml/2006/main">
            <a:r>
              <a:t>data/demo_scene.json</a:t>
            </a:r>
          </a:p>
          <a:p xmlns:a="http://schemas.openxmlformats.org/drawingml/2006/main">
            <a:r>
              <a:t>results/safety/manifest.json</a:t>
            </a:r>
          </a:p>
          <a:p xmlns:a="http://schemas.openxmlformats.org/drawingml/2006/main">
            <a:r>
              <a:t>results/safety/raw_metrics.csv</a:t>
            </a:r>
          </a:p>
          <a:p xmlns:a="http://schemas.openxmlformats.org/drawingml/2006/main">
            <a:r>
              <a:t>results/safety/paired_comparison.csv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综合风险布局在正常、高峰、局部关闭场景的基线平均间距事件分别为9.2、27.2、9.4次，错峰后均为0。右边的700与0来自所有45组配对的事件合计，而不是左图三根柱子的相加。按45组运行等权计算，平均配送时间增加35.53秒，两种调度没有失败订单。该代价不等同于单列错峰等待，因为时序变化也会影响后续任务分配和资源可用时间。图中展示均值，样本标准差见备用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参赛材料/主报告/主报告_面向园区末端配送的低空风险仿真与起降场选址系统.md，第3.11节</a:t>
            </a:r>
          </a:p>
          <a:p xmlns:a="http://schemas.openxmlformats.org/drawingml/2006/main">
            <a:r>
              <a:t>results/safety/summary.csv</a:t>
            </a:r>
          </a:p>
          <a:p xmlns:a="http://schemas.openxmlformats.org/drawingml/2006/main">
            <a:r>
              <a:t>results/safety/paired_comparison.csv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常场景下，错峰后的距离优先布局平均配送时间为123.71秒，暴露指数1.093。综合风险布局为137.15秒和0.849，暴露相对降低22.3%，配送时间增加13.44秒。这是场站布局在当前权重下的权衡，不是λ等于0和λ等于2的航路算法对照。图中每单暴露没有计入悬停，因此当前数据不足以计算完整任务的风险与能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参赛材料/主报告/主报告_面向园区末端配送的低空风险仿真与起降场选址系统.md，第3.11、3.12节</a:t>
            </a:r>
          </a:p>
          <a:p xmlns:a="http://schemas.openxmlformats.org/drawingml/2006/main">
            <a:r>
              <a:t>results/safety/summary.csv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耗时为本地实际测量，不是实时性能承诺。原始测量由measure_evidence.py完成，用perf_counter计时，预热一次后对30、60、120单各顺序重复3次。完整计算包含航路目录、设计订单的候选布局模拟及评分、三种布局的独立订单评价。每次完整计算都重新设计。单独评价阶段复用刚生成的设计。两阶段中位数与总耗时中位数分别求取，因此阶段中位数的和不要求严格等于总中位数。3个规模均是normal场景，1200秒到达窗，参数和地图固定。排除Python导入、图片识别、UI绘制、文件导出与PPT渲染。只有3次重复，报告原始最小最大值，不推断跨设备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参赛材料/答辩PPT/增强版验证数据/runtime_raw.csv</a:t>
            </a:r>
          </a:p>
          <a:p xmlns:a="http://schemas.openxmlformats.org/drawingml/2006/main">
            <a:r>
              <a:t>参赛材料/答辩PPT/增强版验证数据/evidence_summary.json</a:t>
            </a:r>
          </a:p>
          <a:p xmlns:a="http://schemas.openxmlformats.org/drawingml/2006/main">
            <a:r>
              <a:t>.verification/defense-enhanced-20261017/measure_evidence.py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直接触发5类情况并保留输出。尺度未确认、楼高未填写及坐标越界通过create_scene明确阻止计算，均有可操作提示。指定全部航路为空的单订单案例记录unreachable。使用现有AirspaceTests同样的两架无人机对向航路构造，最大额外等待设0，2单中1单完成，1单记录airspace_delay_limit，完成率为50%。后一项不是默认园区的失败率，不能与90条实验中无失败的结论混淆。程序没有静默删除失败订单，也不把不可达任务当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参赛材料/答辩PPT/增强版验证数据/evidence_summary.json</a:t>
            </a:r>
          </a:p>
          <a:p xmlns:a="http://schemas.openxmlformats.org/drawingml/2006/main">
            <a:r>
              <a:t>engine.py：create_scene、simulate</a:t>
            </a:r>
          </a:p>
          <a:p xmlns:a="http://schemas.openxmlformats.org/drawingml/2006/main">
            <a:r>
              <a:t>tests/test_airspace.py：test_search_limit_failure_is_explicit_and_counted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作品的主要工作是工程整合和可复核比较。地图组件直接影响算法输入，场站设计、任务预约和连续时间检查保留可追溯记录。41项自动核验支持实现符合既定模型。限制同样明确，地图为模拟输入，风险与飞行模型简化，只有5个评价种子。高峰场景综合风险布局启用错峰后准时率只有39%，说明时隙调整不能代替容量提升。后续优先补真实园区案例，并研究机队数量、服务位能力、悬停代价及服务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参赛材料/主报告/主报告_面向园区末端配送的低空风险仿真与起降场选址系统.md，第3.12、3.13、4、5章</a:t>
            </a:r>
          </a:p>
          <a:p xmlns:a="http://schemas.openxmlformats.org/drawingml/2006/main">
            <a:r>
              <a:t>docs/验证记录.md</a:t>
            </a:r>
          </a:p>
          <a:p xmlns:a="http://schemas.openxmlformats.org/drawingml/2006/main">
            <a:r>
              <a:t>results/safety/summary.csv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，按评委提问说明参数。20米间距、5米建筑垂直间距、8米平面外扩均为研究设定。配送时间从下单计至完成配送处理，返航不会直接加在当前单的配送时间里，但会影响无人机后续可用。标准差由summary.csv给出，5个种子不足以据此声称统计显著或跨园区普遍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参赛材料/主报告/主报告_面向园区末端配送的低空风险仿真与起降场选址系统.md，第3.10、3.11节</a:t>
            </a:r>
          </a:p>
          <a:p xmlns:a="http://schemas.openxmlformats.org/drawingml/2006/main">
            <a:r>
              <a:t>results/safety/summary.csv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用于回答算法来源和数据可复核性。标准A*和风险地图文献提供研究依据，当前采用的地面暴露场是简化模型。SIPP与CBS仅在主报告中作为后续研究参照，没有在本作品实现。参赛者应理解代码、输入、评价口径和限制，并如实声明AI辅助使用。可在程序入口运行界面，原始CSV、配对差值和汇总表可逐项核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参赛材料/主报告/主报告_面向园区末端配送的低空风险仿真与起降场选址系统.md，参考文献及附录A、B</a:t>
            </a:r>
          </a:p>
          <a:p xmlns:a="http://schemas.openxmlformats.org/drawingml/2006/main">
            <a:r>
              <a:t>Hart DOI 10.1109/TSSC.1968.300136</a:t>
            </a:r>
          </a:p>
          <a:p xmlns:a="http://schemas.openxmlformats.org/drawingml/2006/main">
            <a:r>
              <a:t>Primatesta DOI 10.1007/s10846-018-0924-3</a:t>
            </a:r>
          </a:p>
          <a:p xmlns:a="http://schemas.openxmlformats.org/drawingml/2006/main">
            <a:r>
              <a:t>Primatesta DOI 10.1007/s10846-019-01015-z</a:t>
            </a:r>
          </a:p>
          <a:p xmlns:a="http://schemas.openxmlformats.org/drawingml/2006/main">
            <a:r>
              <a:t>Kuchar DOI 10.1109/6979.898217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9b23428acd458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e78e869666453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676d1e2055433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a7acd5752e46e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ef0a317411473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7639f3c1914e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D2FF35-58E4-4558-8143-97940B72DE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AC72546-A375-4DCC-AFE9-05791BF11E4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7B66539-747F-4360-8BAE-AD77EF2D3A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82F686-0FDF-491D-B4A3-9A1892267E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B9EB3B5-9446-478A-9A64-7FE664F70B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3913CD7-C457-48FF-9912-49B66F7193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D014EF-1203-44A1-99C6-71A6B71D50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D17668A-1462-418D-AD41-013A8E42A81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2FE5708-C827-4EDF-8DEC-F8989A8732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B36F4AF-4136-4AD3-9EB8-27F83C131E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d959cdd65f4bfd" /><Relationship Type="http://schemas.openxmlformats.org/officeDocument/2006/relationships/slideLayout" Target="/ppt/slideLayouts/slideLayout1.xml" Id="R1f9900e10d1b4db0" /><Relationship Type="http://schemas.openxmlformats.org/officeDocument/2006/relationships/slideLayout" Target="/ppt/slideLayouts/slideLayout2.xml" Id="Rbfb6cea49c934dd2" /><Relationship Type="http://schemas.openxmlformats.org/officeDocument/2006/relationships/slideLayout" Target="/ppt/slideLayouts/slideLayout3.xml" Id="R084dc598cbff4e3b" /><Relationship Type="http://schemas.openxmlformats.org/officeDocument/2006/relationships/slideLayout" Target="/ppt/slideLayouts/slideLayout4.xml" Id="R6ef94bfc42ca4874" /><Relationship Type="http://schemas.openxmlformats.org/officeDocument/2006/relationships/slideLayout" Target="/ppt/slideLayouts/slideLayout5.xml" Id="R19e684268a96485b" /><Relationship Type="http://schemas.openxmlformats.org/officeDocument/2006/relationships/slideLayout" Target="/ppt/slideLayouts/slideLayout6.xml" Id="Rf84f399819d542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9900e10d1b4db0"/>
    <p:sldLayoutId xmlns:r="http://schemas.openxmlformats.org/officeDocument/2006/relationships" id="2147483650" r:id="Rbfb6cea49c934dd2"/>
    <p:sldLayoutId xmlns:r="http://schemas.openxmlformats.org/officeDocument/2006/relationships" id="2147483651" r:id="R084dc598cbff4e3b"/>
    <p:sldLayoutId xmlns:r="http://schemas.openxmlformats.org/officeDocument/2006/relationships" id="2147483652" r:id="R6ef94bfc42ca4874"/>
    <p:sldLayoutId xmlns:r="http://schemas.openxmlformats.org/officeDocument/2006/relationships" id="2147483653" r:id="R19e684268a96485b"/>
    <p:sldLayoutId xmlns:r="http://schemas.openxmlformats.org/officeDocument/2006/relationships" id="2147483654" r:id="Rf84f399819d542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ea3d8ae4234165" /><Relationship Type="http://schemas.openxmlformats.org/officeDocument/2006/relationships/image" Target="/ppt/media/image.jpeg" Id="R72181fd6f80a4565" /><Relationship Type="http://schemas.openxmlformats.org/officeDocument/2006/relationships/notesSlide" Target="/ppt/notesSlides/notesSlide1.xml" Id="Radc99fa2cf1f4e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70861550424e1f" /><Relationship Type="http://schemas.openxmlformats.org/officeDocument/2006/relationships/image" Target="/ppt/media/image2.jpeg" Id="Rfa62868a1ab546e2" /><Relationship Type="http://schemas.openxmlformats.org/officeDocument/2006/relationships/notesSlide" Target="/ppt/notesSlides/notesSlide2.xml" Id="R5a54e02b2e3747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3e658eb0ea47d9" /><Relationship Type="http://schemas.openxmlformats.org/officeDocument/2006/relationships/notesSlide" Target="/ppt/notesSlides/notesSlide3.xml" Id="R9ea053c6af784d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73229db28847d6" /><Relationship Type="http://schemas.openxmlformats.org/officeDocument/2006/relationships/image" Target="/ppt/media/image3.jpeg" Id="R8b5d248850df465a" /><Relationship Type="http://schemas.openxmlformats.org/officeDocument/2006/relationships/notesSlide" Target="/ppt/notesSlides/notesSlide4.xml" Id="R02cf2cec658449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dd41ad571946be" /><Relationship Type="http://schemas.openxmlformats.org/officeDocument/2006/relationships/image" Target="/ppt/media/image4.jpeg" Id="R9956e8413409466e" /><Relationship Type="http://schemas.openxmlformats.org/officeDocument/2006/relationships/notesSlide" Target="/ppt/notesSlides/notesSlide5.xml" Id="R89a4bedd89ca40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800100b97146cf" /><Relationship Type="http://schemas.openxmlformats.org/officeDocument/2006/relationships/image" Target="/ppt/media/image5.jpeg" Id="Rb36879e792fa4f94" /><Relationship Type="http://schemas.openxmlformats.org/officeDocument/2006/relationships/image" Target="/ppt/media/image6.jpeg" Id="R9ae3562220b147d5" /><Relationship Type="http://schemas.openxmlformats.org/officeDocument/2006/relationships/notesSlide" Target="/ppt/notesSlides/notesSlide6.xml" Id="Rfc4e8824142a44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04cffb36da441a" /><Relationship Type="http://schemas.openxmlformats.org/officeDocument/2006/relationships/notesSlide" Target="/ppt/notesSlides/notesSlide7.xml" Id="R6b909f98416f43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95e1d4f2a743d5" /><Relationship Type="http://schemas.openxmlformats.org/officeDocument/2006/relationships/image" Target="/ppt/media/image7.jpeg" Id="Rc17f417387bb4d53" /><Relationship Type="http://schemas.openxmlformats.org/officeDocument/2006/relationships/notesSlide" Target="/ppt/notesSlides/notesSlide8.xml" Id="R2e1746dd56e04a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5f3bdce51d4b7a" /><Relationship Type="http://schemas.openxmlformats.org/officeDocument/2006/relationships/image" Target="/ppt/media/image8.jpeg" Id="Rd71251bebd1b4ee4" /><Relationship Type="http://schemas.openxmlformats.org/officeDocument/2006/relationships/notesSlide" Target="/ppt/notesSlides/notesSlide9.xml" Id="Rced7762459634e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1382c7c30d4959" /><Relationship Type="http://schemas.openxmlformats.org/officeDocument/2006/relationships/chart" Target="/ppt/slides/charts/chart1.xml" Id="Re65b4e13d18b457d" /><Relationship Type="http://schemas.openxmlformats.org/officeDocument/2006/relationships/chart" Target="/ppt/slides/charts/chart2.xml" Id="R605e86fed8a64d60" /><Relationship Type="http://schemas.openxmlformats.org/officeDocument/2006/relationships/notesSlide" Target="/ppt/notesSlides/notesSlide10.xml" Id="R780efce0afdb489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7d1ad8543648c1" /><Relationship Type="http://schemas.openxmlformats.org/officeDocument/2006/relationships/chart" Target="/ppt/slides/charts/chart3.xml" Id="Rf44fcc7be2c14625" /><Relationship Type="http://schemas.openxmlformats.org/officeDocument/2006/relationships/notesSlide" Target="/ppt/notesSlides/notesSlide11.xml" Id="R9e90ec51dd74424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8e6bb25a934e98" /><Relationship Type="http://schemas.openxmlformats.org/officeDocument/2006/relationships/notesSlide" Target="/ppt/notesSlides/notesSlide12.xml" Id="R42aeb0c893a4424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c51e5c437047bd" /><Relationship Type="http://schemas.openxmlformats.org/officeDocument/2006/relationships/notesSlide" Target="/ppt/notesSlides/notesSlide13.xml" Id="R1e91621b2d5844d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0018aa2eef4801" /><Relationship Type="http://schemas.openxmlformats.org/officeDocument/2006/relationships/chart" Target="/ppt/slides/charts/chart4.xml" Id="R229bf919f09444ca" /><Relationship Type="http://schemas.openxmlformats.org/officeDocument/2006/relationships/notesSlide" Target="/ppt/notesSlides/notesSlide14.xml" Id="R7028e75125fa4ca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de22c285ac4899" /><Relationship Type="http://schemas.openxmlformats.org/officeDocument/2006/relationships/chart" Target="/ppt/slides/charts/chart5.xml" Id="R750e820ca5614e3f" /><Relationship Type="http://schemas.openxmlformats.org/officeDocument/2006/relationships/chart" Target="/ppt/slides/charts/chart6.xml" Id="Ra0410650edd846bf" /><Relationship Type="http://schemas.openxmlformats.org/officeDocument/2006/relationships/notesSlide" Target="/ppt/notesSlides/notesSlide15.xml" Id="R9d9e6cb50bbc4fd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5574868e954d11" /><Relationship Type="http://schemas.openxmlformats.org/officeDocument/2006/relationships/chart" Target="/ppt/slides/charts/chart7.xml" Id="Rafd805727fba4f58" /><Relationship Type="http://schemas.openxmlformats.org/officeDocument/2006/relationships/notesSlide" Target="/ppt/notesSlides/notesSlide16.xml" Id="R581c5079aa6e43c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2f268929bb496d" /><Relationship Type="http://schemas.openxmlformats.org/officeDocument/2006/relationships/notesSlide" Target="/ppt/notesSlides/notesSlide17.xml" Id="R4ee37b4b03e34fb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e3c075010b45df" /><Relationship Type="http://schemas.openxmlformats.org/officeDocument/2006/relationships/notesSlide" Target="/ppt/notesSlides/notesSlide18.xml" Id="Raee56d1a1aa44fe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e9755d2d67434c" /><Relationship Type="http://schemas.openxmlformats.org/officeDocument/2006/relationships/notesSlide" Target="/ppt/notesSlides/notesSlide19.xml" Id="R77924cfe52e247d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0fcc18692b48ae" /><Relationship Type="http://schemas.openxmlformats.org/officeDocument/2006/relationships/notesSlide" Target="/ppt/notesSlides/notesSlide20.xml" Id="R51e40f17eddd466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单程长度</c:v>
          </c:tx>
          <c:spPr>
            <a:solidFill xmlns:a="http://schemas.openxmlformats.org/drawingml/2006/main">
              <a:srgbClr val="2863AC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8C9AAC"/>
              </a:solidFill>
            </c:spPr>
          </c:dPt>
          <c:dPt>
            <c:idx val="0"/>
            <c:invertIfNegative val="0"/>
            <c:spPr>
              <a:solidFill xmlns:a="http://schemas.openxmlformats.org/drawingml/2006/main">
                <a:srgbClr val="078F86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λ=2</c:v>
                </c:pt>
                <c:pt idx="1">
                  <c:v>λ=0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475.74</c:v>
                </c:pt>
                <c:pt idx="1">
                  <c:v>453.84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243A52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600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暴露积分</c:v>
          </c:tx>
          <c:spPr>
            <a:solidFill xmlns:a="http://schemas.openxmlformats.org/drawingml/2006/main">
              <a:srgbClr val="078F86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8C9AAC"/>
              </a:solidFill>
            </c:spPr>
          </c:dPt>
          <c:dPt>
            <c:idx val="0"/>
            <c:invertIfNegative val="0"/>
            <c:spPr>
              <a:solidFill xmlns:a="http://schemas.openxmlformats.org/drawingml/2006/main">
                <a:srgbClr val="078F86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λ=2</c:v>
                </c:pt>
                <c:pt idx="1">
                  <c:v>λ=0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59.97</c:v>
                </c:pt>
                <c:pt idx="1">
                  <c:v>94.48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243A52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20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评分权重</c:v>
          </c:tx>
          <c:spPr>
            <a:solidFill xmlns:a="http://schemas.openxmlformats.org/drawingml/2006/main">
              <a:srgbClr val="078F86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场站等待</c:v>
                </c:pt>
                <c:pt idx="1">
                  <c:v>总航程</c:v>
                </c:pt>
                <c:pt idx="2">
                  <c:v>配送时间</c:v>
                </c:pt>
                <c:pt idx="3">
                  <c:v>人员暴露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0.1</c:v>
                </c:pt>
                <c:pt idx="1">
                  <c:v>0.15</c:v>
                </c:pt>
                <c:pt idx="2">
                  <c:v>0.3</c:v>
                </c:pt>
                <c:pt idx="3">
                  <c:v>0.45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243A52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55"/>
          <c:min val="0"/>
        </c:scaling>
        <c:delete val="0"/>
        <c:axPos val="b"/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基线调度</c:v>
          </c:tx>
          <c:spPr>
            <a:solidFill xmlns:a="http://schemas.openxmlformats.org/drawingml/2006/main">
              <a:srgbClr val="8C9AAC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正常配送</c:v>
                </c:pt>
                <c:pt idx="1">
                  <c:v>高峰订单</c:v>
                </c:pt>
                <c:pt idx="2">
                  <c:v>局部关闭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9.2</c:v>
                </c:pt>
                <c:pt idx="1">
                  <c:v>27.2</c:v>
                </c:pt>
                <c:pt idx="2">
                  <c:v>9.4</c:v>
                </c:pt>
              </c:numCache>
            </c:numRef>
          </c:val>
        </c:ser>
        <c:ser>
          <c:idx val="1"/>
          <c:order val="1"/>
          <c:tx>
            <c:v>错峰调度</c:v>
          </c:tx>
          <c:spPr>
            <a:solidFill xmlns:a="http://schemas.openxmlformats.org/drawingml/2006/main">
              <a:srgbClr val="078F86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正常配送</c:v>
                </c:pt>
                <c:pt idx="1">
                  <c:v>高峰订单</c:v>
                </c:pt>
                <c:pt idx="2">
                  <c:v>局部关闭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243A52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3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1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65768A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路径暴露</c:v>
          </c:tx>
          <c:spPr>
            <a:solidFill xmlns:a="http://schemas.openxmlformats.org/drawingml/2006/main">
              <a:srgbClr val="078F86"/>
            </a:solidFill>
          </c:spPr>
          <c:invertIfNegative val="0"/>
          <c:dPt>
            <c:idx val="2"/>
            <c:invertIfNegative val="0"/>
            <c:spPr>
              <a:solidFill xmlns:a="http://schemas.openxmlformats.org/drawingml/2006/main">
                <a:srgbClr val="8C9AAC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863AC"/>
              </a:solidFill>
            </c:spPr>
          </c:dPt>
          <c:dPt>
            <c:idx val="0"/>
            <c:invertIfNegative val="0"/>
            <c:spPr>
              <a:solidFill xmlns:a="http://schemas.openxmlformats.org/drawingml/2006/main">
                <a:srgbClr val="078F86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综合风险</c:v>
                </c:pt>
                <c:pt idx="1">
                  <c:v>距离优先</c:v>
                </c:pt>
                <c:pt idx="2">
                  <c:v>固定布局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0.849</c:v>
                </c:pt>
                <c:pt idx="1">
                  <c:v>1.093</c:v>
                </c:pt>
                <c:pt idx="2">
                  <c:v>0.928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243A52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.5"/>
          <c:min val="0"/>
        </c:scaling>
        <c:delete val="0"/>
        <c:axPos val="b"/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配送时间</c:v>
          </c:tx>
          <c:spPr>
            <a:solidFill xmlns:a="http://schemas.openxmlformats.org/drawingml/2006/main">
              <a:srgbClr val="078F86"/>
            </a:solidFill>
          </c:spPr>
          <c:invertIfNegative val="0"/>
          <c:dPt>
            <c:idx val="2"/>
            <c:invertIfNegative val="0"/>
            <c:spPr>
              <a:solidFill xmlns:a="http://schemas.openxmlformats.org/drawingml/2006/main">
                <a:srgbClr val="8C9AAC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863AC"/>
              </a:solidFill>
            </c:spPr>
          </c:dPt>
          <c:dPt>
            <c:idx val="0"/>
            <c:invertIfNegative val="0"/>
            <c:spPr>
              <a:solidFill xmlns:a="http://schemas.openxmlformats.org/drawingml/2006/main">
                <a:srgbClr val="078F86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综合风险</c:v>
                </c:pt>
                <c:pt idx="1">
                  <c:v>距离优先</c:v>
                </c:pt>
                <c:pt idx="2">
                  <c:v>固定布局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137.15</c:v>
                </c:pt>
                <c:pt idx="1">
                  <c:v>123.71</c:v>
                </c:pt>
                <c:pt idx="2">
                  <c:v>166.12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243A52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10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三次运行中位数</c:v>
          </c:tx>
          <c:spPr>
            <a:solidFill xmlns:a="http://schemas.openxmlformats.org/drawingml/2006/main">
              <a:srgbClr val="078F86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30单</c:v>
                </c:pt>
                <c:pt idx="1">
                  <c:v>60单</c:v>
                </c:pt>
                <c:pt idx="2">
                  <c:v>120单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3.41</c:v>
                </c:pt>
                <c:pt idx="1">
                  <c:v>4.09</c:v>
                </c:pt>
                <c:pt idx="2">
                  <c:v>5.17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243A52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DF1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62A2E4-FC6C-40B4-89C8-E69FC4818E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181fd6f80a456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中国仿真创新应用大赛">
            <a:extLst xmlns:a="http://schemas.openxmlformats.org/drawingml/2006/main">
              <a:ext uri="{FF2B5EF4-FFF2-40B4-BE49-F238E27FC236}">
                <a16:creationId xmlns:a16="http://schemas.microsoft.com/office/drawing/2014/main" id="{FB25817D-B4E2-44CF-9E80-B9BE6FB2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3820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中国仿真创新应用大赛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B55E7-1AFE-48A7-BE4F-A3019291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52575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02A56"/>
            </a:solidFill>
            <a:prstDash val="solid"/>
          </a:ln>
        </p:spPr>
      </p:sp>
      <p:sp>
        <p:nvSpPr>
          <p:cNvPr id="4" name="园区低空配送">
            <a:extLst xmlns:a="http://schemas.openxmlformats.org/drawingml/2006/main">
              <a:ext uri="{FF2B5EF4-FFF2-40B4-BE49-F238E27FC236}">
                <a16:creationId xmlns:a16="http://schemas.microsoft.com/office/drawing/2014/main" id="{1634D5B9-EB96-4C83-91AD-28D3FDE9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7334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57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园区低空配送</a:t>
            </a:r>
          </a:p>
        </p:txBody>
      </p:sp>
      <p:sp>
        <p:nvSpPr>
          <p:cNvPr id="5" name="风险仿真与">
            <a:extLst xmlns:a="http://schemas.openxmlformats.org/drawingml/2006/main">
              <a:ext uri="{FF2B5EF4-FFF2-40B4-BE49-F238E27FC236}">
                <a16:creationId xmlns:a16="http://schemas.microsoft.com/office/drawing/2014/main" id="{E8C9B745-C7E4-4507-80FE-FE8A54BD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7239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57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风险仿真与</a:t>
            </a:r>
          </a:p>
        </p:txBody>
      </p:sp>
      <p:sp>
        <p:nvSpPr>
          <p:cNvPr id="6" name="起降场选址">
            <a:extLst xmlns:a="http://schemas.openxmlformats.org/drawingml/2006/main">
              <a:ext uri="{FF2B5EF4-FFF2-40B4-BE49-F238E27FC236}">
                <a16:creationId xmlns:a16="http://schemas.microsoft.com/office/drawing/2014/main" id="{1584FB96-BD49-491A-988F-532049F8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7239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57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起降场选址</a:t>
            </a:r>
          </a:p>
        </p:txBody>
      </p:sp>
      <p:sp>
        <p:nvSpPr>
          <p:cNvPr id="7" name="面向园区末端配送的低空风险仿真与起降场选址系统">
            <a:extLst xmlns:a="http://schemas.openxmlformats.org/drawingml/2006/main">
              <a:ext uri="{FF2B5EF4-FFF2-40B4-BE49-F238E27FC236}">
                <a16:creationId xmlns:a16="http://schemas.microsoft.com/office/drawing/2014/main" id="{C18E5F7B-41B1-49EB-B0CC-52202E4B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86425"/>
            <a:ext cx="6286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面向园区末端配送的低空风险仿真与起降场选址系统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88893C-2A29-4634-A5B6-FF9D6994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096125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02A56"/>
            </a:solidFill>
            <a:prstDash val="solid"/>
          </a:ln>
        </p:spPr>
      </p:sp>
      <p:sp>
        <p:nvSpPr>
          <p:cNvPr id="9" name="项目答辩  /  2026">
            <a:extLst xmlns:a="http://schemas.openxmlformats.org/drawingml/2006/main">
              <a:ext uri="{FF2B5EF4-FFF2-40B4-BE49-F238E27FC236}">
                <a16:creationId xmlns:a16="http://schemas.microsoft.com/office/drawing/2014/main" id="{E7EC9F0E-A9FA-41E2-A229-AE37C407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37235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项目答辩  /  2026</a:t>
            </a:r>
          </a:p>
        </p:txBody>
      </p:sp>
      <p:sp>
        <p:nvSpPr>
          <p:cNvPr id="10" name="园区场景示意">
            <a:extLst xmlns:a="http://schemas.openxmlformats.org/drawingml/2006/main">
              <a:ext uri="{FF2B5EF4-FFF2-40B4-BE49-F238E27FC236}">
                <a16:creationId xmlns:a16="http://schemas.microsoft.com/office/drawing/2014/main" id="{6D7A429B-9CBF-4F46-8595-6473FFD4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067675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1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园区场景示意</a:t>
            </a:r>
          </a:p>
        </p:txBody>
      </p:sp>
    </p:spTree>
    <p:extLst>
      <p:ext uri="{BB962C8B-B14F-4D97-AF65-F5344CB8AC3E}">
        <p14:creationId xmlns:p14="http://schemas.microsoft.com/office/powerpoint/2010/main" val="5483150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园区配送中的空间与运行约束">
            <a:extLst xmlns:a="http://schemas.openxmlformats.org/drawingml/2006/main">
              <a:ext uri="{FF2B5EF4-FFF2-40B4-BE49-F238E27FC236}">
                <a16:creationId xmlns:a16="http://schemas.microsoft.com/office/drawing/2014/main" id="{A9ADBAC3-5F63-4F0B-9267-A3E6BB70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园区配送中的空间与运行约束</a:t>
            </a:r>
          </a:p>
        </p:txBody>
      </p:sp>
      <p:sp>
        <p:nvSpPr>
          <p:cNvPr id="2" name="规划需要同时回答在哪里起降、沿哪里飞行、何时安排出发">
            <a:extLst xmlns:a="http://schemas.openxmlformats.org/drawingml/2006/main">
              <a:ext uri="{FF2B5EF4-FFF2-40B4-BE49-F238E27FC236}">
                <a16:creationId xmlns:a16="http://schemas.microsoft.com/office/drawing/2014/main" id="{6F03E105-1EEB-4543-A6E0-F3E34D3D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333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规划需要同时回答在哪里起降、沿哪里飞行、何时安排出发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E3FDD-D618-4F75-81EE-D9BE3CB1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4" name="场景插画用于说明问题，定量实验采用自建模拟园区">
            <a:extLst xmlns:a="http://schemas.openxmlformats.org/drawingml/2006/main">
              <a:ext uri="{FF2B5EF4-FFF2-40B4-BE49-F238E27FC236}">
                <a16:creationId xmlns:a16="http://schemas.microsoft.com/office/drawing/2014/main" id="{7E849264-84E4-4D9C-87EE-A72182B7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391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场景插画用于说明问题，定量实验采用自建模拟园区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90CAC2F9-E292-4813-B7C5-13239728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D3742D-A63A-4907-A41A-A6C36282D0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2868a1ab546e2"/>
          <a:srcRect xmlns:a="http://schemas.openxmlformats.org/drawingml/2006/main" l="0" t="11334" r="0" b="113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2000250"/>
            <a:ext cx="6858000" cy="5429250"/>
          </a:xfrm>
          <a:prstGeom xmlns:a="http://schemas.openxmlformats.org/drawingml/2006/main" prst="rect">
            <a:avLst/>
          </a:prstGeom>
        </p:spPr>
      </p:pic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E5B3F207-41ED-4F53-9ADE-50DB8B85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66925"/>
            <a:ext cx="590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建筑通行">
            <a:extLst xmlns:a="http://schemas.openxmlformats.org/drawingml/2006/main">
              <a:ext uri="{FF2B5EF4-FFF2-40B4-BE49-F238E27FC236}">
                <a16:creationId xmlns:a16="http://schemas.microsoft.com/office/drawing/2014/main" id="{81CAB979-151C-4B1C-A85C-F665B08B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124075"/>
            <a:ext cx="520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建筑通行</a:t>
            </a:r>
          </a:p>
        </p:txBody>
      </p:sp>
      <p:sp>
        <p:nvSpPr>
          <p:cNvPr id="9" name="建筑高度与巡航高度共同决定&#10;当前飞行平面能否通过。">
            <a:extLst xmlns:a="http://schemas.openxmlformats.org/drawingml/2006/main">
              <a:ext uri="{FF2B5EF4-FFF2-40B4-BE49-F238E27FC236}">
                <a16:creationId xmlns:a16="http://schemas.microsoft.com/office/drawing/2014/main" id="{C736FEE2-1137-4DEB-8F0E-54C9C06D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638425"/>
            <a:ext cx="5200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建筑高度与巡航高度共同决定</a:t>
            </a:r>
          </a:p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当前飞行平面能否通过。</a:t>
            </a:r>
          </a:p>
        </p:txBody>
      </p: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2ADF42E4-9BB0-44AB-9FBB-73DD1650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67150"/>
            <a:ext cx="590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地面人员暴露">
            <a:extLst xmlns:a="http://schemas.openxmlformats.org/drawingml/2006/main">
              <a:ext uri="{FF2B5EF4-FFF2-40B4-BE49-F238E27FC236}">
                <a16:creationId xmlns:a16="http://schemas.microsoft.com/office/drawing/2014/main" id="{0B58700F-4373-44C6-861B-91E2735E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924300"/>
            <a:ext cx="520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地面人员暴露</a:t>
            </a:r>
          </a:p>
        </p:txBody>
      </p:sp>
      <p:sp>
        <p:nvSpPr>
          <p:cNvPr id="12" name="相近航程可能经过不同的人群区，&#10;需要比较路径暴露。">
            <a:extLst xmlns:a="http://schemas.openxmlformats.org/drawingml/2006/main">
              <a:ext uri="{FF2B5EF4-FFF2-40B4-BE49-F238E27FC236}">
                <a16:creationId xmlns:a16="http://schemas.microsoft.com/office/drawing/2014/main" id="{2E9D0C21-BA30-4CEF-84AA-38E70333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438650"/>
            <a:ext cx="5200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相近航程可能经过不同的人群区，</a:t>
            </a:r>
          </a:p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需要比较路径暴露。</a:t>
            </a:r>
          </a:p>
        </p:txBody>
      </p:sp>
      <p:sp>
        <p:nvSpPr>
          <p:cNvPr id="13" name="03">
            <a:extLst xmlns:a="http://schemas.openxmlformats.org/drawingml/2006/main">
              <a:ext uri="{FF2B5EF4-FFF2-40B4-BE49-F238E27FC236}">
                <a16:creationId xmlns:a16="http://schemas.microsoft.com/office/drawing/2014/main" id="{A04DABA8-B79C-4FD1-838E-870DEB45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667375"/>
            <a:ext cx="590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多机与场站竞争">
            <a:extLst xmlns:a="http://schemas.openxmlformats.org/drawingml/2006/main">
              <a:ext uri="{FF2B5EF4-FFF2-40B4-BE49-F238E27FC236}">
                <a16:creationId xmlns:a16="http://schemas.microsoft.com/office/drawing/2014/main" id="{DBF8B58A-A167-42A5-A331-D633DC67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724525"/>
            <a:ext cx="520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多机与场站竞争</a:t>
            </a:r>
          </a:p>
        </p:txBody>
      </p:sp>
      <p:sp>
        <p:nvSpPr>
          <p:cNvPr id="15" name="共享起降服务位与交叉航线&#10;会产生排队和间距不足。">
            <a:extLst xmlns:a="http://schemas.openxmlformats.org/drawingml/2006/main">
              <a:ext uri="{FF2B5EF4-FFF2-40B4-BE49-F238E27FC236}">
                <a16:creationId xmlns:a16="http://schemas.microsoft.com/office/drawing/2014/main" id="{9B777DED-E699-4A6F-839A-0FECB966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6238875"/>
            <a:ext cx="5200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共享起降服务位与交叉航线</a:t>
            </a:r>
          </a:p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会产生排队和间距不足。</a:t>
            </a:r>
          </a:p>
        </p:txBody>
      </p:sp>
    </p:spTree>
    <p:extLst>
      <p:ext uri="{BB962C8B-B14F-4D97-AF65-F5344CB8AC3E}">
        <p14:creationId xmlns:p14="http://schemas.microsoft.com/office/powerpoint/2010/main" val="5891129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项目亮点：可编辑输入与可复核的运行决策">
            <a:extLst xmlns:a="http://schemas.openxmlformats.org/drawingml/2006/main">
              <a:ext uri="{FF2B5EF4-FFF2-40B4-BE49-F238E27FC236}">
                <a16:creationId xmlns:a16="http://schemas.microsoft.com/office/drawing/2014/main" id="{5077124C-639E-4E62-A494-206C92BF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项目亮点：可编辑输入与可复核的运行决策</a:t>
            </a:r>
          </a:p>
        </p:txBody>
      </p:sp>
      <p:sp>
        <p:nvSpPr>
          <p:cNvPr id="2" name="工作重点是园区应用流程的实现与验证">
            <a:extLst xmlns:a="http://schemas.openxmlformats.org/drawingml/2006/main">
              <a:ext uri="{FF2B5EF4-FFF2-40B4-BE49-F238E27FC236}">
                <a16:creationId xmlns:a16="http://schemas.microsoft.com/office/drawing/2014/main" id="{9D4AD3C8-38F0-4C0D-9247-65AC3AB6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333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工作重点是园区应用流程的实现与验证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7A2E68-E171-4E7C-95FC-8FFA852C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4" name="A*、组合枚举与预约调度采用已有方法，贡献定位为应用与工">
            <a:extLst xmlns:a="http://schemas.openxmlformats.org/drawingml/2006/main">
              <a:ext uri="{FF2B5EF4-FFF2-40B4-BE49-F238E27FC236}">
                <a16:creationId xmlns:a16="http://schemas.microsoft.com/office/drawing/2014/main" id="{B966BE25-DEFC-4E62-8592-015B72D2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391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A*、组合枚举与预约调度采用已有方法，贡献定位为应用与工程整合</a:t>
            </a:r>
          </a:p>
        </p:txBody>
      </p:sp>
      <p:sp>
        <p:nvSpPr>
          <p:cNvPr id="5" name="03">
            <a:extLst xmlns:a="http://schemas.openxmlformats.org/drawingml/2006/main">
              <a:ext uri="{FF2B5EF4-FFF2-40B4-BE49-F238E27FC236}">
                <a16:creationId xmlns:a16="http://schemas.microsoft.com/office/drawing/2014/main" id="{A5602CF3-F529-419D-BAF9-2639290D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62E3196E-FD4B-466F-A39C-E5FB764D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9048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地图直接参与计算">
            <a:extLst xmlns:a="http://schemas.openxmlformats.org/drawingml/2006/main">
              <a:ext uri="{FF2B5EF4-FFF2-40B4-BE49-F238E27FC236}">
                <a16:creationId xmlns:a16="http://schemas.microsoft.com/office/drawing/2014/main" id="{015B2A6D-9D8C-4E0E-A1CC-A9872153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71700"/>
            <a:ext cx="4572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地图直接参与计算</a:t>
            </a:r>
          </a:p>
        </p:txBody>
      </p:sp>
      <p:sp>
        <p:nvSpPr>
          <p:cNvPr id="8" name="建筑位置、轮廓与手动楼高共同决定可通行区域。">
            <a:extLst xmlns:a="http://schemas.openxmlformats.org/drawingml/2006/main">
              <a:ext uri="{FF2B5EF4-FFF2-40B4-BE49-F238E27FC236}">
                <a16:creationId xmlns:a16="http://schemas.microsoft.com/office/drawing/2014/main" id="{F2959EE6-0481-463A-BF81-99299EF5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09800"/>
            <a:ext cx="7086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建筑位置、轮廓与手动楼高共同决定可通行区域。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19C44C-194F-4D67-9868-19CA0B60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19450"/>
            <a:ext cx="1238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6BFB53C5-147D-4733-9ED2-0D3F3D38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95675"/>
            <a:ext cx="9048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场站与运行方案衔接">
            <a:extLst xmlns:a="http://schemas.openxmlformats.org/drawingml/2006/main">
              <a:ext uri="{FF2B5EF4-FFF2-40B4-BE49-F238E27FC236}">
                <a16:creationId xmlns:a16="http://schemas.microsoft.com/office/drawing/2014/main" id="{B65F9AF1-8FED-4474-8355-AC5D8169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24250"/>
            <a:ext cx="4572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场站与运行方案衔接</a:t>
            </a:r>
          </a:p>
        </p:txBody>
      </p:sp>
      <p:sp>
        <p:nvSpPr>
          <p:cNvPr id="12" name="布局确定后预约资源，按完整航迹检查多机间距。">
            <a:extLst xmlns:a="http://schemas.openxmlformats.org/drawingml/2006/main">
              <a:ext uri="{FF2B5EF4-FFF2-40B4-BE49-F238E27FC236}">
                <a16:creationId xmlns:a16="http://schemas.microsoft.com/office/drawing/2014/main" id="{97E9B7E0-732B-47CC-92EE-3210842F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62350"/>
            <a:ext cx="7086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布局确定后预约资源，按完整航迹检查多机间距。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404FE9-7826-4A1D-9765-998F2AE4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72000"/>
            <a:ext cx="1238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14" name="03">
            <a:extLst xmlns:a="http://schemas.openxmlformats.org/drawingml/2006/main">
              <a:ext uri="{FF2B5EF4-FFF2-40B4-BE49-F238E27FC236}">
                <a16:creationId xmlns:a16="http://schemas.microsoft.com/office/drawing/2014/main" id="{361EB0F5-BF21-44EB-A777-0FC54D1E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48225"/>
            <a:ext cx="9048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对照实验保留相同输入">
            <a:extLst xmlns:a="http://schemas.openxmlformats.org/drawingml/2006/main">
              <a:ext uri="{FF2B5EF4-FFF2-40B4-BE49-F238E27FC236}">
                <a16:creationId xmlns:a16="http://schemas.microsoft.com/office/drawing/2014/main" id="{6022E5A8-9C5A-4562-9E7F-9948848A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76800"/>
            <a:ext cx="4572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对照实验保留相同输入</a:t>
            </a:r>
          </a:p>
        </p:txBody>
      </p:sp>
      <p:sp>
        <p:nvSpPr>
          <p:cNvPr id="16" name="设计与评价订单分开；比较调度时冻结场站与航路。">
            <a:extLst xmlns:a="http://schemas.openxmlformats.org/drawingml/2006/main">
              <a:ext uri="{FF2B5EF4-FFF2-40B4-BE49-F238E27FC236}">
                <a16:creationId xmlns:a16="http://schemas.microsoft.com/office/drawing/2014/main" id="{DB032CCD-9CC8-47A0-8E70-67FF35F3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14900"/>
            <a:ext cx="7086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设计与评价订单分开；比较调度时冻结场站与航路。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405281-DB71-4C27-A423-44A550B3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924550"/>
            <a:ext cx="1238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18" name="04">
            <a:extLst xmlns:a="http://schemas.openxmlformats.org/drawingml/2006/main">
              <a:ext uri="{FF2B5EF4-FFF2-40B4-BE49-F238E27FC236}">
                <a16:creationId xmlns:a16="http://schemas.microsoft.com/office/drawing/2014/main" id="{9E31327B-DAF9-4314-90FE-4B9A7A47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00775"/>
            <a:ext cx="9048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结果能够追溯到订单">
            <a:extLst xmlns:a="http://schemas.openxmlformats.org/drawingml/2006/main">
              <a:ext uri="{FF2B5EF4-FFF2-40B4-BE49-F238E27FC236}">
                <a16:creationId xmlns:a16="http://schemas.microsoft.com/office/drawing/2014/main" id="{AB51C7AA-0B2F-4C23-8647-00AFECDC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229350"/>
            <a:ext cx="4572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结果能够追溯到订单</a:t>
            </a:r>
          </a:p>
        </p:txBody>
      </p:sp>
      <p:sp>
        <p:nvSpPr>
          <p:cNvPr id="20" name="保存场景、航路、任务时间与失败原因，支持逐单复查。">
            <a:extLst xmlns:a="http://schemas.openxmlformats.org/drawingml/2006/main">
              <a:ext uri="{FF2B5EF4-FFF2-40B4-BE49-F238E27FC236}">
                <a16:creationId xmlns:a16="http://schemas.microsoft.com/office/drawing/2014/main" id="{097DF7CE-C6B2-4390-A9A7-024440BD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267450"/>
            <a:ext cx="7086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保存场景、航路、任务时间与失败原因，支持逐单复查。</a:t>
            </a:r>
          </a:p>
        </p:txBody>
      </p:sp>
    </p:spTree>
    <p:extLst>
      <p:ext uri="{BB962C8B-B14F-4D97-AF65-F5344CB8AC3E}">
        <p14:creationId xmlns:p14="http://schemas.microsoft.com/office/powerpoint/2010/main" val="4912018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图片地图的完整操作案例">
            <a:extLst xmlns:a="http://schemas.openxmlformats.org/drawingml/2006/main">
              <a:ext uri="{FF2B5EF4-FFF2-40B4-BE49-F238E27FC236}">
                <a16:creationId xmlns:a16="http://schemas.microsoft.com/office/drawing/2014/main" id="{41A78AB8-5DBE-4A36-8179-157FADA6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图片地图的完整操作案例</a:t>
            </a:r>
          </a:p>
        </p:txBody>
      </p:sp>
      <p:sp>
        <p:nvSpPr>
          <p:cNvPr id="2" name="同一张模拟园区图完成导入、编辑、计算、回放与结果导出">
            <a:extLst xmlns:a="http://schemas.openxmlformats.org/drawingml/2006/main">
              <a:ext uri="{FF2B5EF4-FFF2-40B4-BE49-F238E27FC236}">
                <a16:creationId xmlns:a16="http://schemas.microsoft.com/office/drawing/2014/main" id="{DD1F9B57-7195-4B47-87AA-5B09D42D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333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同一张模拟园区图完成导入、编辑、计算、回放与结果导出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83189-F065-45C4-BD4D-4C6CD8D9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4" name="本页为图片地图的单次案例，与后续标准园区的批量实验分别统">
            <a:extLst xmlns:a="http://schemas.openxmlformats.org/drawingml/2006/main">
              <a:ext uri="{FF2B5EF4-FFF2-40B4-BE49-F238E27FC236}">
                <a16:creationId xmlns:a16="http://schemas.microsoft.com/office/drawing/2014/main" id="{356B4555-5DDF-46FA-8202-A8472D7D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391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本页为图片地图的单次案例，与后续标准园区的批量实验分别统计</a:t>
            </a:r>
          </a:p>
        </p:txBody>
      </p:sp>
      <p:sp>
        <p:nvSpPr>
          <p:cNvPr id="5" name="04">
            <a:extLst xmlns:a="http://schemas.openxmlformats.org/drawingml/2006/main">
              <a:ext uri="{FF2B5EF4-FFF2-40B4-BE49-F238E27FC236}">
                <a16:creationId xmlns:a16="http://schemas.microsoft.com/office/drawing/2014/main" id="{B2968B0D-B443-41E7-A029-B73CC9B6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C63D00B6-7BA9-452C-9FAD-1E0373D0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590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导入与定标">
            <a:extLst xmlns:a="http://schemas.openxmlformats.org/drawingml/2006/main">
              <a:ext uri="{FF2B5EF4-FFF2-40B4-BE49-F238E27FC236}">
                <a16:creationId xmlns:a16="http://schemas.microsoft.com/office/drawing/2014/main" id="{FA67DB37-B989-4B97-8822-B07D901C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05025"/>
            <a:ext cx="3819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导入与定标</a:t>
            </a:r>
          </a:p>
        </p:txBody>
      </p:sp>
      <p:sp>
        <p:nvSpPr>
          <p:cNvPr id="8" name="导入园区图，&#10;将实际宽度设为960 m。">
            <a:extLst xmlns:a="http://schemas.openxmlformats.org/drawingml/2006/main">
              <a:ext uri="{FF2B5EF4-FFF2-40B4-BE49-F238E27FC236}">
                <a16:creationId xmlns:a16="http://schemas.microsoft.com/office/drawing/2014/main" id="{14127E8A-0A71-4D4E-B8DF-A898B855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19375"/>
            <a:ext cx="38195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导入园区图，</a:t>
            </a:r>
          </a:p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将实际宽度设为960 m。</a:t>
            </a:r>
          </a:p>
        </p:txBody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08F00A70-7E68-436B-8A1D-C5ABACA4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590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补高与改图">
            <a:extLst xmlns:a="http://schemas.openxmlformats.org/drawingml/2006/main">
              <a:ext uri="{FF2B5EF4-FFF2-40B4-BE49-F238E27FC236}">
                <a16:creationId xmlns:a16="http://schemas.microsoft.com/office/drawing/2014/main" id="{CF9DF343-123C-4B08-814B-6A7F5954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86150"/>
            <a:ext cx="3819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补高与改图</a:t>
            </a:r>
          </a:p>
        </p:txBody>
      </p:sp>
      <p:sp>
        <p:nvSpPr>
          <p:cNvPr id="11" name="手动填写楼高、修正B1，&#10;拖动场站并保存地图。">
            <a:extLst xmlns:a="http://schemas.openxmlformats.org/drawingml/2006/main">
              <a:ext uri="{FF2B5EF4-FFF2-40B4-BE49-F238E27FC236}">
                <a16:creationId xmlns:a16="http://schemas.microsoft.com/office/drawing/2014/main" id="{C1821CF2-45A1-4969-9591-8B388F11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00500"/>
            <a:ext cx="38195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手动填写楼高、修正B1，</a:t>
            </a:r>
          </a:p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拖动场站并保存地图。</a:t>
            </a:r>
          </a:p>
        </p:txBody>
      </p:sp>
      <p:sp>
        <p:nvSpPr>
          <p:cNvPr id="12" name="03">
            <a:extLst xmlns:a="http://schemas.openxmlformats.org/drawingml/2006/main">
              <a:ext uri="{FF2B5EF4-FFF2-40B4-BE49-F238E27FC236}">
                <a16:creationId xmlns:a16="http://schemas.microsoft.com/office/drawing/2014/main" id="{C5BE99B5-4E6B-4C7C-8B45-B2BC5195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590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计算与回放">
            <a:extLst xmlns:a="http://schemas.openxmlformats.org/drawingml/2006/main">
              <a:ext uri="{FF2B5EF4-FFF2-40B4-BE49-F238E27FC236}">
                <a16:creationId xmlns:a16="http://schemas.microsoft.com/office/drawing/2014/main" id="{B48C4166-F1E1-4D1A-98F9-DAD49667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67275"/>
            <a:ext cx="3819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计算与回放</a:t>
            </a:r>
          </a:p>
        </p:txBody>
      </p:sp>
      <p:sp>
        <p:nvSpPr>
          <p:cNvPr id="14" name="6个候选位置，评价15组，&#10;选中S5+S6并回放航迹。">
            <a:extLst xmlns:a="http://schemas.openxmlformats.org/drawingml/2006/main">
              <a:ext uri="{FF2B5EF4-FFF2-40B4-BE49-F238E27FC236}">
                <a16:creationId xmlns:a16="http://schemas.microsoft.com/office/drawing/2014/main" id="{41E38FE0-C0AA-43D2-B3DA-CFBC7D52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381625"/>
            <a:ext cx="38195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6个候选位置，评价15组，</a:t>
            </a:r>
          </a:p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选中S5+S6并回放航迹。</a:t>
            </a:r>
          </a:p>
        </p:txBody>
      </p:sp>
      <p:sp>
        <p:nvSpPr>
          <p:cNvPr id="15" name="04">
            <a:extLst xmlns:a="http://schemas.openxmlformats.org/drawingml/2006/main">
              <a:ext uri="{FF2B5EF4-FFF2-40B4-BE49-F238E27FC236}">
                <a16:creationId xmlns:a16="http://schemas.microsoft.com/office/drawing/2014/main" id="{7471D68A-AFB8-48E8-BA49-353DB0B7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590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导出与核对">
            <a:extLst xmlns:a="http://schemas.openxmlformats.org/drawingml/2006/main">
              <a:ext uri="{FF2B5EF4-FFF2-40B4-BE49-F238E27FC236}">
                <a16:creationId xmlns:a16="http://schemas.microsoft.com/office/drawing/2014/main" id="{11B5A11D-714B-4CD0-9AE0-D1DB0E88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248400"/>
            <a:ext cx="3819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导出与核对</a:t>
            </a:r>
          </a:p>
        </p:txBody>
      </p:sp>
      <p:sp>
        <p:nvSpPr>
          <p:cNvPr id="17" name="保存JSON、CSV及SVG，&#10;核对同一批订单记录。">
            <a:extLst xmlns:a="http://schemas.openxmlformats.org/drawingml/2006/main">
              <a:ext uri="{FF2B5EF4-FFF2-40B4-BE49-F238E27FC236}">
                <a16:creationId xmlns:a16="http://schemas.microsoft.com/office/drawing/2014/main" id="{2936D8CE-4373-4862-8AF7-26EFFC36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762750"/>
            <a:ext cx="38195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保存JSON、CSV及SVG，</a:t>
            </a:r>
          </a:p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核对同一批订单记录。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36B470-66ED-4CD7-9E40-AE65A7515B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d248850df465a"/>
          <a:stretch xmlns:a="http://schemas.openxmlformats.org/drawingml/2006/main"/>
        </p:blipFill>
        <p:spPr>
          <a:xfrm xmlns:a="http://schemas.openxmlformats.org/drawingml/2006/main">
            <a:off x="5857875" y="2137122"/>
            <a:ext cx="8620125" cy="524123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4302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建筑轮廓可编辑，楼高由用户填写">
            <a:extLst xmlns:a="http://schemas.openxmlformats.org/drawingml/2006/main">
              <a:ext uri="{FF2B5EF4-FFF2-40B4-BE49-F238E27FC236}">
                <a16:creationId xmlns:a16="http://schemas.microsoft.com/office/drawing/2014/main" id="{B362A61F-E6C1-4AA9-9751-1B425EA3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建筑轮廓可编辑，楼高由用户填写</a:t>
            </a:r>
          </a:p>
        </p:txBody>
      </p:sp>
      <p:sp>
        <p:nvSpPr>
          <p:cNvPr id="2" name="图片只生成建筑候选，人工校核后才进入仿真">
            <a:extLst xmlns:a="http://schemas.openxmlformats.org/drawingml/2006/main">
              <a:ext uri="{FF2B5EF4-FFF2-40B4-BE49-F238E27FC236}">
                <a16:creationId xmlns:a16="http://schemas.microsoft.com/office/drawing/2014/main" id="{BD4CB2EB-25F8-4CBB-A152-3EC96D52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333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图片只生成建筑候选，人工校核后才进入仿真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661D4-2A42-4003-984B-34826203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4" name="软件实际截图。识别候选需要人工核查，楼高不由图片推断">
            <a:extLst xmlns:a="http://schemas.openxmlformats.org/drawingml/2006/main">
              <a:ext uri="{FF2B5EF4-FFF2-40B4-BE49-F238E27FC236}">
                <a16:creationId xmlns:a16="http://schemas.microsoft.com/office/drawing/2014/main" id="{D98349F3-A81D-4CCF-A635-85580B29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391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软件实际截图。识别候选需要人工核查，楼高不由图片推断</a:t>
            </a:r>
          </a:p>
        </p:txBody>
      </p:sp>
      <p:sp>
        <p:nvSpPr>
          <p:cNvPr id="5" name="04">
            <a:extLst xmlns:a="http://schemas.openxmlformats.org/drawingml/2006/main">
              <a:ext uri="{FF2B5EF4-FFF2-40B4-BE49-F238E27FC236}">
                <a16:creationId xmlns:a16="http://schemas.microsoft.com/office/drawing/2014/main" id="{334EF42F-B663-4841-B4A5-2E766B63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A94AAD-5DD1-4553-90FD-453FC04FB9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56e8413409466e"/>
          <a:stretch xmlns:a="http://schemas.openxmlformats.org/drawingml/2006/main"/>
        </p:blipFill>
        <p:spPr>
          <a:xfrm xmlns:a="http://schemas.openxmlformats.org/drawingml/2006/main">
            <a:off x="803661" y="1866900"/>
            <a:ext cx="9555978" cy="5810250"/>
          </a:xfrm>
          <a:prstGeom xmlns:a="http://schemas.openxmlformats.org/drawingml/2006/main" prst="rect">
            <a:avLst/>
          </a:prstGeom>
        </p:spPr>
      </p:pic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3CB258D4-07BD-474F-A2D2-E5DF2662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114550"/>
            <a:ext cx="590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确认尺度">
            <a:extLst xmlns:a="http://schemas.openxmlformats.org/drawingml/2006/main">
              <a:ext uri="{FF2B5EF4-FFF2-40B4-BE49-F238E27FC236}">
                <a16:creationId xmlns:a16="http://schemas.microsoft.com/office/drawing/2014/main" id="{9C3B0F16-FAD7-4421-9DEE-C7BA2712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17170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确认尺度</a:t>
            </a:r>
          </a:p>
        </p:txBody>
      </p:sp>
      <p:sp>
        <p:nvSpPr>
          <p:cNvPr id="9" name="整图宽度或两点定标，&#10;将像素转换为米制坐标。">
            <a:extLst xmlns:a="http://schemas.openxmlformats.org/drawingml/2006/main">
              <a:ext uri="{FF2B5EF4-FFF2-40B4-BE49-F238E27FC236}">
                <a16:creationId xmlns:a16="http://schemas.microsoft.com/office/drawing/2014/main" id="{E868A965-10EF-4A01-8875-69A81340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686050"/>
            <a:ext cx="2819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整图宽度或两点定标，</a:t>
            </a:r>
          </a:p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将像素转换为米制坐标。</a:t>
            </a:r>
          </a:p>
        </p:txBody>
      </p: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8BC79488-0BED-47DD-85FC-52CDEAC6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914775"/>
            <a:ext cx="590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填写楼高">
            <a:extLst xmlns:a="http://schemas.openxmlformats.org/drawingml/2006/main">
              <a:ext uri="{FF2B5EF4-FFF2-40B4-BE49-F238E27FC236}">
                <a16:creationId xmlns:a16="http://schemas.microsoft.com/office/drawing/2014/main" id="{6FBF7603-218F-43C1-BC7E-CAA3F1A8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971925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填写楼高</a:t>
            </a:r>
          </a:p>
        </p:txBody>
      </p:sp>
      <p:sp>
        <p:nvSpPr>
          <p:cNvPr id="12" name="逐栋或批量输入高度，&#10;缺少属性时提示补全。">
            <a:extLst xmlns:a="http://schemas.openxmlformats.org/drawingml/2006/main">
              <a:ext uri="{FF2B5EF4-FFF2-40B4-BE49-F238E27FC236}">
                <a16:creationId xmlns:a16="http://schemas.microsoft.com/office/drawing/2014/main" id="{82AD6EAC-5B13-404B-9646-FD52377E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4486275"/>
            <a:ext cx="2819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逐栋或批量输入高度，</a:t>
            </a:r>
          </a:p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缺少属性时提示补全。</a:t>
            </a:r>
          </a:p>
        </p:txBody>
      </p:sp>
      <p:sp>
        <p:nvSpPr>
          <p:cNvPr id="13" name="03">
            <a:extLst xmlns:a="http://schemas.openxmlformats.org/drawingml/2006/main">
              <a:ext uri="{FF2B5EF4-FFF2-40B4-BE49-F238E27FC236}">
                <a16:creationId xmlns:a16="http://schemas.microsoft.com/office/drawing/2014/main" id="{6AA319B0-7F10-4B4B-BB3A-F7B6F970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715000"/>
            <a:ext cx="590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调整组件">
            <a:extLst xmlns:a="http://schemas.openxmlformats.org/drawingml/2006/main">
              <a:ext uri="{FF2B5EF4-FFF2-40B4-BE49-F238E27FC236}">
                <a16:creationId xmlns:a16="http://schemas.microsoft.com/office/drawing/2014/main" id="{8E5EEEFB-7FFF-434B-8FAC-9ECEE683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577215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调整组件</a:t>
            </a:r>
          </a:p>
        </p:txBody>
      </p:sp>
      <p:sp>
        <p:nvSpPr>
          <p:cNvPr id="15" name="增删、拖动与调整尺寸，&#10;支持撤销、重做及保存。">
            <a:extLst xmlns:a="http://schemas.openxmlformats.org/drawingml/2006/main">
              <a:ext uri="{FF2B5EF4-FFF2-40B4-BE49-F238E27FC236}">
                <a16:creationId xmlns:a16="http://schemas.microsoft.com/office/drawing/2014/main" id="{5B93FBE0-35BF-46D6-89C0-ACD7299E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286500"/>
            <a:ext cx="2819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增删、拖动与调整尺寸，</a:t>
            </a:r>
          </a:p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支持撤销、重做及保存。</a:t>
            </a:r>
          </a:p>
        </p:txBody>
      </p:sp>
    </p:spTree>
    <p:extLst>
      <p:ext uri="{BB962C8B-B14F-4D97-AF65-F5344CB8AC3E}">
        <p14:creationId xmlns:p14="http://schemas.microsoft.com/office/powerpoint/2010/main" val="9425099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同一地图修改楼高后，航路随之改变">
            <a:extLst xmlns:a="http://schemas.openxmlformats.org/drawingml/2006/main">
              <a:ext uri="{FF2B5EF4-FFF2-40B4-BE49-F238E27FC236}">
                <a16:creationId xmlns:a16="http://schemas.microsoft.com/office/drawing/2014/main" id="{2E102C5D-0032-4041-81BD-8F39A101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同一地图修改楼高后，航路随之改变</a:t>
            </a:r>
          </a:p>
        </p:txBody>
      </p:sp>
      <p:sp>
        <p:nvSpPr>
          <p:cNvPr id="2" name="标准园区中，仅将B1楼高从32 m改为52 m，再保存、">
            <a:extLst xmlns:a="http://schemas.openxmlformats.org/drawingml/2006/main">
              <a:ext uri="{FF2B5EF4-FFF2-40B4-BE49-F238E27FC236}">
                <a16:creationId xmlns:a16="http://schemas.microsoft.com/office/drawing/2014/main" id="{0DB92689-8194-4FD4-86F7-A7E3B312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333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标准园区中，仅将B1楼高从32 m改为52 m，再保存、载入并计算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5D5E14-728E-44CB-9204-E74625A2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4" name="接口级验证。实际SVG导出仅保留S1至D9航路，并加粗航">
            <a:extLst xmlns:a="http://schemas.openxmlformats.org/drawingml/2006/main">
              <a:ext uri="{FF2B5EF4-FFF2-40B4-BE49-F238E27FC236}">
                <a16:creationId xmlns:a16="http://schemas.microsoft.com/office/drawing/2014/main" id="{AEABE41D-E09E-4B4D-AF8C-F321D517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391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接口级验证。实际SVG导出仅保留S1至D9航路，并加粗航路与B1标注</a:t>
            </a:r>
          </a:p>
        </p:txBody>
      </p:sp>
      <p:sp>
        <p:nvSpPr>
          <p:cNvPr id="5" name="06">
            <a:extLst xmlns:a="http://schemas.openxmlformats.org/drawingml/2006/main">
              <a:ext uri="{FF2B5EF4-FFF2-40B4-BE49-F238E27FC236}">
                <a16:creationId xmlns:a16="http://schemas.microsoft.com/office/drawing/2014/main" id="{81E5B93C-7A3E-40B2-82A0-B2615EB2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修改前：32 m，可从楼上通过">
            <a:extLst xmlns:a="http://schemas.openxmlformats.org/drawingml/2006/main">
              <a:ext uri="{FF2B5EF4-FFF2-40B4-BE49-F238E27FC236}">
                <a16:creationId xmlns:a16="http://schemas.microsoft.com/office/drawing/2014/main" id="{AF9E6EA3-D84C-4341-870C-3F8680A4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05025"/>
            <a:ext cx="676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修改前：32 m，可从楼上通过</a:t>
            </a:r>
          </a:p>
        </p:txBody>
      </p:sp>
      <p:sp>
        <p:nvSpPr>
          <p:cNvPr id="7" name="修改后：52 m，需要绕行">
            <a:extLst xmlns:a="http://schemas.openxmlformats.org/drawingml/2006/main">
              <a:ext uri="{FF2B5EF4-FFF2-40B4-BE49-F238E27FC236}">
                <a16:creationId xmlns:a16="http://schemas.microsoft.com/office/drawing/2014/main" id="{B476C122-FD3D-4142-AE24-B34EE795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105025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修改后：52 m，需要绕行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CB8CF-66E4-48B7-8C58-35C9AF198F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6879e792fa4f94"/>
          <a:stretch xmlns:a="http://schemas.openxmlformats.org/drawingml/2006/main"/>
        </p:blipFill>
        <p:spPr>
          <a:xfrm xmlns:a="http://schemas.openxmlformats.org/drawingml/2006/main">
            <a:off x="762000" y="2697162"/>
            <a:ext cx="6667500" cy="444500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40074E-E8BA-4560-924D-30EA5BF002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e3562220b147d5"/>
          <a:stretch xmlns:a="http://schemas.openxmlformats.org/drawingml/2006/main"/>
        </p:blipFill>
        <p:spPr>
          <a:xfrm xmlns:a="http://schemas.openxmlformats.org/drawingml/2006/main">
            <a:off x="7810500" y="2697162"/>
            <a:ext cx="6667500" cy="4445000"/>
          </a:xfrm>
          <a:prstGeom xmlns:a="http://schemas.openxmlformats.org/drawingml/2006/main" prst="rect">
            <a:avLst/>
          </a:prstGeom>
        </p:spPr>
      </p:pic>
      <p:sp>
        <p:nvSpPr>
          <p:cNvPr id="10" name="S1至D9：504.01 m">
            <a:extLst xmlns:a="http://schemas.openxmlformats.org/drawingml/2006/main">
              <a:ext uri="{FF2B5EF4-FFF2-40B4-BE49-F238E27FC236}">
                <a16:creationId xmlns:a16="http://schemas.microsoft.com/office/drawing/2014/main" id="{9F83DBFE-E7AD-4474-BF53-23322493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267575"/>
            <a:ext cx="666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S1至D9：504.01 m</a:t>
            </a:r>
          </a:p>
        </p:txBody>
      </p:sp>
      <p:sp>
        <p:nvSpPr>
          <p:cNvPr id="11" name="518.88 m，延长14.86 m">
            <a:extLst xmlns:a="http://schemas.openxmlformats.org/drawingml/2006/main">
              <a:ext uri="{FF2B5EF4-FFF2-40B4-BE49-F238E27FC236}">
                <a16:creationId xmlns:a16="http://schemas.microsoft.com/office/drawing/2014/main" id="{9DF0FCBC-F4F0-41B8-997B-4A80B711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267575"/>
            <a:ext cx="666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518.88 m，延长14.86 m</a:t>
            </a:r>
          </a:p>
        </p:txBody>
      </p:sp>
    </p:spTree>
    <p:extLst>
      <p:ext uri="{BB962C8B-B14F-4D97-AF65-F5344CB8AC3E}">
        <p14:creationId xmlns:p14="http://schemas.microsoft.com/office/powerpoint/2010/main" val="20750078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同一订单连接地图、航路与任务结果">
            <a:extLst xmlns:a="http://schemas.openxmlformats.org/drawingml/2006/main">
              <a:ext uri="{FF2B5EF4-FFF2-40B4-BE49-F238E27FC236}">
                <a16:creationId xmlns:a16="http://schemas.microsoft.com/office/drawing/2014/main" id="{D87DD8B9-A1BA-40F5-AA8F-269B5631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同一订单连接地图、航路与任务结果</a:t>
            </a:r>
          </a:p>
        </p:txBody>
      </p:sp>
      <p:sp>
        <p:nvSpPr>
          <p:cNvPr id="2" name="固定布局S1+S5，订单O008，U1无人机执行S1至D">
            <a:extLst xmlns:a="http://schemas.openxmlformats.org/drawingml/2006/main">
              <a:ext uri="{FF2B5EF4-FFF2-40B4-BE49-F238E27FC236}">
                <a16:creationId xmlns:a16="http://schemas.microsoft.com/office/drawing/2014/main" id="{5C3A2DD8-0219-4521-9095-054980CD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333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固定布局S1+S5，订单O008，U1无人机执行S1至D9的往返任务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71EA4-2F60-4055-B6CF-97F65BD6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4" name="本页为单次案例，时间均为仿真绝对秒数，不能代替五种子实验">
            <a:extLst xmlns:a="http://schemas.openxmlformats.org/drawingml/2006/main">
              <a:ext uri="{FF2B5EF4-FFF2-40B4-BE49-F238E27FC236}">
                <a16:creationId xmlns:a16="http://schemas.microsoft.com/office/drawing/2014/main" id="{6C1A7132-9DC5-4B4C-953A-2EE68F35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391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本页为单次案例，时间均为仿真绝对秒数，不能代替五种子实验均值</a:t>
            </a:r>
          </a:p>
        </p:txBody>
      </p:sp>
      <p:sp>
        <p:nvSpPr>
          <p:cNvPr id="5" name="07">
            <a:extLst xmlns:a="http://schemas.openxmlformats.org/drawingml/2006/main">
              <a:ext uri="{FF2B5EF4-FFF2-40B4-BE49-F238E27FC236}">
                <a16:creationId xmlns:a16="http://schemas.microsoft.com/office/drawing/2014/main" id="{AA9205D1-3E96-4E95-8861-418B8112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O008">
            <a:extLst xmlns:a="http://schemas.openxmlformats.org/drawingml/2006/main">
              <a:ext uri="{FF2B5EF4-FFF2-40B4-BE49-F238E27FC236}">
                <a16:creationId xmlns:a16="http://schemas.microsoft.com/office/drawing/2014/main" id="{ADCC6B12-7B66-4246-A26C-A03424DE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8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8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O008</a:t>
            </a:r>
          </a:p>
        </p:txBody>
      </p:sp>
      <p:sp>
        <p:nvSpPr>
          <p:cNvPr id="7" name="地图修改进入任务记录">
            <a:extLst xmlns:a="http://schemas.openxmlformats.org/drawingml/2006/main">
              <a:ext uri="{FF2B5EF4-FFF2-40B4-BE49-F238E27FC236}">
                <a16:creationId xmlns:a16="http://schemas.microsoft.com/office/drawing/2014/main" id="{CCBA2AD4-83D6-44FD-B3C4-3A1A9AB3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956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地图修改进入任务记录</a:t>
            </a:r>
          </a:p>
        </p:txBody>
      </p:sp>
      <p:sp>
        <p:nvSpPr>
          <p:cNvPr id="8" name="单程延长14.86 m，&#10;该订单完成配送推迟1.65 s">
            <a:extLst xmlns:a="http://schemas.openxmlformats.org/drawingml/2006/main">
              <a:ext uri="{FF2B5EF4-FFF2-40B4-BE49-F238E27FC236}">
                <a16:creationId xmlns:a16="http://schemas.microsoft.com/office/drawing/2014/main" id="{44B39428-124C-46CC-9AD8-B9E7BB55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单程延长14.86 m，</a:t>
            </a:r>
          </a:p>
          <a:p xmlns:a="http://schemas.openxmlformats.org/drawingml/2006/main">
            <a:pPr algn="l">
              <a:defRPr sz="22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该订单完成配送推迟1.65 s。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CF1D9E-5B02-42A4-AA07-35A945C9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8642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10" name="综合风险布局仍选S2+S6，&#10;其本次评价指标保持相同。">
            <a:extLst xmlns:a="http://schemas.openxmlformats.org/drawingml/2006/main">
              <a:ext uri="{FF2B5EF4-FFF2-40B4-BE49-F238E27FC236}">
                <a16:creationId xmlns:a16="http://schemas.microsoft.com/office/drawing/2014/main" id="{2C8CF670-3DD0-4AE0-9584-AB68FFC4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86475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综合风险布局仍选S2+S6，</a:t>
            </a:r>
          </a:p>
          <a:p xmlns:a="http://schemas.openxmlformats.org/drawingml/2006/main">
            <a:pPr algn="l">
              <a:defRPr sz="21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其本次评价指标保持相同。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63D066-4FC3-43D5-9389-429ED3FA53B2}"/>
              </a:ext>
            </a:extLst>
          </p:cNvPr>
          <p:cNvGraphicFramePr/>
          <p:nvPr/>
        </p:nvGraphicFramePr>
        <p:xfrm>
          <a:off xmlns:a="http://schemas.openxmlformats.org/drawingml/2006/main" x="6191250" y="2171700"/>
          <a:ext xmlns:a="http://schemas.openxmlformats.org/drawingml/2006/main" cx="8286750" cy="4105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2286000"/>
                <a:gridCol w="2286000"/>
              </a:tblGrid>
              <a:tr h="684213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核查字段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102A56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修改前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102A56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修改后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102A56"/>
                    </a:solidFill>
                  </a:tcPr>
                </a:tc>
              </a:tr>
              <a:tr h="684213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单程航路 / m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504.01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518.88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684213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订单创建 / s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26.00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26.00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4213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起飞 / s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51.00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51.00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684213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完成配送 / s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127.00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128.65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4213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任务结束 / s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203.00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206.31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12" name="可复查文件">
            <a:extLst xmlns:a="http://schemas.openxmlformats.org/drawingml/2006/main">
              <a:ext uri="{FF2B5EF4-FFF2-40B4-BE49-F238E27FC236}">
                <a16:creationId xmlns:a16="http://schemas.microsoft.com/office/drawing/2014/main" id="{408022D5-FA1B-4856-8B68-552D3C7E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6667500"/>
            <a:ext cx="809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可复查文件</a:t>
            </a:r>
          </a:p>
        </p:txBody>
      </p:sp>
      <p:sp>
        <p:nvSpPr>
          <p:cNvPr id="13" name="case_after_scene.json   ·   ">
            <a:extLst xmlns:a="http://schemas.openxmlformats.org/drawingml/2006/main">
              <a:ext uri="{FF2B5EF4-FFF2-40B4-BE49-F238E27FC236}">
                <a16:creationId xmlns:a16="http://schemas.microsoft.com/office/drawing/2014/main" id="{149B28AF-61D5-44E0-9F68-0B1BB66A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7172325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case_after_scene.json   ·   case_after/result.json</a:t>
            </a:r>
          </a:p>
          <a:p xmlns:a="http://schemas.openxmlformats.org/drawingml/2006/main">
            <a:pPr algn="l">
              <a:defRPr sz="15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case_after/jobs.csv   ·   case_after/map.svg</a:t>
            </a:r>
          </a:p>
        </p:txBody>
      </p:sp>
    </p:spTree>
    <p:extLst>
      <p:ext uri="{BB962C8B-B14F-4D97-AF65-F5344CB8AC3E}">
        <p14:creationId xmlns:p14="http://schemas.microsoft.com/office/powerpoint/2010/main" val="12655488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固定高度约束与人员暴露模型">
            <a:extLst xmlns:a="http://schemas.openxmlformats.org/drawingml/2006/main">
              <a:ext uri="{FF2B5EF4-FFF2-40B4-BE49-F238E27FC236}">
                <a16:creationId xmlns:a16="http://schemas.microsoft.com/office/drawing/2014/main" id="{5832330E-8392-4656-87D9-E6781247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固定高度约束与人员暴露模型</a:t>
            </a:r>
          </a:p>
        </p:txBody>
      </p:sp>
      <p:sp>
        <p:nvSpPr>
          <p:cNvPr id="2" name="建筑决定能否通过，风险热点影响路径代价">
            <a:extLst xmlns:a="http://schemas.openxmlformats.org/drawingml/2006/main">
              <a:ext uri="{FF2B5EF4-FFF2-40B4-BE49-F238E27FC236}">
                <a16:creationId xmlns:a16="http://schemas.microsoft.com/office/drawing/2014/main" id="{475FA70D-B32E-4D3C-9C3E-B00F611E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333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建筑决定能否通过，风险热点影响路径代价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2E3BC-C059-4557-9E7E-9CB21B63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4" name="参数均为研究设定。路径暴露为相对代理指标，尚未计入悬停暴">
            <a:extLst xmlns:a="http://schemas.openxmlformats.org/drawingml/2006/main">
              <a:ext uri="{FF2B5EF4-FFF2-40B4-BE49-F238E27FC236}">
                <a16:creationId xmlns:a16="http://schemas.microsoft.com/office/drawing/2014/main" id="{4E9BCD0F-1F3D-4F7C-8DA6-BF0A79D4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391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参数均为研究设定。路径暴露为相对代理指标，尚未计入悬停暴露</a:t>
            </a:r>
          </a:p>
        </p:txBody>
      </p:sp>
      <p:sp>
        <p:nvSpPr>
          <p:cNvPr id="5" name="05">
            <a:extLst xmlns:a="http://schemas.openxmlformats.org/drawingml/2006/main">
              <a:ext uri="{FF2B5EF4-FFF2-40B4-BE49-F238E27FC236}">
                <a16:creationId xmlns:a16="http://schemas.microsoft.com/office/drawing/2014/main" id="{78CDB29E-D739-42BF-92AF-32F21EF2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2335C-D928-4B58-B2F1-0F5CC7EE72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7f417387bb4d53"/>
          <a:stretch xmlns:a="http://schemas.openxmlformats.org/drawingml/2006/main"/>
        </p:blipFill>
        <p:spPr>
          <a:xfrm xmlns:a="http://schemas.openxmlformats.org/drawingml/2006/main">
            <a:off x="1504140" y="2019300"/>
            <a:ext cx="6992971" cy="5334000"/>
          </a:xfrm>
          <a:prstGeom xmlns:a="http://schemas.openxmlformats.org/drawingml/2006/main" prst="rect">
            <a:avLst/>
          </a:prstGeom>
        </p:spPr>
      </p:pic>
      <p:sp>
        <p:nvSpPr>
          <p:cNvPr id="7" name="建筑阻塞条件">
            <a:extLst xmlns:a="http://schemas.openxmlformats.org/drawingml/2006/main">
              <a:ext uri="{FF2B5EF4-FFF2-40B4-BE49-F238E27FC236}">
                <a16:creationId xmlns:a16="http://schemas.microsoft.com/office/drawing/2014/main" id="{430DA33D-C5FE-44EC-9A40-E89A92FF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4312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建筑阻塞条件</a:t>
            </a:r>
          </a:p>
        </p:txBody>
      </p:sp>
      <p:sp>
        <p:nvSpPr>
          <p:cNvPr id="8" name="h + Δh ≥ H">
            <a:extLst xmlns:a="http://schemas.openxmlformats.org/drawingml/2006/main">
              <a:ext uri="{FF2B5EF4-FFF2-40B4-BE49-F238E27FC236}">
                <a16:creationId xmlns:a16="http://schemas.microsoft.com/office/drawing/2014/main" id="{90A4C291-51DF-4814-A5FC-1E9AB4CB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81300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52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h + Δh ≥ H</a:t>
            </a:r>
          </a:p>
        </p:txBody>
      </p:sp>
      <p:sp>
        <p:nvSpPr>
          <p:cNvPr id="9" name="巡航高度 H = 45 m&#10;垂直间距 Δh = 5 m&#10;">
            <a:extLst xmlns:a="http://schemas.openxmlformats.org/drawingml/2006/main">
              <a:ext uri="{FF2B5EF4-FFF2-40B4-BE49-F238E27FC236}">
                <a16:creationId xmlns:a16="http://schemas.microsoft.com/office/drawing/2014/main" id="{30D5B099-7BBD-45F4-99A0-C975146C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29025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巡航高度 H = 45 m</a:t>
            </a:r>
          </a:p>
          <a:p xmlns:a="http://schemas.openxmlformats.org/drawingml/2006/main">
            <a:pPr algn="l">
              <a:defRPr sz="2175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垂直间距 Δh = 5 m</a:t>
            </a:r>
          </a:p>
          <a:p xmlns:a="http://schemas.openxmlformats.org/drawingml/2006/main">
            <a:pPr algn="l">
              <a:defRPr sz="2175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平面外扩 Δxy = 8 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74C48-9B15-4225-AB10-038C04F7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4102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11" name="路径暴露">
            <a:extLst xmlns:a="http://schemas.openxmlformats.org/drawingml/2006/main">
              <a:ext uri="{FF2B5EF4-FFF2-40B4-BE49-F238E27FC236}">
                <a16:creationId xmlns:a16="http://schemas.microsoft.com/office/drawing/2014/main" id="{7024D819-3D70-4918-A0D4-D590FB96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67690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路径暴露</a:t>
            </a:r>
          </a:p>
        </p:txBody>
      </p:sp>
      <p:sp>
        <p:nvSpPr>
          <p:cNvPr id="12" name="路段长度与中点风险值累加，&#10;按往返航路计算每单指数。">
            <a:extLst xmlns:a="http://schemas.openxmlformats.org/drawingml/2006/main">
              <a:ext uri="{FF2B5EF4-FFF2-40B4-BE49-F238E27FC236}">
                <a16:creationId xmlns:a16="http://schemas.microsoft.com/office/drawing/2014/main" id="{A9B843DB-5497-430A-B74C-3DEAE476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28650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路段长度与中点风险值累加，</a:t>
            </a:r>
          </a:p>
          <a:p xmlns:a="http://schemas.openxmlformats.org/drawingml/2006/main">
            <a:pPr algn="l">
              <a:defRPr sz="21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按往返航路计算每单指数。</a:t>
            </a:r>
          </a:p>
        </p:txBody>
      </p:sp>
    </p:spTree>
    <p:extLst>
      <p:ext uri="{BB962C8B-B14F-4D97-AF65-F5344CB8AC3E}">
        <p14:creationId xmlns:p14="http://schemas.microsoft.com/office/powerpoint/2010/main" val="21092151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风险加权A*航路规划">
            <a:extLst xmlns:a="http://schemas.openxmlformats.org/drawingml/2006/main">
              <a:ext uri="{FF2B5EF4-FFF2-40B4-BE49-F238E27FC236}">
                <a16:creationId xmlns:a16="http://schemas.microsoft.com/office/drawing/2014/main" id="{A3FC617C-07AE-4C60-ADD8-B82098EE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风险加权A*航路规划</a:t>
            </a:r>
          </a:p>
        </p:txBody>
      </p:sp>
      <p:sp>
        <p:nvSpPr>
          <p:cNvPr id="2" name="在同一离散地图中平衡航程与人员暴露">
            <a:extLst xmlns:a="http://schemas.openxmlformats.org/drawingml/2006/main">
              <a:ext uri="{FF2B5EF4-FFF2-40B4-BE49-F238E27FC236}">
                <a16:creationId xmlns:a16="http://schemas.microsoft.com/office/drawing/2014/main" id="{C9D52E59-9909-4339-8795-694C4A96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333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在同一离散地图中平衡航程与人员暴露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6AD5B4-0646-4E43-AC2A-CFA9599F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4" name="左图为规划原理示意。原90条运行实验共用λ=2；新增λ=">
            <a:extLst xmlns:a="http://schemas.openxmlformats.org/drawingml/2006/main">
              <a:ext uri="{FF2B5EF4-FFF2-40B4-BE49-F238E27FC236}">
                <a16:creationId xmlns:a16="http://schemas.microsoft.com/office/drawing/2014/main" id="{9B556776-86BE-4A84-853F-702EFBEB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391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左图为规划原理示意。原90条运行实验共用λ=2；新增λ=0与λ=2的航路对照见第10页</a:t>
            </a:r>
          </a:p>
        </p:txBody>
      </p:sp>
      <p:sp>
        <p:nvSpPr>
          <p:cNvPr id="5" name="06">
            <a:extLst xmlns:a="http://schemas.openxmlformats.org/drawingml/2006/main">
              <a:ext uri="{FF2B5EF4-FFF2-40B4-BE49-F238E27FC236}">
                <a16:creationId xmlns:a16="http://schemas.microsoft.com/office/drawing/2014/main" id="{3A079804-DEEF-43E2-BE07-65904C3E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4C3A2C-D0D0-43B9-A1B7-3274645E39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1251bebd1b4ee4"/>
          <a:stretch xmlns:a="http://schemas.openxmlformats.org/drawingml/2006/main"/>
        </p:blipFill>
        <p:spPr>
          <a:xfrm xmlns:a="http://schemas.openxmlformats.org/drawingml/2006/main">
            <a:off x="1291819" y="2133600"/>
            <a:ext cx="7893863" cy="5172075"/>
          </a:xfrm>
          <a:prstGeom xmlns:a="http://schemas.openxmlformats.org/drawingml/2006/main" prst="rect">
            <a:avLst/>
          </a:prstGeom>
        </p:spPr>
      </p:pic>
      <p:sp>
        <p:nvSpPr>
          <p:cNvPr id="7" name="灰线：几何距离示意    蓝线：回避高暴露区域的示意">
            <a:extLst xmlns:a="http://schemas.openxmlformats.org/drawingml/2006/main">
              <a:ext uri="{FF2B5EF4-FFF2-40B4-BE49-F238E27FC236}">
                <a16:creationId xmlns:a16="http://schemas.microsoft.com/office/drawing/2014/main" id="{D97DDCA7-B2A4-4C97-9C9A-438BC0A0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29500"/>
            <a:ext cx="904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灰线：几何距离示意    蓝线：回避高暴露区域的示意</a:t>
            </a:r>
          </a:p>
        </p:txBody>
      </p:sp>
      <p:sp>
        <p:nvSpPr>
          <p:cNvPr id="8" name="边代价">
            <a:extLst xmlns:a="http://schemas.openxmlformats.org/drawingml/2006/main">
              <a:ext uri="{FF2B5EF4-FFF2-40B4-BE49-F238E27FC236}">
                <a16:creationId xmlns:a16="http://schemas.microsoft.com/office/drawing/2014/main" id="{B5C49E8C-ED4D-4EAF-8656-4562362D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133600"/>
            <a:ext cx="4000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边代价</a:t>
            </a:r>
          </a:p>
        </p:txBody>
      </p:sp>
      <p:sp>
        <p:nvSpPr>
          <p:cNvPr id="9" name="c = L × (1 + λr)">
            <a:extLst xmlns:a="http://schemas.openxmlformats.org/drawingml/2006/main">
              <a:ext uri="{FF2B5EF4-FFF2-40B4-BE49-F238E27FC236}">
                <a16:creationId xmlns:a16="http://schemas.microsoft.com/office/drawing/2014/main" id="{7E8A8839-50D5-419C-884E-8F4B2A17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003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c = L × (1 + λr)</a:t>
            </a:r>
          </a:p>
        </p:txBody>
      </p:sp>
      <p:sp>
        <p:nvSpPr>
          <p:cNvPr id="10" name="L：相邻节点距离&#10;r：边中点的风险值&#10;λ：非负风险权重">
            <a:extLst xmlns:a="http://schemas.openxmlformats.org/drawingml/2006/main">
              <a:ext uri="{FF2B5EF4-FFF2-40B4-BE49-F238E27FC236}">
                <a16:creationId xmlns:a16="http://schemas.microsoft.com/office/drawing/2014/main" id="{0C81A655-A049-45D8-801C-415991FC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00450"/>
            <a:ext cx="41910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L：相邻节点距离</a:t>
            </a:r>
          </a:p>
          <a:p xmlns:a="http://schemas.openxmlformats.org/drawingml/2006/main">
            <a:pPr algn="l">
              <a:defRPr sz="210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r：边中点的风险值</a:t>
            </a:r>
          </a:p>
          <a:p xmlns:a="http://schemas.openxmlformats.org/drawingml/2006/main">
            <a:pPr algn="l">
              <a:defRPr sz="210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λ：非负风险权重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D21E14-DAD3-45D7-88F7-DE52F2B2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38162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12" name="八邻域栅格，步长16 m">
            <a:extLst xmlns:a="http://schemas.openxmlformats.org/drawingml/2006/main">
              <a:ext uri="{FF2B5EF4-FFF2-40B4-BE49-F238E27FC236}">
                <a16:creationId xmlns:a16="http://schemas.microsoft.com/office/drawing/2014/main" id="{0533EF74-0247-4B66-AD0E-6C1BBDCE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73405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八邻域栅格，步长16 m</a:t>
            </a:r>
          </a:p>
        </p:txBody>
      </p:sp>
      <p:sp>
        <p:nvSpPr>
          <p:cNvPr id="13" name="欧氏距离作为启发函数。&#10;最优性限于当前离散图、&#10;接入节点">
            <a:extLst xmlns:a="http://schemas.openxmlformats.org/drawingml/2006/main">
              <a:ext uri="{FF2B5EF4-FFF2-40B4-BE49-F238E27FC236}">
                <a16:creationId xmlns:a16="http://schemas.microsoft.com/office/drawing/2014/main" id="{23B2A343-E385-48B1-963E-75A6CFA7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43650"/>
            <a:ext cx="4191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欧氏距离作为启发函数。</a:t>
            </a:r>
          </a:p>
          <a:p xmlns:a="http://schemas.openxmlformats.org/drawingml/2006/main">
            <a: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最优性限于当前离散图、</a:t>
            </a:r>
          </a:p>
          <a:p xmlns:a="http://schemas.openxmlformats.org/drawingml/2006/main">
            <a: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接入节点与约束。</a:t>
            </a:r>
          </a:p>
        </p:txBody>
      </p:sp>
    </p:spTree>
    <p:extLst>
      <p:ext uri="{BB962C8B-B14F-4D97-AF65-F5344CB8AC3E}">
        <p14:creationId xmlns:p14="http://schemas.microsoft.com/office/powerpoint/2010/main" val="17533539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风险权重对照：暴露积分降低，航路略有延长">
            <a:extLst xmlns:a="http://schemas.openxmlformats.org/drawingml/2006/main">
              <a:ext uri="{FF2B5EF4-FFF2-40B4-BE49-F238E27FC236}">
                <a16:creationId xmlns:a16="http://schemas.microsoft.com/office/drawing/2014/main" id="{7551B189-7D09-4912-AE75-847C0804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风险权重对照：暴露积分降低，航路略有延长</a:t>
            </a:r>
          </a:p>
        </p:txBody>
      </p:sp>
      <p:sp>
        <p:nvSpPr>
          <p:cNvPr id="2" name="固定同一地图与80组起终点，仅将λ从0改为2">
            <a:extLst xmlns:a="http://schemas.openxmlformats.org/drawingml/2006/main">
              <a:ext uri="{FF2B5EF4-FFF2-40B4-BE49-F238E27FC236}">
                <a16:creationId xmlns:a16="http://schemas.microsoft.com/office/drawing/2014/main" id="{AF963819-05C4-455E-8FAC-1520FF2C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333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固定同一地图与80组起终点，仅将λ从0改为2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01241D-8396-4852-B02C-1AA80938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4" name="80条可达航路等权平均；单程沿线积分不等同于每单往返暴露">
            <a:extLst xmlns:a="http://schemas.openxmlformats.org/drawingml/2006/main">
              <a:ext uri="{FF2B5EF4-FFF2-40B4-BE49-F238E27FC236}">
                <a16:creationId xmlns:a16="http://schemas.microsoft.com/office/drawing/2014/main" id="{92ACABF6-EC14-41E2-A195-92FEBEDE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391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80条可达航路等权平均；单程沿线积分不等同于每单往返暴露指数</a:t>
            </a:r>
          </a:p>
        </p:txBody>
      </p:sp>
      <p:sp>
        <p:nvSpPr>
          <p:cNvPr id="5" name="10">
            <a:extLst xmlns:a="http://schemas.openxmlformats.org/drawingml/2006/main">
              <a:ext uri="{FF2B5EF4-FFF2-40B4-BE49-F238E27FC236}">
                <a16:creationId xmlns:a16="http://schemas.microsoft.com/office/drawing/2014/main" id="{C4DF5620-48CB-4E78-8134-F9342E3F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平均单程长度 / m">
            <a:extLst xmlns:a="http://schemas.openxmlformats.org/drawingml/2006/main">
              <a:ext uri="{FF2B5EF4-FFF2-40B4-BE49-F238E27FC236}">
                <a16:creationId xmlns:a16="http://schemas.microsoft.com/office/drawing/2014/main" id="{1A784840-B54D-4B7F-B34F-19C208E5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657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平均单程长度 / m</a:t>
            </a:r>
          </a:p>
        </p:txBody>
      </p:sp>
      <p:sp>
        <p:nvSpPr>
          <p:cNvPr id="7" name="平均沿线暴露积分">
            <a:extLst xmlns:a="http://schemas.openxmlformats.org/drawingml/2006/main">
              <a:ext uri="{FF2B5EF4-FFF2-40B4-BE49-F238E27FC236}">
                <a16:creationId xmlns:a16="http://schemas.microsoft.com/office/drawing/2014/main" id="{5CAF41C3-34C3-4845-8CCA-2B07E2AE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43125"/>
            <a:ext cx="657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平均沿线暴露积分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5A1510D3-89A2-413F-AC28-DC6D6ACC603B}"/>
              </a:ext>
            </a:extLst>
          </p:cNvPr>
          <p:cNvGraphicFramePr/>
          <p:nvPr/>
        </p:nvGraphicFramePr>
        <p:xfrm>
          <a:off xmlns:a="http://schemas.openxmlformats.org/drawingml/2006/main" x="609600" y="2886075"/>
          <a:ext xmlns:a="http://schemas.openxmlformats.org/drawingml/2006/main" cx="67627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5b4e13d18b457d"/>
          </a:graphicData>
        </a:graphic>
      </p:graphicFrame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D74121C2-4E45-4455-BE52-FE43C4AFA000}"/>
              </a:ext>
            </a:extLst>
          </p:cNvPr>
          <p:cNvGraphicFramePr/>
          <p:nvPr/>
        </p:nvGraphicFramePr>
        <p:xfrm>
          <a:off xmlns:a="http://schemas.openxmlformats.org/drawingml/2006/main" x="7753350" y="2886075"/>
          <a:ext xmlns:a="http://schemas.openxmlformats.org/drawingml/2006/main" cx="67627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05e86fed8a64d60"/>
          </a:graphicData>
        </a:graphic>
      </p:graphicFrame>
      <p:sp>
        <p:nvSpPr>
          <p:cNvPr id="10" name="长度增加4.8%">
            <a:extLst xmlns:a="http://schemas.openxmlformats.org/drawingml/2006/main">
              <a:ext uri="{FF2B5EF4-FFF2-40B4-BE49-F238E27FC236}">
                <a16:creationId xmlns:a16="http://schemas.microsoft.com/office/drawing/2014/main" id="{C02FD480-7212-4145-9C13-A3AD3B33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19850"/>
            <a:ext cx="647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9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长度增加4.8%</a:t>
            </a:r>
          </a:p>
        </p:txBody>
      </p:sp>
      <p:sp>
        <p:nvSpPr>
          <p:cNvPr id="11" name="暴露积分降低36.5%">
            <a:extLst xmlns:a="http://schemas.openxmlformats.org/drawingml/2006/main">
              <a:ext uri="{FF2B5EF4-FFF2-40B4-BE49-F238E27FC236}">
                <a16:creationId xmlns:a16="http://schemas.microsoft.com/office/drawing/2014/main" id="{805BE704-BDF3-485C-84B6-0D099840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419850"/>
            <a:ext cx="647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9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暴露积分降低36.5%</a:t>
            </a:r>
          </a:p>
        </p:txBody>
      </p:sp>
      <p:sp>
        <p:nvSpPr>
          <p:cNvPr id="12" name="8个场站 × 10个配送点，均可达">
            <a:extLst xmlns:a="http://schemas.openxmlformats.org/drawingml/2006/main">
              <a:ext uri="{FF2B5EF4-FFF2-40B4-BE49-F238E27FC236}">
                <a16:creationId xmlns:a16="http://schemas.microsoft.com/office/drawing/2014/main" id="{043643CF-52DE-44F9-AF96-33560E16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96150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8个场站 × 10个配送点，均可达</a:t>
            </a:r>
          </a:p>
        </p:txBody>
      </p:sp>
      <p:sp>
        <p:nvSpPr>
          <p:cNvPr id="13" name="不重新选址，不进行订单调度">
            <a:extLst xmlns:a="http://schemas.openxmlformats.org/drawingml/2006/main">
              <a:ext uri="{FF2B5EF4-FFF2-40B4-BE49-F238E27FC236}">
                <a16:creationId xmlns:a16="http://schemas.microsoft.com/office/drawing/2014/main" id="{33E3B61C-96D0-4958-9194-B45E0505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296150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不重新选址，不进行订单调度</a:t>
            </a:r>
          </a:p>
        </p:txBody>
      </p:sp>
    </p:spTree>
    <p:extLst>
      <p:ext uri="{BB962C8B-B14F-4D97-AF65-F5344CB8AC3E}">
        <p14:creationId xmlns:p14="http://schemas.microsoft.com/office/powerpoint/2010/main" val="20774448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两起降场组合选址">
            <a:extLst xmlns:a="http://schemas.openxmlformats.org/drawingml/2006/main">
              <a:ext uri="{FF2B5EF4-FFF2-40B4-BE49-F238E27FC236}">
                <a16:creationId xmlns:a16="http://schemas.microsoft.com/office/drawing/2014/main" id="{76ECAF48-4B6C-4E22-8037-1E2AA370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两起降场组合选址</a:t>
            </a:r>
          </a:p>
        </p:txBody>
      </p:sp>
      <p:sp>
        <p:nvSpPr>
          <p:cNvPr id="2" name="先使用独立设计订单选址，再冻结场站进行评价">
            <a:extLst xmlns:a="http://schemas.openxmlformats.org/drawingml/2006/main">
              <a:ext uri="{FF2B5EF4-FFF2-40B4-BE49-F238E27FC236}">
                <a16:creationId xmlns:a16="http://schemas.microsoft.com/office/drawing/2014/main" id="{B27B93E8-64EF-41F9-B867-A3810D92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333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先使用独立设计订单选址，再冻结场站进行评价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0273F8-37A1-4D0C-A9B3-B782C311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4" name="权重为当前研究设定。最小评分限于给定候选集合、设计订单与">
            <a:extLst xmlns:a="http://schemas.openxmlformats.org/drawingml/2006/main">
              <a:ext uri="{FF2B5EF4-FFF2-40B4-BE49-F238E27FC236}">
                <a16:creationId xmlns:a16="http://schemas.microsoft.com/office/drawing/2014/main" id="{51AB6EF6-A8D8-4B76-A3B2-11509561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391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权重为当前研究设定。最小评分限于给定候选集合、设计订单与评分规则</a:t>
            </a:r>
          </a:p>
        </p:txBody>
      </p:sp>
      <p:sp>
        <p:nvSpPr>
          <p:cNvPr id="5" name="07">
            <a:extLst xmlns:a="http://schemas.openxmlformats.org/drawingml/2006/main">
              <a:ext uri="{FF2B5EF4-FFF2-40B4-BE49-F238E27FC236}">
                <a16:creationId xmlns:a16="http://schemas.microsoft.com/office/drawing/2014/main" id="{D7ACA68C-B9BD-4C51-AB50-B9258930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8">
            <a:extLst xmlns:a="http://schemas.openxmlformats.org/drawingml/2006/main">
              <a:ext uri="{FF2B5EF4-FFF2-40B4-BE49-F238E27FC236}">
                <a16:creationId xmlns:a16="http://schemas.microsoft.com/office/drawing/2014/main" id="{4F978AEC-5747-4F49-BCDA-FB9831D2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62175"/>
            <a:ext cx="24765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4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4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7" name="候选起降位置">
            <a:extLst xmlns:a="http://schemas.openxmlformats.org/drawingml/2006/main">
              <a:ext uri="{FF2B5EF4-FFF2-40B4-BE49-F238E27FC236}">
                <a16:creationId xmlns:a16="http://schemas.microsoft.com/office/drawing/2014/main" id="{2867EE7C-4399-4D35-959F-F05F9C03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5242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候选起降位置</a:t>
            </a:r>
          </a:p>
        </p:txBody>
      </p:sp>
      <p:sp>
        <p:nvSpPr>
          <p:cNvPr id="8" name="最多28组">
            <a:extLst xmlns:a="http://schemas.openxmlformats.org/drawingml/2006/main">
              <a:ext uri="{FF2B5EF4-FFF2-40B4-BE49-F238E27FC236}">
                <a16:creationId xmlns:a16="http://schemas.microsoft.com/office/drawing/2014/main" id="{BFA88135-2986-4928-BA63-0EFD75AC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38650"/>
            <a:ext cx="5143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510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最多28组</a:t>
            </a:r>
          </a:p>
        </p:txBody>
      </p:sp>
      <p:sp>
        <p:nvSpPr>
          <p:cNvPr id="9" name="两两组合，逐组模拟与评分">
            <a:extLst xmlns:a="http://schemas.openxmlformats.org/drawingml/2006/main">
              <a:ext uri="{FF2B5EF4-FFF2-40B4-BE49-F238E27FC236}">
                <a16:creationId xmlns:a16="http://schemas.microsoft.com/office/drawing/2014/main" id="{81C13E78-8443-489A-9654-EDE9D4F7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495925"/>
            <a:ext cx="4857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两两组合，逐组模拟与评分</a:t>
            </a:r>
          </a:p>
        </p:txBody>
      </p:sp>
      <p:sp>
        <p:nvSpPr>
          <p:cNvPr id="10" name="排除不可用候选后再枚举，&#10;失败订单另加惩罚。">
            <a:extLst xmlns:a="http://schemas.openxmlformats.org/drawingml/2006/main">
              <a:ext uri="{FF2B5EF4-FFF2-40B4-BE49-F238E27FC236}">
                <a16:creationId xmlns:a16="http://schemas.microsoft.com/office/drawing/2014/main" id="{1022071F-7E05-4BC4-90F6-ACDE7C88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200775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排除不可用候选后再枚举，</a:t>
            </a:r>
          </a:p>
          <a:p xmlns:a="http://schemas.openxmlformats.org/drawingml/2006/main">
            <a: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失败订单另加惩罚。</a:t>
            </a:r>
          </a:p>
        </p:txBody>
      </p:sp>
      <p:sp>
        <p:nvSpPr>
          <p:cNvPr id="11" name="综合评分权重">
            <a:extLst xmlns:a="http://schemas.openxmlformats.org/drawingml/2006/main">
              <a:ext uri="{FF2B5EF4-FFF2-40B4-BE49-F238E27FC236}">
                <a16:creationId xmlns:a16="http://schemas.microsoft.com/office/drawing/2014/main" id="{0303B49B-A467-4378-AF09-FC11DDEA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38350"/>
            <a:ext cx="666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综合评分权重</a:t>
            </a:r>
          </a:p>
        </p:txBody>
      </p:sp>
      <p:graphicFrame>
        <p:nvGraphicFramePr>
          <p:cNvPr id="12" name="Chart">
            <a:extLst xmlns:a="http://schemas.openxmlformats.org/drawingml/2006/main">
              <a:ext uri="{FF2B5EF4-FFF2-40B4-BE49-F238E27FC236}">
                <a16:creationId xmlns:a16="http://schemas.microsoft.com/office/drawing/2014/main" id="{13E1BC93-7F7D-4C85-BC92-4AF1765C011F}"/>
              </a:ext>
            </a:extLst>
          </p:cNvPr>
          <p:cNvGraphicFramePr/>
          <p:nvPr/>
        </p:nvGraphicFramePr>
        <p:xfrm>
          <a:off xmlns:a="http://schemas.openxmlformats.org/drawingml/2006/main" x="6381750" y="2724150"/>
          <a:ext xmlns:a="http://schemas.openxmlformats.org/drawingml/2006/main" cx="8048625" cy="38004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4fcc7be2c14625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A6E6B5-A410-432C-87CB-8C279A83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772275"/>
            <a:ext cx="776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14" name="正常场景选中组合">
            <a:extLst xmlns:a="http://schemas.openxmlformats.org/drawingml/2006/main">
              <a:ext uri="{FF2B5EF4-FFF2-40B4-BE49-F238E27FC236}">
                <a16:creationId xmlns:a16="http://schemas.microsoft.com/office/drawing/2014/main" id="{4F65E65F-04FB-45EA-990E-51AF34F4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991350"/>
            <a:ext cx="3333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正常场景选中组合</a:t>
            </a:r>
          </a:p>
        </p:txBody>
      </p:sp>
      <p:sp>
        <p:nvSpPr>
          <p:cNvPr id="15" name="固定 S1+S5    距离优先 S3+S7    综合">
            <a:extLst xmlns:a="http://schemas.openxmlformats.org/drawingml/2006/main">
              <a:ext uri="{FF2B5EF4-FFF2-40B4-BE49-F238E27FC236}">
                <a16:creationId xmlns:a16="http://schemas.microsoft.com/office/drawing/2014/main" id="{A63AD5DB-F77B-435A-8FB1-E98C4EF3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42950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固定 S1+S5    距离优先 S3+S7    综合风险 S2+S6</a:t>
            </a:r>
          </a:p>
        </p:txBody>
      </p:sp>
    </p:spTree>
    <p:extLst>
      <p:ext uri="{BB962C8B-B14F-4D97-AF65-F5344CB8AC3E}">
        <p14:creationId xmlns:p14="http://schemas.microsoft.com/office/powerpoint/2010/main" val="7999130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连续时间间距检查与错峰出发">
            <a:extLst xmlns:a="http://schemas.openxmlformats.org/drawingml/2006/main">
              <a:ext uri="{FF2B5EF4-FFF2-40B4-BE49-F238E27FC236}">
                <a16:creationId xmlns:a16="http://schemas.microsoft.com/office/drawing/2014/main" id="{E252CD29-96E1-41BC-8B7D-96A5996B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连续时间间距检查与错峰出发</a:t>
            </a:r>
          </a:p>
        </p:txBody>
      </p:sp>
      <p:sp>
        <p:nvSpPr>
          <p:cNvPr id="2" name="完整任务航迹参与预约检查，必要时推迟出发">
            <a:extLst xmlns:a="http://schemas.openxmlformats.org/drawingml/2006/main">
              <a:ext uri="{FF2B5EF4-FFF2-40B4-BE49-F238E27FC236}">
                <a16:creationId xmlns:a16="http://schemas.microsoft.com/office/drawing/2014/main" id="{EE083240-C54E-4136-95DF-08179AFA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333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完整任务航迹参与预约检查，必要时推迟出发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F98DF-BC7E-431B-AC62-117BEC93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4" name="O009在两种调度下使用同一场站与航路。时间轴展示去程、">
            <a:extLst xmlns:a="http://schemas.openxmlformats.org/drawingml/2006/main">
              <a:ext uri="{FF2B5EF4-FFF2-40B4-BE49-F238E27FC236}">
                <a16:creationId xmlns:a16="http://schemas.microsoft.com/office/drawing/2014/main" id="{172FDC9E-FDF4-4855-ABE2-62A0C14C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391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O009在两种调度下使用同一场站与航路。时间轴展示去程、配送处理和返程</a:t>
            </a:r>
          </a:p>
        </p:txBody>
      </p:sp>
      <p:sp>
        <p:nvSpPr>
          <p:cNvPr id="5" name="08">
            <a:extLst xmlns:a="http://schemas.openxmlformats.org/drawingml/2006/main">
              <a:ext uri="{FF2B5EF4-FFF2-40B4-BE49-F238E27FC236}">
                <a16:creationId xmlns:a16="http://schemas.microsoft.com/office/drawing/2014/main" id="{B4652CD8-A5E6-471D-B938-7ED9F939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20 m">
            <a:extLst xmlns:a="http://schemas.openxmlformats.org/drawingml/2006/main">
              <a:ext uri="{FF2B5EF4-FFF2-40B4-BE49-F238E27FC236}">
                <a16:creationId xmlns:a16="http://schemas.microsoft.com/office/drawing/2014/main" id="{EF93D32B-CFD5-448C-B077-65DB9B9A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62175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57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20 m</a:t>
            </a:r>
          </a:p>
        </p:txBody>
      </p:sp>
      <p:sp>
        <p:nvSpPr>
          <p:cNvPr id="7" name="模型中的最小间距阈值">
            <a:extLst xmlns:a="http://schemas.openxmlformats.org/drawingml/2006/main">
              <a:ext uri="{FF2B5EF4-FFF2-40B4-BE49-F238E27FC236}">
                <a16:creationId xmlns:a16="http://schemas.microsoft.com/office/drawing/2014/main" id="{6D5497A5-D021-4FF8-BDD3-712ACBDF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28975"/>
            <a:ext cx="4572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模型中的最小间距阈值</a:t>
            </a:r>
          </a:p>
        </p:txBody>
      </p:sp>
      <p:sp>
        <p:nvSpPr>
          <p:cNvPr id="8" name="5 s">
            <a:extLst xmlns:a="http://schemas.openxmlformats.org/drawingml/2006/main">
              <a:ext uri="{FF2B5EF4-FFF2-40B4-BE49-F238E27FC236}">
                <a16:creationId xmlns:a16="http://schemas.microsoft.com/office/drawing/2014/main" id="{BDAFCF67-160F-4039-B5A5-B1644C29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570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5 s</a:t>
            </a:r>
          </a:p>
        </p:txBody>
      </p:sp>
      <p:sp>
        <p:nvSpPr>
          <p:cNvPr id="9" name="逐次推迟的搜索步长">
            <a:extLst xmlns:a="http://schemas.openxmlformats.org/drawingml/2006/main">
              <a:ext uri="{FF2B5EF4-FFF2-40B4-BE49-F238E27FC236}">
                <a16:creationId xmlns:a16="http://schemas.microsoft.com/office/drawing/2014/main" id="{39DD20EB-5B70-4EB9-9CFB-D7FCF516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314950"/>
            <a:ext cx="4572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逐次推迟的搜索步长</a:t>
            </a:r>
          </a:p>
        </p:txBody>
      </p:sp>
      <p:sp>
        <p:nvSpPr>
          <p:cNvPr id="10" name="连续时间相对运动检测，&#10;最多额外推迟600秒。">
            <a:extLst xmlns:a="http://schemas.openxmlformats.org/drawingml/2006/main">
              <a:ext uri="{FF2B5EF4-FFF2-40B4-BE49-F238E27FC236}">
                <a16:creationId xmlns:a16="http://schemas.microsoft.com/office/drawing/2014/main" id="{21AD2E2C-1387-4655-B6DC-43853B90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219825"/>
            <a:ext cx="4667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连续时间相对运动检测，</a:t>
            </a:r>
          </a:p>
          <a:p xmlns:a="http://schemas.openxmlformats.org/drawingml/2006/main">
            <a:pPr algn="l">
              <a:defRPr sz="210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最多额外推迟600秒。</a:t>
            </a:r>
          </a:p>
        </p:txBody>
      </p:sp>
      <p:sp>
        <p:nvSpPr>
          <p:cNvPr id="11" name="实际任务 O009：出发推迟15秒">
            <a:extLst xmlns:a="http://schemas.openxmlformats.org/drawingml/2006/main">
              <a:ext uri="{FF2B5EF4-FFF2-40B4-BE49-F238E27FC236}">
                <a16:creationId xmlns:a16="http://schemas.microsoft.com/office/drawing/2014/main" id="{C623A8B1-414B-446A-99FC-CD5C5361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24075"/>
            <a:ext cx="8334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实际任务 O009：出发推迟15秒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F73C42-AA00-4DD4-B00B-66495F06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146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CBC364-888C-4947-98DD-6D43B15D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81325"/>
            <a:ext cx="0" cy="3190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DF0"/>
            </a:solidFill>
          </a:ln>
        </p:spPr>
      </p:sp>
      <p:sp>
        <p:nvSpPr>
          <p:cNvPr id="14" name="380">
            <a:extLst xmlns:a="http://schemas.openxmlformats.org/drawingml/2006/main">
              <a:ext uri="{FF2B5EF4-FFF2-40B4-BE49-F238E27FC236}">
                <a16:creationId xmlns:a16="http://schemas.microsoft.com/office/drawing/2014/main" id="{D6D3C588-A074-4DA4-95CC-1BE46A21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6400800"/>
            <a:ext cx="666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380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FDB289-5F8C-4AD6-A86E-4E706E22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146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A14868-A7CE-456A-8B95-F3FDB885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81325"/>
            <a:ext cx="0" cy="3190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DF0"/>
            </a:solidFill>
          </a:ln>
        </p:spPr>
      </p:sp>
      <p:sp>
        <p:nvSpPr>
          <p:cNvPr id="17" name="400">
            <a:extLst xmlns:a="http://schemas.openxmlformats.org/drawingml/2006/main">
              <a:ext uri="{FF2B5EF4-FFF2-40B4-BE49-F238E27FC236}">
                <a16:creationId xmlns:a16="http://schemas.microsoft.com/office/drawing/2014/main" id="{01567ADB-936D-4BB7-8B50-C7FDD7CC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400800"/>
            <a:ext cx="666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400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702D5F-7ACA-4029-9F46-98BAB9E5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9146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B4F7E9-4503-47F8-A76D-43B462EA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981325"/>
            <a:ext cx="0" cy="3190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DF0"/>
            </a:solidFill>
          </a:ln>
        </p:spPr>
      </p:sp>
      <p:sp>
        <p:nvSpPr>
          <p:cNvPr id="20" name="420">
            <a:extLst xmlns:a="http://schemas.openxmlformats.org/drawingml/2006/main">
              <a:ext uri="{FF2B5EF4-FFF2-40B4-BE49-F238E27FC236}">
                <a16:creationId xmlns:a16="http://schemas.microsoft.com/office/drawing/2014/main" id="{E095FB63-B245-4CBA-87E0-6351A824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6400800"/>
            <a:ext cx="666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420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E3A6FA-1C97-4FFD-A64B-8F64C6E2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9146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9E6719-87D9-4620-9CDF-B6930A2D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981325"/>
            <a:ext cx="0" cy="3190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DF0"/>
            </a:solidFill>
          </a:ln>
        </p:spPr>
      </p:sp>
      <p:sp>
        <p:nvSpPr>
          <p:cNvPr id="23" name="440">
            <a:extLst xmlns:a="http://schemas.openxmlformats.org/drawingml/2006/main">
              <a:ext uri="{FF2B5EF4-FFF2-40B4-BE49-F238E27FC236}">
                <a16:creationId xmlns:a16="http://schemas.microsoft.com/office/drawing/2014/main" id="{F6C043D6-D703-4AF5-AE89-800A9B68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2475" y="6400800"/>
            <a:ext cx="666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440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8325AB-31B8-46E0-ACFA-C88FEF83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9146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3C2292-7CEE-4E37-9334-36C91367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981325"/>
            <a:ext cx="0" cy="3190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DF0"/>
            </a:solidFill>
          </a:ln>
        </p:spPr>
      </p:sp>
      <p:sp>
        <p:nvSpPr>
          <p:cNvPr id="26" name="460">
            <a:extLst xmlns:a="http://schemas.openxmlformats.org/drawingml/2006/main">
              <a:ext uri="{FF2B5EF4-FFF2-40B4-BE49-F238E27FC236}">
                <a16:creationId xmlns:a16="http://schemas.microsoft.com/office/drawing/2014/main" id="{31178854-E32C-4F5E-B752-DEF9B3A5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6400800"/>
            <a:ext cx="666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460</a:t>
            </a:r>
          </a:p>
        </p:txBody>
      </p:sp>
      <p:sp>
        <p:nvSpPr>
          <p:cNvPr id="27" name="基线">
            <a:extLst xmlns:a="http://schemas.openxmlformats.org/drawingml/2006/main">
              <a:ext uri="{FF2B5EF4-FFF2-40B4-BE49-F238E27FC236}">
                <a16:creationId xmlns:a16="http://schemas.microsoft.com/office/drawing/2014/main" id="{A1C29685-96EF-46FD-8C1F-72EEE9CF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57575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基线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DA3E0B-01DB-42D6-B072-8BC3E90C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33750"/>
            <a:ext cx="1314962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A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去程">
            <a:extLst xmlns:a="http://schemas.openxmlformats.org/drawingml/2006/main">
              <a:ext uri="{FF2B5EF4-FFF2-40B4-BE49-F238E27FC236}">
                <a16:creationId xmlns:a16="http://schemas.microsoft.com/office/drawing/2014/main" id="{91F61EBE-FE2A-43EC-A89C-2254BAD3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33775"/>
            <a:ext cx="131496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去程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57C3BF-6E21-40D8-8E2E-D133BCDC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5012" y="3333750"/>
            <a:ext cx="1714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A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配送">
            <a:extLst xmlns:a="http://schemas.openxmlformats.org/drawingml/2006/main">
              <a:ext uri="{FF2B5EF4-FFF2-40B4-BE49-F238E27FC236}">
                <a16:creationId xmlns:a16="http://schemas.microsoft.com/office/drawing/2014/main" id="{CF95A24B-4EF3-4668-BD3E-9743AFF4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5012" y="35337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配送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515395-0E5F-47F9-833E-B0E9E17A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512" y="3333750"/>
            <a:ext cx="1314962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A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返程">
            <a:extLst xmlns:a="http://schemas.openxmlformats.org/drawingml/2006/main">
              <a:ext uri="{FF2B5EF4-FFF2-40B4-BE49-F238E27FC236}">
                <a16:creationId xmlns:a16="http://schemas.microsoft.com/office/drawing/2014/main" id="{8B88C141-7C7F-4C84-860D-61F56A9B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512" y="3533775"/>
            <a:ext cx="131496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返程</a:t>
            </a:r>
          </a:p>
        </p:txBody>
      </p:sp>
      <p:sp>
        <p:nvSpPr>
          <p:cNvPr id="34" name="出发 388 s">
            <a:extLst xmlns:a="http://schemas.openxmlformats.org/drawingml/2006/main">
              <a:ext uri="{FF2B5EF4-FFF2-40B4-BE49-F238E27FC236}">
                <a16:creationId xmlns:a16="http://schemas.microsoft.com/office/drawing/2014/main" id="{4A0D687E-AA32-4D54-90D4-A3F57EEE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8956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出发 388 s</a:t>
            </a:r>
          </a:p>
        </p:txBody>
      </p:sp>
      <p:sp>
        <p:nvSpPr>
          <p:cNvPr id="35" name="错峰">
            <a:extLst xmlns:a="http://schemas.openxmlformats.org/drawingml/2006/main">
              <a:ext uri="{FF2B5EF4-FFF2-40B4-BE49-F238E27FC236}">
                <a16:creationId xmlns:a16="http://schemas.microsoft.com/office/drawing/2014/main" id="{215CEF24-60CF-479A-8723-2BE4EC66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133975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错峰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2E5E5C-A4CF-4049-A8B9-64F0FB64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5010150"/>
            <a:ext cx="1314962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去程">
            <a:extLst xmlns:a="http://schemas.openxmlformats.org/drawingml/2006/main">
              <a:ext uri="{FF2B5EF4-FFF2-40B4-BE49-F238E27FC236}">
                <a16:creationId xmlns:a16="http://schemas.microsoft.com/office/drawing/2014/main" id="{D8047FC3-93B2-4993-9560-768FD399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5210175"/>
            <a:ext cx="131496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去程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4FD209-B2AC-4226-982A-42D9B279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887" y="5010150"/>
            <a:ext cx="1714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3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配送">
            <a:extLst xmlns:a="http://schemas.openxmlformats.org/drawingml/2006/main">
              <a:ext uri="{FF2B5EF4-FFF2-40B4-BE49-F238E27FC236}">
                <a16:creationId xmlns:a16="http://schemas.microsoft.com/office/drawing/2014/main" id="{D6AAD2F2-DCC5-411A-8173-E5EE3966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887" y="52101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配送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03F9C7-C44F-45E2-A050-DD3DDA73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5387" y="5010150"/>
            <a:ext cx="1314962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3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返程">
            <a:extLst xmlns:a="http://schemas.openxmlformats.org/drawingml/2006/main">
              <a:ext uri="{FF2B5EF4-FFF2-40B4-BE49-F238E27FC236}">
                <a16:creationId xmlns:a16="http://schemas.microsoft.com/office/drawing/2014/main" id="{70A6B9BF-75F4-43BC-BDCD-F6800FF8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5387" y="5210175"/>
            <a:ext cx="131496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返程</a:t>
            </a:r>
          </a:p>
        </p:txBody>
      </p:sp>
      <p:sp>
        <p:nvSpPr>
          <p:cNvPr id="42" name="出发 403 s">
            <a:extLst xmlns:a="http://schemas.openxmlformats.org/drawingml/2006/main">
              <a:ext uri="{FF2B5EF4-FFF2-40B4-BE49-F238E27FC236}">
                <a16:creationId xmlns:a16="http://schemas.microsoft.com/office/drawing/2014/main" id="{97ABAD84-E0D0-4115-8ECA-F7624457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72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出发 403 s</a:t>
            </a:r>
          </a:p>
        </p:txBody>
      </p:sp>
      <p:sp>
        <p:nvSpPr>
          <p:cNvPr id="43" name="仿真时间 / s">
            <a:extLst xmlns:a="http://schemas.openxmlformats.org/drawingml/2006/main">
              <a:ext uri="{FF2B5EF4-FFF2-40B4-BE49-F238E27FC236}">
                <a16:creationId xmlns:a16="http://schemas.microsoft.com/office/drawing/2014/main" id="{237141E9-0B67-4C7D-B95E-7DB0AE84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7019925"/>
            <a:ext cx="238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7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仿真时间 / s</a:t>
            </a:r>
          </a:p>
        </p:txBody>
      </p:sp>
    </p:spTree>
    <p:extLst>
      <p:ext uri="{BB962C8B-B14F-4D97-AF65-F5344CB8AC3E}">
        <p14:creationId xmlns:p14="http://schemas.microsoft.com/office/powerpoint/2010/main" val="6669601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实验设计与评价口径">
            <a:extLst xmlns:a="http://schemas.openxmlformats.org/drawingml/2006/main">
              <a:ext uri="{FF2B5EF4-FFF2-40B4-BE49-F238E27FC236}">
                <a16:creationId xmlns:a16="http://schemas.microsoft.com/office/drawing/2014/main" id="{689E53D2-A8B1-4EEC-9602-B3BF70C9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实验设计与评价口径</a:t>
            </a:r>
          </a:p>
        </p:txBody>
      </p:sp>
      <p:sp>
        <p:nvSpPr>
          <p:cNvPr id="2" name="每一组调度比较共享订单、布局、航路和服务参数">
            <a:extLst xmlns:a="http://schemas.openxmlformats.org/drawingml/2006/main">
              <a:ext uri="{FF2B5EF4-FFF2-40B4-BE49-F238E27FC236}">
                <a16:creationId xmlns:a16="http://schemas.microsoft.com/office/drawing/2014/main" id="{818C6001-A4AB-43CF-A61E-B1C68191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333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每一组调度比较共享订单、布局、航路和服务参数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25A29-67BA-443D-9D5B-AB22D5CD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4" name="自建模拟园区960×640 m。5个评价种子为20261">
            <a:extLst xmlns:a="http://schemas.openxmlformats.org/drawingml/2006/main">
              <a:ext uri="{FF2B5EF4-FFF2-40B4-BE49-F238E27FC236}">
                <a16:creationId xmlns:a16="http://schemas.microsoft.com/office/drawing/2014/main" id="{378C114C-873E-4376-A7F0-33CA3FC9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391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自建模拟园区960×640 m。5个评价种子为20261015至20261019，仅表示随机流编号</a:t>
            </a:r>
          </a:p>
        </p:txBody>
      </p:sp>
      <p:sp>
        <p:nvSpPr>
          <p:cNvPr id="5" name="09">
            <a:extLst xmlns:a="http://schemas.openxmlformats.org/drawingml/2006/main">
              <a:ext uri="{FF2B5EF4-FFF2-40B4-BE49-F238E27FC236}">
                <a16:creationId xmlns:a16="http://schemas.microsoft.com/office/drawing/2014/main" id="{8553F307-C34B-4E4E-853B-50133AF1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90">
            <a:extLst xmlns:a="http://schemas.openxmlformats.org/drawingml/2006/main">
              <a:ext uri="{FF2B5EF4-FFF2-40B4-BE49-F238E27FC236}">
                <a16:creationId xmlns:a16="http://schemas.microsoft.com/office/drawing/2014/main" id="{9094850B-7906-4812-A3DA-47463C7C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05025"/>
            <a:ext cx="3810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7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7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7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90</a:t>
            </a:r>
          </a:p>
        </p:txBody>
      </p:sp>
      <p:sp>
        <p:nvSpPr>
          <p:cNvPr id="7" name="条方案运行指标">
            <a:extLst xmlns:a="http://schemas.openxmlformats.org/drawingml/2006/main">
              <a:ext uri="{FF2B5EF4-FFF2-40B4-BE49-F238E27FC236}">
                <a16:creationId xmlns:a16="http://schemas.microsoft.com/office/drawing/2014/main" id="{332F5462-E859-44E5-B79C-0B136BA3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条方案运行指标</a:t>
            </a:r>
          </a:p>
        </p:txBody>
      </p:sp>
      <p:sp>
        <p:nvSpPr>
          <p:cNvPr id="8" name="45">
            <a:extLst xmlns:a="http://schemas.openxmlformats.org/drawingml/2006/main">
              <a:ext uri="{FF2B5EF4-FFF2-40B4-BE49-F238E27FC236}">
                <a16:creationId xmlns:a16="http://schemas.microsoft.com/office/drawing/2014/main" id="{7685FE26-51C0-4524-8A78-17014A88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43425"/>
            <a:ext cx="3810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70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70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70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9" name="组基线与错峰配对">
            <a:extLst xmlns:a="http://schemas.openxmlformats.org/drawingml/2006/main">
              <a:ext uri="{FF2B5EF4-FFF2-40B4-BE49-F238E27FC236}">
                <a16:creationId xmlns:a16="http://schemas.microsoft.com/office/drawing/2014/main" id="{E7A10F98-7AEB-47AE-8FC5-E6FDAEF3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02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组基线与错峰配对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CAED0E-80CA-45EF-8F42-21023A82A61B}"/>
              </a:ext>
            </a:extLst>
          </p:cNvPr>
          <p:cNvGraphicFramePr/>
          <p:nvPr/>
        </p:nvGraphicFramePr>
        <p:xfrm>
          <a:off xmlns:a="http://schemas.openxmlformats.org/drawingml/2006/main" x="6048375" y="2200275"/>
          <a:ext xmlns:a="http://schemas.openxmlformats.org/drawingml/2006/main" cx="8410575" cy="3152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57575"/>
                <a:gridCol w="2286000"/>
                <a:gridCol w="2667000"/>
              </a:tblGrid>
              <a:tr h="788194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102A56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订单数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102A56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到达窗口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102A56"/>
                    </a:solidFill>
                  </a:tcPr>
                </a:tc>
              </a:tr>
              <a:tr h="788194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正常配送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30单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1200 s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788194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高峰订单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60单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800 s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8194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固定局部关闭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30单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1200 s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11" name="3种场景 × 5个种子 × 3种布局 × 2种调度">
            <a:extLst xmlns:a="http://schemas.openxmlformats.org/drawingml/2006/main">
              <a:ext uri="{FF2B5EF4-FFF2-40B4-BE49-F238E27FC236}">
                <a16:creationId xmlns:a16="http://schemas.microsoft.com/office/drawing/2014/main" id="{47B07D69-2ED9-4D63-8AB0-026132FD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19775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3种场景 × 5个种子 × 3种布局 × 2种调度</a:t>
            </a:r>
          </a:p>
        </p:txBody>
      </p:sp>
      <p:sp>
        <p:nvSpPr>
          <p:cNvPr id="12" name="主要指标：配送时间、路径暴露、准时率、&#10;完成率，以及间距">
            <a:extLst xmlns:a="http://schemas.openxmlformats.org/drawingml/2006/main">
              <a:ext uri="{FF2B5EF4-FFF2-40B4-BE49-F238E27FC236}">
                <a16:creationId xmlns:a16="http://schemas.microsoft.com/office/drawing/2014/main" id="{2A78F5AF-58F4-42A4-9766-F01CEB41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553200"/>
            <a:ext cx="83820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主要指标：配送时间、路径暴露、准时率、</a:t>
            </a:r>
          </a:p>
          <a:p xmlns:a="http://schemas.openxmlformats.org/drawingml/2006/main">
            <a:pPr algn="l">
              <a:defRPr sz="21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完成率，以及间距不足事件。</a:t>
            </a:r>
          </a:p>
        </p:txBody>
      </p:sp>
    </p:spTree>
    <p:extLst>
      <p:ext uri="{BB962C8B-B14F-4D97-AF65-F5344CB8AC3E}">
        <p14:creationId xmlns:p14="http://schemas.microsoft.com/office/powerpoint/2010/main" val="5331981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本次实验错峰后间距不足归零，配送时间增加">
            <a:extLst xmlns:a="http://schemas.openxmlformats.org/drawingml/2006/main">
              <a:ext uri="{FF2B5EF4-FFF2-40B4-BE49-F238E27FC236}">
                <a16:creationId xmlns:a16="http://schemas.microsoft.com/office/drawing/2014/main" id="{E9D2215D-2CA4-4EA0-B59F-97B9FBB8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本次实验错峰后间距不足归零，配送时间增加</a:t>
            </a:r>
          </a:p>
        </p:txBody>
      </p:sp>
      <p:sp>
        <p:nvSpPr>
          <p:cNvPr id="2" name="左图为综合风险布局的五种子均值，右侧为全部45组配对汇总">
            <a:extLst xmlns:a="http://schemas.openxmlformats.org/drawingml/2006/main">
              <a:ext uri="{FF2B5EF4-FFF2-40B4-BE49-F238E27FC236}">
                <a16:creationId xmlns:a16="http://schemas.microsoft.com/office/drawing/2014/main" id="{89446FF2-A680-4AB5-988E-85CDB961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333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左图为综合风险布局的五种子均值，右侧为全部45组配对汇总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0AF46-C1A3-4B78-B41C-8D7E06B4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4" name="间距不足指模型中距离严格小于20 m的连续接近事件，零事">
            <a:extLst xmlns:a="http://schemas.openxmlformats.org/drawingml/2006/main">
              <a:ext uri="{FF2B5EF4-FFF2-40B4-BE49-F238E27FC236}">
                <a16:creationId xmlns:a16="http://schemas.microsoft.com/office/drawing/2014/main" id="{ED260CE7-88D7-4207-AD9C-D78EFBBD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391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间距不足指模型中距离严格小于20 m的连续接近事件，零事件不等于真实飞行安全保证</a:t>
            </a:r>
          </a:p>
        </p:txBody>
      </p:sp>
      <p:sp>
        <p:nvSpPr>
          <p:cNvPr id="5" name="10">
            <a:extLst xmlns:a="http://schemas.openxmlformats.org/drawingml/2006/main">
              <a:ext uri="{FF2B5EF4-FFF2-40B4-BE49-F238E27FC236}">
                <a16:creationId xmlns:a16="http://schemas.microsoft.com/office/drawing/2014/main" id="{E994C18B-F717-4C0C-8952-A617A403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间距不足事件 / 次">
            <a:extLst xmlns:a="http://schemas.openxmlformats.org/drawingml/2006/main">
              <a:ext uri="{FF2B5EF4-FFF2-40B4-BE49-F238E27FC236}">
                <a16:creationId xmlns:a16="http://schemas.microsoft.com/office/drawing/2014/main" id="{6EBBC883-0CFC-412D-BF43-5B674604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1455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间距不足事件 / 次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5E1FC2BA-A588-4CF0-ABA4-FC61EBEE7242}"/>
              </a:ext>
            </a:extLst>
          </p:cNvPr>
          <p:cNvGraphicFramePr/>
          <p:nvPr/>
        </p:nvGraphicFramePr>
        <p:xfrm>
          <a:off xmlns:a="http://schemas.openxmlformats.org/drawingml/2006/main" x="704850" y="2838450"/>
          <a:ext xmlns:a="http://schemas.openxmlformats.org/drawingml/2006/main" cx="8763000" cy="4514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29bf919f09444ca"/>
          </a:graphicData>
        </a:graphic>
      </p:graphicFrame>
      <p:sp>
        <p:nvSpPr>
          <p:cNvPr id="8" name="700 / 0">
            <a:extLst xmlns:a="http://schemas.openxmlformats.org/drawingml/2006/main">
              <a:ext uri="{FF2B5EF4-FFF2-40B4-BE49-F238E27FC236}">
                <a16:creationId xmlns:a16="http://schemas.microsoft.com/office/drawing/2014/main" id="{B390DFBE-2E00-40FA-AA9C-876C05C4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114550"/>
            <a:ext cx="44577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700 / 0</a:t>
            </a:r>
          </a:p>
        </p:txBody>
      </p:sp>
      <p:sp>
        <p:nvSpPr>
          <p:cNvPr id="9" name="基线 / 错峰的事件合计">
            <a:extLst xmlns:a="http://schemas.openxmlformats.org/drawingml/2006/main">
              <a:ext uri="{FF2B5EF4-FFF2-40B4-BE49-F238E27FC236}">
                <a16:creationId xmlns:a16="http://schemas.microsoft.com/office/drawing/2014/main" id="{210E6155-2B7B-4A2E-9C32-60D8FE5C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3528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基线 / 错峰的事件合计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39F8C5-6224-48BC-8DCC-7ABB1AAC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095750"/>
            <a:ext cx="442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11" name="+35.53 s">
            <a:extLst xmlns:a="http://schemas.openxmlformats.org/drawingml/2006/main">
              <a:ext uri="{FF2B5EF4-FFF2-40B4-BE49-F238E27FC236}">
                <a16:creationId xmlns:a16="http://schemas.microsoft.com/office/drawing/2014/main" id="{6D03E339-AA32-47A2-8D87-99096B7C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51485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+35.53 s</a:t>
            </a:r>
          </a:p>
        </p:txBody>
      </p:sp>
      <p:sp>
        <p:nvSpPr>
          <p:cNvPr id="12" name="平均配送时间的增加量">
            <a:extLst xmlns:a="http://schemas.openxmlformats.org/drawingml/2006/main">
              <a:ext uri="{FF2B5EF4-FFF2-40B4-BE49-F238E27FC236}">
                <a16:creationId xmlns:a16="http://schemas.microsoft.com/office/drawing/2014/main" id="{DE910FA9-9233-482D-A13A-8A5FD255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648325"/>
            <a:ext cx="447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平均配送时间的增加量</a:t>
            </a:r>
          </a:p>
        </p:txBody>
      </p:sp>
      <p:sp>
        <p:nvSpPr>
          <p:cNvPr id="13" name="按45组运行等权计算。&#10;两种调度均无失败订单。">
            <a:extLst xmlns:a="http://schemas.openxmlformats.org/drawingml/2006/main">
              <a:ext uri="{FF2B5EF4-FFF2-40B4-BE49-F238E27FC236}">
                <a16:creationId xmlns:a16="http://schemas.microsoft.com/office/drawing/2014/main" id="{2D450CC3-9E1E-4501-93AB-727F4A8A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6486525"/>
            <a:ext cx="44386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按45组运行等权计算。</a:t>
            </a:r>
          </a:p>
          <a:p xmlns:a="http://schemas.openxmlformats.org/drawingml/2006/main">
            <a:pPr algn="l">
              <a:defRPr sz="19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两种调度均无失败订单。</a:t>
            </a:r>
          </a:p>
        </p:txBody>
      </p:sp>
    </p:spTree>
    <p:extLst>
      <p:ext uri="{BB962C8B-B14F-4D97-AF65-F5344CB8AC3E}">
        <p14:creationId xmlns:p14="http://schemas.microsoft.com/office/powerpoint/2010/main" val="17104951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综合风险布局降低路径暴露，同时增加配送时间">
            <a:extLst xmlns:a="http://schemas.openxmlformats.org/drawingml/2006/main">
              <a:ext uri="{FF2B5EF4-FFF2-40B4-BE49-F238E27FC236}">
                <a16:creationId xmlns:a16="http://schemas.microsoft.com/office/drawing/2014/main" id="{9A33614C-E6FC-43CE-9D0C-1BBD7BD9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综合风险布局降低路径暴露，同时增加配送时间</a:t>
            </a:r>
          </a:p>
        </p:txBody>
      </p:sp>
      <p:sp>
        <p:nvSpPr>
          <p:cNvPr id="2" name="正常场景，启用错峰，三种布局均为五个评价种子的均值">
            <a:extLst xmlns:a="http://schemas.openxmlformats.org/drawingml/2006/main">
              <a:ext uri="{FF2B5EF4-FFF2-40B4-BE49-F238E27FC236}">
                <a16:creationId xmlns:a16="http://schemas.microsoft.com/office/drawing/2014/main" id="{D8D823E5-AB36-4552-89E4-CDC48F12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333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正常场景，启用错峰，三种布局均为五个评价种子的均值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1E984-AEC4-4C29-9172-AEFD55DF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4" name="相对距离优先布局比较。所有布局共用风险加权航路，结论限于">
            <a:extLst xmlns:a="http://schemas.openxmlformats.org/drawingml/2006/main">
              <a:ext uri="{FF2B5EF4-FFF2-40B4-BE49-F238E27FC236}">
                <a16:creationId xmlns:a16="http://schemas.microsoft.com/office/drawing/2014/main" id="{35D0B994-F336-4533-B851-315D903B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391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相对距离优先布局比较。所有布局共用风险加权航路，结论限于本地图与研究参数</a:t>
            </a:r>
          </a:p>
        </p:txBody>
      </p:sp>
      <p:sp>
        <p:nvSpPr>
          <p:cNvPr id="5" name="11">
            <a:extLst xmlns:a="http://schemas.openxmlformats.org/drawingml/2006/main">
              <a:ext uri="{FF2B5EF4-FFF2-40B4-BE49-F238E27FC236}">
                <a16:creationId xmlns:a16="http://schemas.microsoft.com/office/drawing/2014/main" id="{9584F615-26E0-4A8F-B47F-FF7B8928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每单路径暴露指数">
            <a:extLst xmlns:a="http://schemas.openxmlformats.org/drawingml/2006/main">
              <a:ext uri="{FF2B5EF4-FFF2-40B4-BE49-F238E27FC236}">
                <a16:creationId xmlns:a16="http://schemas.microsoft.com/office/drawing/2014/main" id="{DF0A00D9-9549-4ADA-B6F7-CFE68DB5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05025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每单路径暴露指数</a:t>
            </a:r>
          </a:p>
        </p:txBody>
      </p:sp>
      <p:sp>
        <p:nvSpPr>
          <p:cNvPr id="7" name="平均配送时间 / s">
            <a:extLst xmlns:a="http://schemas.openxmlformats.org/drawingml/2006/main">
              <a:ext uri="{FF2B5EF4-FFF2-40B4-BE49-F238E27FC236}">
                <a16:creationId xmlns:a16="http://schemas.microsoft.com/office/drawing/2014/main" id="{AEAAC9EC-D0AD-49E4-B345-1E352AD4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05025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平均配送时间 / s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FB22DE20-2886-4B6D-9100-C064F50D3CC1}"/>
              </a:ext>
            </a:extLst>
          </p:cNvPr>
          <p:cNvGraphicFramePr/>
          <p:nvPr/>
        </p:nvGraphicFramePr>
        <p:xfrm>
          <a:off xmlns:a="http://schemas.openxmlformats.org/drawingml/2006/main" x="600075" y="2828925"/>
          <a:ext xmlns:a="http://schemas.openxmlformats.org/drawingml/2006/main" cx="6762750" cy="3267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50e820ca5614e3f"/>
          </a:graphicData>
        </a:graphic>
      </p:graphicFrame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9BBE915A-DE7B-48F7-946B-5D30040E1553}"/>
              </a:ext>
            </a:extLst>
          </p:cNvPr>
          <p:cNvGraphicFramePr/>
          <p:nvPr/>
        </p:nvGraphicFramePr>
        <p:xfrm>
          <a:off xmlns:a="http://schemas.openxmlformats.org/drawingml/2006/main" x="7715250" y="2828925"/>
          <a:ext xmlns:a="http://schemas.openxmlformats.org/drawingml/2006/main" cx="6762750" cy="3267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410650edd846bf"/>
          </a:graphicData>
        </a:graphic>
      </p:graphicFrame>
      <p:sp>
        <p:nvSpPr>
          <p:cNvPr id="10" name="降低22.3%">
            <a:extLst xmlns:a="http://schemas.openxmlformats.org/drawingml/2006/main">
              <a:ext uri="{FF2B5EF4-FFF2-40B4-BE49-F238E27FC236}">
                <a16:creationId xmlns:a16="http://schemas.microsoft.com/office/drawing/2014/main" id="{F06968FB-2D38-40E4-AF26-EF6D9BEA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77000"/>
            <a:ext cx="6286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降低22.3%</a:t>
            </a:r>
          </a:p>
        </p:txBody>
      </p:sp>
      <p:sp>
        <p:nvSpPr>
          <p:cNvPr id="11" name="路径暴露：1.093降至0.849">
            <a:extLst xmlns:a="http://schemas.openxmlformats.org/drawingml/2006/main">
              <a:ext uri="{FF2B5EF4-FFF2-40B4-BE49-F238E27FC236}">
                <a16:creationId xmlns:a16="http://schemas.microsoft.com/office/drawing/2014/main" id="{F969D1CB-E29D-49EC-8C6F-574E7206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48525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路径暴露：1.093降至0.849</a:t>
            </a:r>
          </a:p>
        </p:txBody>
      </p:sp>
      <p:sp>
        <p:nvSpPr>
          <p:cNvPr id="12" name="增加13.44秒">
            <a:extLst xmlns:a="http://schemas.openxmlformats.org/drawingml/2006/main">
              <a:ext uri="{FF2B5EF4-FFF2-40B4-BE49-F238E27FC236}">
                <a16:creationId xmlns:a16="http://schemas.microsoft.com/office/drawing/2014/main" id="{2A4AA5AB-07C1-42BB-86A7-DCC56E50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6477000"/>
            <a:ext cx="6477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增加13.44秒</a:t>
            </a:r>
          </a:p>
        </p:txBody>
      </p:sp>
      <p:sp>
        <p:nvSpPr>
          <p:cNvPr id="13" name="配送时间：123.71增至137.15秒">
            <a:extLst xmlns:a="http://schemas.openxmlformats.org/drawingml/2006/main">
              <a:ext uri="{FF2B5EF4-FFF2-40B4-BE49-F238E27FC236}">
                <a16:creationId xmlns:a16="http://schemas.microsoft.com/office/drawing/2014/main" id="{D56DDFDA-196A-4111-8795-19DE7812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7248525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配送时间：123.71增至137.15秒</a:t>
            </a:r>
          </a:p>
        </p:txBody>
      </p:sp>
    </p:spTree>
    <p:extLst>
      <p:ext uri="{BB962C8B-B14F-4D97-AF65-F5344CB8AC3E}">
        <p14:creationId xmlns:p14="http://schemas.microsoft.com/office/powerpoint/2010/main" val="3199968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本机实测：120单完整计算中位数约5.17秒">
            <a:extLst xmlns:a="http://schemas.openxmlformats.org/drawingml/2006/main">
              <a:ext uri="{FF2B5EF4-FFF2-40B4-BE49-F238E27FC236}">
                <a16:creationId xmlns:a16="http://schemas.microsoft.com/office/drawing/2014/main" id="{EE77A820-F26D-4D1C-847A-930FB2EF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本机实测：120单完整计算中位数约5.17秒</a:t>
            </a:r>
          </a:p>
        </p:txBody>
      </p:sp>
      <p:sp>
        <p:nvSpPr>
          <p:cNvPr id="2" name="同一模拟园区，逐次执行路径生成、28组选址与三布局评价">
            <a:extLst xmlns:a="http://schemas.openxmlformats.org/drawingml/2006/main">
              <a:ext uri="{FF2B5EF4-FFF2-40B4-BE49-F238E27FC236}">
                <a16:creationId xmlns:a16="http://schemas.microsoft.com/office/drawing/2014/main" id="{25D42B9F-3D09-45AC-83F9-81B93107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333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同一模拟园区，逐次执行路径生成、28组选址与三布局评价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EC84AB-8B2F-447A-86B0-B7497C01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4" name="Windows 11 / Core Ultra 5 22">
            <a:extLst xmlns:a="http://schemas.openxmlformats.org/drawingml/2006/main">
              <a:ext uri="{FF2B5EF4-FFF2-40B4-BE49-F238E27FC236}">
                <a16:creationId xmlns:a16="http://schemas.microsoft.com/office/drawing/2014/main" id="{921D2780-B70E-45CF-99B2-1FD4DFE8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391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Windows 11 / Core Ultra 5 225H / Python 3.12.14；每档3次，预热1次，计时排除界面和导出</a:t>
            </a:r>
          </a:p>
        </p:txBody>
      </p:sp>
      <p:sp>
        <p:nvSpPr>
          <p:cNvPr id="5" name="16">
            <a:extLst xmlns:a="http://schemas.openxmlformats.org/drawingml/2006/main">
              <a:ext uri="{FF2B5EF4-FFF2-40B4-BE49-F238E27FC236}">
                <a16:creationId xmlns:a16="http://schemas.microsoft.com/office/drawing/2014/main" id="{7C4730CA-C8A7-45AC-8EB4-0DE39A4F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完整计算耗时 / s">
            <a:extLst xmlns:a="http://schemas.openxmlformats.org/drawingml/2006/main">
              <a:ext uri="{FF2B5EF4-FFF2-40B4-BE49-F238E27FC236}">
                <a16:creationId xmlns:a16="http://schemas.microsoft.com/office/drawing/2014/main" id="{1CCF1B15-0101-47A0-B45A-9F57EB0D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完整计算耗时 / s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6D86B336-7B9C-4BCE-9EF6-D09236ADBC00}"/>
              </a:ext>
            </a:extLst>
          </p:cNvPr>
          <p:cNvGraphicFramePr/>
          <p:nvPr/>
        </p:nvGraphicFramePr>
        <p:xfrm>
          <a:off xmlns:a="http://schemas.openxmlformats.org/drawingml/2006/main" x="666750" y="2895600"/>
          <a:ext xmlns:a="http://schemas.openxmlformats.org/drawingml/2006/main" cx="8572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d805727fba4f58"/>
          </a:graphicData>
        </a:graphic>
      </p:graphicFrame>
      <p:sp>
        <p:nvSpPr>
          <p:cNvPr id="8" name="3.41 s">
            <a:extLst xmlns:a="http://schemas.openxmlformats.org/drawingml/2006/main">
              <a:ext uri="{FF2B5EF4-FFF2-40B4-BE49-F238E27FC236}">
                <a16:creationId xmlns:a16="http://schemas.microsoft.com/office/drawing/2014/main" id="{6174AAB4-C4E1-401E-AFED-4901D1FB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52650"/>
            <a:ext cx="43815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1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1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3.41 s</a:t>
            </a:r>
          </a:p>
        </p:txBody>
      </p:sp>
      <p:sp>
        <p:nvSpPr>
          <p:cNvPr id="9" name="30单的完整计算中位数">
            <a:extLst xmlns:a="http://schemas.openxmlformats.org/drawingml/2006/main">
              <a:ext uri="{FF2B5EF4-FFF2-40B4-BE49-F238E27FC236}">
                <a16:creationId xmlns:a16="http://schemas.microsoft.com/office/drawing/2014/main" id="{0FFDFCCD-DDB1-4535-ACD7-1920DC67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314700"/>
            <a:ext cx="433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30单的完整计算中位数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E6D322-4288-4308-B8DF-ED25204F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09575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11" name="0.77 s">
            <a:extLst xmlns:a="http://schemas.openxmlformats.org/drawingml/2006/main">
              <a:ext uri="{FF2B5EF4-FFF2-40B4-BE49-F238E27FC236}">
                <a16:creationId xmlns:a16="http://schemas.microsoft.com/office/drawing/2014/main" id="{5535E8B9-B642-4CB8-9911-CC6FC5FB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86275"/>
            <a:ext cx="43815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1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1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0.77 s</a:t>
            </a:r>
          </a:p>
        </p:txBody>
      </p:sp>
      <p:sp>
        <p:nvSpPr>
          <p:cNvPr id="12" name="120单复用设计后的评价中位数">
            <a:extLst xmlns:a="http://schemas.openxmlformats.org/drawingml/2006/main">
              <a:ext uri="{FF2B5EF4-FFF2-40B4-BE49-F238E27FC236}">
                <a16:creationId xmlns:a16="http://schemas.microsoft.com/office/drawing/2014/main" id="{704F5D37-3A4B-43D0-BD77-2E469E62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667375"/>
            <a:ext cx="4333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120单复用设计后的评价中位数</a:t>
            </a:r>
          </a:p>
        </p:txBody>
      </p:sp>
      <p:sp>
        <p:nvSpPr>
          <p:cNvPr id="13" name="各档订单均在1200秒窗口内到达，&#10;此处60单不等同于前">
            <a:extLst xmlns:a="http://schemas.openxmlformats.org/drawingml/2006/main">
              <a:ext uri="{FF2B5EF4-FFF2-40B4-BE49-F238E27FC236}">
                <a16:creationId xmlns:a16="http://schemas.microsoft.com/office/drawing/2014/main" id="{E678A56C-183F-4E16-BF75-102C539F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24700"/>
            <a:ext cx="13430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各档订单均在1200秒窗口内到达，</a:t>
            </a:r>
          </a:p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此处60单不等同于前述高峰场景。</a:t>
            </a:r>
          </a:p>
        </p:txBody>
      </p:sp>
    </p:spTree>
    <p:extLst>
      <p:ext uri="{BB962C8B-B14F-4D97-AF65-F5344CB8AC3E}">
        <p14:creationId xmlns:p14="http://schemas.microsoft.com/office/powerpoint/2010/main" val="206270868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输入不完整与调度失败都有明确反馈">
            <a:extLst xmlns:a="http://schemas.openxmlformats.org/drawingml/2006/main">
              <a:ext uri="{FF2B5EF4-FFF2-40B4-BE49-F238E27FC236}">
                <a16:creationId xmlns:a16="http://schemas.microsoft.com/office/drawing/2014/main" id="{87868ADA-EB28-4B21-8E36-E5F871B7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输入不完整与调度失败都有明确反馈</a:t>
            </a:r>
          </a:p>
        </p:txBody>
      </p:sp>
      <p:sp>
        <p:nvSpPr>
          <p:cNvPr id="2" name="实际调用校验与仿真接口，保留错误信息和失败类型">
            <a:extLst xmlns:a="http://schemas.openxmlformats.org/drawingml/2006/main">
              <a:ext uri="{FF2B5EF4-FFF2-40B4-BE49-F238E27FC236}">
                <a16:creationId xmlns:a16="http://schemas.microsoft.com/office/drawing/2014/main" id="{04A5CB06-E502-4456-AC95-F45D8DE8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333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实际调用校验与仿真接口，保留错误信息和失败类型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6541A-23DA-494C-AA60-5464846F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4" name="前3项阻止进入计算；后2项通过构造场景触发，属于接口验证">
            <a:extLst xmlns:a="http://schemas.openxmlformats.org/drawingml/2006/main">
              <a:ext uri="{FF2B5EF4-FFF2-40B4-BE49-F238E27FC236}">
                <a16:creationId xmlns:a16="http://schemas.microsoft.com/office/drawing/2014/main" id="{20BE88C8-8BE6-43F1-8D25-65FF43FF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391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前3项阻止进入计算；后2项通过构造场景触发，属于接口验证</a:t>
            </a:r>
          </a:p>
        </p:txBody>
      </p:sp>
      <p:sp>
        <p:nvSpPr>
          <p:cNvPr id="5" name="17">
            <a:extLst xmlns:a="http://schemas.openxmlformats.org/drawingml/2006/main">
              <a:ext uri="{FF2B5EF4-FFF2-40B4-BE49-F238E27FC236}">
                <a16:creationId xmlns:a16="http://schemas.microsoft.com/office/drawing/2014/main" id="{7D88C211-E032-43A5-B584-435B515B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752EED-7EA0-4F44-AF7A-1F0A241F815C}"/>
              </a:ext>
            </a:extLst>
          </p:cNvPr>
          <p:cNvGraphicFramePr/>
          <p:nvPr/>
        </p:nvGraphicFramePr>
        <p:xfrm>
          <a:off xmlns:a="http://schemas.openxmlformats.org/drawingml/2006/main" x="781050" y="2171700"/>
          <a:ext xmlns:a="http://schemas.openxmlformats.org/drawingml/2006/main" cx="13696950" cy="4038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4933950"/>
                <a:gridCol w="4953000"/>
              </a:tblGrid>
              <a:tr h="673100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触发条件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102A56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程序行为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102A56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用户处理方式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102A56"/>
                    </a:solidFill>
                  </a:tcPr>
                </a:tc>
              </a:tr>
              <a:tr h="673100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地图尺度未确认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提示尚未校准尺度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填写实际宽度或两点定标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673100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建筑楼高未确认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指出待填写的建筑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手动输入并确认楼高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3100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组件坐标超出边界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提示坐标超出场景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将组件移回地图范围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673100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指定航路全部不可达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记录unreachable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调整点位、高度或布局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3100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等待上限内无可行时隙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记录airspace_delay_limit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调整容量或等待参数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失败订单保留在完成率的分母中">
            <a:extLst xmlns:a="http://schemas.openxmlformats.org/drawingml/2006/main">
              <a:ext uri="{FF2B5EF4-FFF2-40B4-BE49-F238E27FC236}">
                <a16:creationId xmlns:a16="http://schemas.microsoft.com/office/drawing/2014/main" id="{323D88B0-C33D-4A7E-9B9A-3A026499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77025"/>
            <a:ext cx="1333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失败订单保留在完成率的分母中</a:t>
            </a:r>
          </a:p>
        </p:txBody>
      </p:sp>
      <p:sp>
        <p:nvSpPr>
          <p:cNvPr id="8" name="对向航路、额外等待上限为0的构造案例：2单完成1单，完成">
            <a:extLst xmlns:a="http://schemas.openxmlformats.org/drawingml/2006/main">
              <a:ext uri="{FF2B5EF4-FFF2-40B4-BE49-F238E27FC236}">
                <a16:creationId xmlns:a16="http://schemas.microsoft.com/office/drawing/2014/main" id="{3D24E729-B630-4A8F-BD6D-C2FBA6E6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7296150"/>
            <a:ext cx="1352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对向航路、额外等待上限为0的构造案例：2单完成1单，完成率50%，失败原因可导出。</a:t>
            </a:r>
          </a:p>
        </p:txBody>
      </p:sp>
    </p:spTree>
    <p:extLst>
      <p:ext uri="{BB962C8B-B14F-4D97-AF65-F5344CB8AC3E}">
        <p14:creationId xmlns:p14="http://schemas.microsoft.com/office/powerpoint/2010/main" val="177196907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已形成可复核原型，高峰容量仍需改进">
            <a:extLst xmlns:a="http://schemas.openxmlformats.org/drawingml/2006/main">
              <a:ext uri="{FF2B5EF4-FFF2-40B4-BE49-F238E27FC236}">
                <a16:creationId xmlns:a16="http://schemas.microsoft.com/office/drawing/2014/main" id="{F4B70228-E558-4789-8871-CDB4BD41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已形成可复核原型，高峰容量仍需改进</a:t>
            </a:r>
          </a:p>
        </p:txBody>
      </p:sp>
      <p:sp>
        <p:nvSpPr>
          <p:cNvPr id="2" name="现阶段适合园区方案比较与仿真教学">
            <a:extLst xmlns:a="http://schemas.openxmlformats.org/drawingml/2006/main">
              <a:ext uri="{FF2B5EF4-FFF2-40B4-BE49-F238E27FC236}">
                <a16:creationId xmlns:a16="http://schemas.microsoft.com/office/drawing/2014/main" id="{A69EEF78-4359-4AC9-9057-DEC068F6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333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现阶段适合园区方案比较与仿真教学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823072-6F6F-4BC3-8F4E-F3F751F7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4" name="全部定量结果来自模拟输入，尚未完成真实飞行验证">
            <a:extLst xmlns:a="http://schemas.openxmlformats.org/drawingml/2006/main">
              <a:ext uri="{FF2B5EF4-FFF2-40B4-BE49-F238E27FC236}">
                <a16:creationId xmlns:a16="http://schemas.microsoft.com/office/drawing/2014/main" id="{B6BE896C-01DE-46C4-9162-633ADC7B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391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全部定量结果来自模拟输入，尚未完成真实飞行验证</a:t>
            </a:r>
          </a:p>
        </p:txBody>
      </p:sp>
      <p:sp>
        <p:nvSpPr>
          <p:cNvPr id="5" name="12">
            <a:extLst xmlns:a="http://schemas.openxmlformats.org/drawingml/2006/main">
              <a:ext uri="{FF2B5EF4-FFF2-40B4-BE49-F238E27FC236}">
                <a16:creationId xmlns:a16="http://schemas.microsoft.com/office/drawing/2014/main" id="{AE809AA6-B358-41A5-A426-4670315B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" name="已完成">
            <a:extLst xmlns:a="http://schemas.openxmlformats.org/drawingml/2006/main">
              <a:ext uri="{FF2B5EF4-FFF2-40B4-BE49-F238E27FC236}">
                <a16:creationId xmlns:a16="http://schemas.microsoft.com/office/drawing/2014/main" id="{2386F288-2492-4EA7-AB19-795913B4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619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7" name="地图组件与计算场景衔接">
            <a:extLst xmlns:a="http://schemas.openxmlformats.org/drawingml/2006/main">
              <a:ext uri="{FF2B5EF4-FFF2-40B4-BE49-F238E27FC236}">
                <a16:creationId xmlns:a16="http://schemas.microsoft.com/office/drawing/2014/main" id="{5F8A528A-4C31-4E96-A458-E0D32351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623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地图组件与计算场景衔接</a:t>
            </a:r>
          </a:p>
        </p:txBody>
      </p:sp>
      <p:sp>
        <p:nvSpPr>
          <p:cNvPr id="8" name="手动楼高和编辑结果直接进入航路计算。">
            <a:extLst xmlns:a="http://schemas.openxmlformats.org/drawingml/2006/main">
              <a:ext uri="{FF2B5EF4-FFF2-40B4-BE49-F238E27FC236}">
                <a16:creationId xmlns:a16="http://schemas.microsoft.com/office/drawing/2014/main" id="{69BCFE08-DA0B-44A8-91B8-C7DC0217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43300"/>
            <a:ext cx="619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手动楼高和编辑结果直接进入航路计算。</a:t>
            </a:r>
          </a:p>
        </p:txBody>
      </p:sp>
      <p:sp>
        <p:nvSpPr>
          <p:cNvPr id="9" name="选址、预约与间距检测串联">
            <a:extLst xmlns:a="http://schemas.openxmlformats.org/drawingml/2006/main">
              <a:ext uri="{FF2B5EF4-FFF2-40B4-BE49-F238E27FC236}">
                <a16:creationId xmlns:a16="http://schemas.microsoft.com/office/drawing/2014/main" id="{D019B12D-B4ED-442F-8CF5-58C5DD20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623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选址、预约与间距检测串联</a:t>
            </a:r>
          </a:p>
        </p:txBody>
      </p:sp>
      <p:sp>
        <p:nvSpPr>
          <p:cNvPr id="10" name="JSON、CSV、SVG输出支持任务级复核。">
            <a:extLst xmlns:a="http://schemas.openxmlformats.org/drawingml/2006/main">
              <a:ext uri="{FF2B5EF4-FFF2-40B4-BE49-F238E27FC236}">
                <a16:creationId xmlns:a16="http://schemas.microsoft.com/office/drawing/2014/main" id="{BA8EACCC-B313-4851-8EEA-F6221B2D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53025"/>
            <a:ext cx="619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JSON、CSV、SVG输出支持任务级复核。</a:t>
            </a:r>
          </a:p>
        </p:txBody>
      </p:sp>
      <p:sp>
        <p:nvSpPr>
          <p:cNvPr id="11" name="41项自动核验通过">
            <a:extLst xmlns:a="http://schemas.openxmlformats.org/drawingml/2006/main">
              <a:ext uri="{FF2B5EF4-FFF2-40B4-BE49-F238E27FC236}">
                <a16:creationId xmlns:a16="http://schemas.microsoft.com/office/drawing/2014/main" id="{232ED8D5-8DEA-42EF-9A4E-1DF4A750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81725"/>
            <a:ext cx="623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41项自动核验通过</a:t>
            </a:r>
          </a:p>
        </p:txBody>
      </p:sp>
      <p:sp>
        <p:nvSpPr>
          <p:cNvPr id="12" name="检查实现一致性，现实有效性仍需外部验证。">
            <a:extLst xmlns:a="http://schemas.openxmlformats.org/drawingml/2006/main">
              <a:ext uri="{FF2B5EF4-FFF2-40B4-BE49-F238E27FC236}">
                <a16:creationId xmlns:a16="http://schemas.microsoft.com/office/drawing/2014/main" id="{11B7F7A2-6E5B-46F5-A237-844EED62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762750"/>
            <a:ext cx="628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检查实现一致性，现实有效性仍需外部验证。</a:t>
            </a:r>
          </a:p>
        </p:txBody>
      </p:sp>
      <p:sp>
        <p:nvSpPr>
          <p:cNvPr id="13" name="高峰场景准时率">
            <a:extLst xmlns:a="http://schemas.openxmlformats.org/drawingml/2006/main">
              <a:ext uri="{FF2B5EF4-FFF2-40B4-BE49-F238E27FC236}">
                <a16:creationId xmlns:a16="http://schemas.microsoft.com/office/drawing/2014/main" id="{E93B3C3D-F797-4481-A68F-D6EED390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152650"/>
            <a:ext cx="6143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高峰场景准时率</a:t>
            </a:r>
          </a:p>
        </p:txBody>
      </p:sp>
      <p:sp>
        <p:nvSpPr>
          <p:cNvPr id="14" name="39.0%">
            <a:extLst xmlns:a="http://schemas.openxmlformats.org/drawingml/2006/main">
              <a:ext uri="{FF2B5EF4-FFF2-40B4-BE49-F238E27FC236}">
                <a16:creationId xmlns:a16="http://schemas.microsoft.com/office/drawing/2014/main" id="{90C6F257-4D26-4317-9B80-162A39D5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05125"/>
            <a:ext cx="61912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700" b="1">
                <a:solidFill>
                  <a:srgbClr val="C883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700" b="1">
                <a:solidFill>
                  <a:srgbClr val="C883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700" b="1">
                <a:solidFill>
                  <a:srgbClr val="C88334"/>
                </a:solidFill>
                <a:latin typeface="Microsoft YaHei"/>
                <a:ea typeface="Microsoft YaHei"/>
                <a:cs typeface="Microsoft YaHei"/>
              </a:rPr>
              <a:t>39.0%</a:t>
            </a:r>
          </a:p>
        </p:txBody>
      </p:sp>
      <p:sp>
        <p:nvSpPr>
          <p:cNvPr id="15" name="综合风险布局启用错峰，平均配送778.18秒。">
            <a:extLst xmlns:a="http://schemas.openxmlformats.org/drawingml/2006/main">
              <a:ext uri="{FF2B5EF4-FFF2-40B4-BE49-F238E27FC236}">
                <a16:creationId xmlns:a16="http://schemas.microsoft.com/office/drawing/2014/main" id="{CC31B880-E367-4864-9162-1CA4C815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00575"/>
            <a:ext cx="609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综合风险布局启用错峰，平均配送778.18秒。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7369CC-AE45-458B-B1AC-2EE65C5F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743575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17" name="下一步验证">
            <a:extLst xmlns:a="http://schemas.openxmlformats.org/drawingml/2006/main">
              <a:ext uri="{FF2B5EF4-FFF2-40B4-BE49-F238E27FC236}">
                <a16:creationId xmlns:a16="http://schemas.microsoft.com/office/drawing/2014/main" id="{736C403A-4E94-4724-95A4-5C922A0A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6124575"/>
            <a:ext cx="609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下一步验证</a:t>
            </a:r>
          </a:p>
        </p:txBody>
      </p:sp>
      <p:sp>
        <p:nvSpPr>
          <p:cNvPr id="18" name="接入可追溯园区数据，开展机队容量与&#10;服务位实验，补入悬停">
            <a:extLst xmlns:a="http://schemas.openxmlformats.org/drawingml/2006/main">
              <a:ext uri="{FF2B5EF4-FFF2-40B4-BE49-F238E27FC236}">
                <a16:creationId xmlns:a16="http://schemas.microsoft.com/office/drawing/2014/main" id="{F67B4FA2-FFFD-4F2E-AE50-AAF9656D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6772275"/>
            <a:ext cx="6096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接入可追溯园区数据，开展机队容量与</a:t>
            </a:r>
          </a:p>
          <a:p xmlns:a="http://schemas.openxmlformats.org/drawingml/2006/main">
            <a: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服务位实验，补入悬停暴露和能耗。</a:t>
            </a:r>
          </a:p>
        </p:txBody>
      </p:sp>
    </p:spTree>
    <p:extLst>
      <p:ext uri="{BB962C8B-B14F-4D97-AF65-F5344CB8AC3E}">
        <p14:creationId xmlns:p14="http://schemas.microsoft.com/office/powerpoint/2010/main" val="1989007050"/>
      </p:ext>
    </p:extLst>
  </p:cSld>
</p:sld>
</file>

<file path=ppt/slides/slide19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备用：关键参数与结果离散程度">
            <a:extLst xmlns:a="http://schemas.openxmlformats.org/drawingml/2006/main">
              <a:ext uri="{FF2B5EF4-FFF2-40B4-BE49-F238E27FC236}">
                <a16:creationId xmlns:a16="http://schemas.microsoft.com/office/drawing/2014/main" id="{D66ECA2D-7240-4DF4-AD9C-F32592AF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备用：关键参数与结果离散程度</a:t>
            </a:r>
          </a:p>
        </p:txBody>
      </p:sp>
      <p:sp>
        <p:nvSpPr>
          <p:cNvPr id="2" name="用于解释实验条件、指标含义和稳定性">
            <a:extLst xmlns:a="http://schemas.openxmlformats.org/drawingml/2006/main">
              <a:ext uri="{FF2B5EF4-FFF2-40B4-BE49-F238E27FC236}">
                <a16:creationId xmlns:a16="http://schemas.microsoft.com/office/drawing/2014/main" id="{EAB6C241-64B5-4253-B77E-443F871B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333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用于解释实验条件、指标含义和稳定性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BC18F7-AA53-453F-AA39-C9CDD51C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4" name="间距事件数为综合风险布局的五种子均值±样本标准差，错峰结">
            <a:extLst xmlns:a="http://schemas.openxmlformats.org/drawingml/2006/main">
              <a:ext uri="{FF2B5EF4-FFF2-40B4-BE49-F238E27FC236}">
                <a16:creationId xmlns:a16="http://schemas.microsoft.com/office/drawing/2014/main" id="{AB6D4409-968D-4C79-AB6A-F7488C68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391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间距事件数为综合风险布局的五种子均值±样本标准差，错峰结果均为0±0</a:t>
            </a:r>
          </a:p>
        </p:txBody>
      </p:sp>
      <p:sp>
        <p:nvSpPr>
          <p:cNvPr id="5" name="13">
            <a:extLst xmlns:a="http://schemas.openxmlformats.org/drawingml/2006/main">
              <a:ext uri="{FF2B5EF4-FFF2-40B4-BE49-F238E27FC236}">
                <a16:creationId xmlns:a16="http://schemas.microsoft.com/office/drawing/2014/main" id="{9B2F5351-A70E-4232-A3A7-4E91B577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F421D7-FB86-4EB7-9BDD-1D041FE6A388}"/>
              </a:ext>
            </a:extLst>
          </p:cNvPr>
          <p:cNvGraphicFramePr/>
          <p:nvPr/>
        </p:nvGraphicFramePr>
        <p:xfrm>
          <a:off xmlns:a="http://schemas.openxmlformats.org/drawingml/2006/main" x="781050" y="2143125"/>
          <a:ext xmlns:a="http://schemas.openxmlformats.org/drawingml/2006/main" cx="7381875" cy="4438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19550"/>
                <a:gridCol w="3362325"/>
              </a:tblGrid>
              <a:tr h="73977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模型参数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102A56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当前设定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102A56"/>
                    </a:solidFill>
                  </a:tcPr>
                </a:tc>
              </a:tr>
              <a:tr h="73977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巡航高度 / 栅格步长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 m / 16 m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73977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机队规模 / 匀速飞行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5架 / 9 m·s⁻¹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977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起飞 / 降落 / 配送处理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 s / 20 s / 20 s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73977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间距 / 搜索步长 / 推迟上限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m / 5 s / 600 s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9775"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准时阈值 / 航路风险权重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 lIns="133350" tIns="133350" rIns="133350" bIns="13335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A5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下单后600 s / λ=2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基线间距不足事件">
            <a:extLst xmlns:a="http://schemas.openxmlformats.org/drawingml/2006/main">
              <a:ext uri="{FF2B5EF4-FFF2-40B4-BE49-F238E27FC236}">
                <a16:creationId xmlns:a16="http://schemas.microsoft.com/office/drawing/2014/main" id="{35F405D9-D223-4BD0-8012-5528CC4C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62175"/>
            <a:ext cx="5410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基线间距不足事件</a:t>
            </a:r>
          </a:p>
        </p:txBody>
      </p:sp>
      <p:sp>
        <p:nvSpPr>
          <p:cNvPr id="8" name="正常配送   9.20 ± 4.27">
            <a:extLst xmlns:a="http://schemas.openxmlformats.org/drawingml/2006/main">
              <a:ext uri="{FF2B5EF4-FFF2-40B4-BE49-F238E27FC236}">
                <a16:creationId xmlns:a16="http://schemas.microsoft.com/office/drawing/2014/main" id="{47057499-EC5F-46C2-BD68-79587180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86100"/>
            <a:ext cx="5429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正常配送   9.20 ± 4.27</a:t>
            </a:r>
          </a:p>
        </p:txBody>
      </p:sp>
      <p:sp>
        <p:nvSpPr>
          <p:cNvPr id="9" name="高峰订单  27.20 ± 2.49">
            <a:extLst xmlns:a="http://schemas.openxmlformats.org/drawingml/2006/main">
              <a:ext uri="{FF2B5EF4-FFF2-40B4-BE49-F238E27FC236}">
                <a16:creationId xmlns:a16="http://schemas.microsoft.com/office/drawing/2014/main" id="{18149781-B8E0-451D-854A-13FEE495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10025"/>
            <a:ext cx="5429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高峰订单  27.20 ± 2.49</a:t>
            </a:r>
          </a:p>
        </p:txBody>
      </p:sp>
      <p:sp>
        <p:nvSpPr>
          <p:cNvPr id="10" name="局部关闭   9.40 ± 4.04">
            <a:extLst xmlns:a="http://schemas.openxmlformats.org/drawingml/2006/main">
              <a:ext uri="{FF2B5EF4-FFF2-40B4-BE49-F238E27FC236}">
                <a16:creationId xmlns:a16="http://schemas.microsoft.com/office/drawing/2014/main" id="{FEDF8037-BCCC-45D8-98F9-9A7813FF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933950"/>
            <a:ext cx="5429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局部关闭   9.40 ± 4.04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CA075-B144-4C1E-B89D-95E066C3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75310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12" name="5个种子只提供初步稳定性证据。&#10;误差为样本标准差，不是置">
            <a:extLst xmlns:a="http://schemas.openxmlformats.org/drawingml/2006/main">
              <a:ext uri="{FF2B5EF4-FFF2-40B4-BE49-F238E27FC236}">
                <a16:creationId xmlns:a16="http://schemas.microsoft.com/office/drawing/2014/main" id="{1D2A998F-61EC-4C99-BBE5-9324DF69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191250"/>
            <a:ext cx="54292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5个种子只提供初步稳定性证据。</a:t>
            </a:r>
          </a:p>
          <a:p xmlns:a="http://schemas.openxmlformats.org/drawingml/2006/main">
            <a:pPr algn="l">
              <a:def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误差为样本标准差，不是置信区间。</a:t>
            </a:r>
          </a:p>
        </p:txBody>
      </p:sp>
    </p:spTree>
    <p:extLst>
      <p:ext uri="{BB962C8B-B14F-4D97-AF65-F5344CB8AC3E}">
        <p14:creationId xmlns:p14="http://schemas.microsoft.com/office/powerpoint/2010/main" val="1394178199"/>
      </p:ext>
    </p:extLst>
  </p:cSld>
</p:sld>
</file>

<file path=ppt/slides/slide20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备用：算法依据与复现入口">
            <a:extLst xmlns:a="http://schemas.openxmlformats.org/drawingml/2006/main">
              <a:ext uri="{FF2B5EF4-FFF2-40B4-BE49-F238E27FC236}">
                <a16:creationId xmlns:a16="http://schemas.microsoft.com/office/drawing/2014/main" id="{096146B1-C357-47DF-9437-5FB92B82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备用：算法依据与复现入口</a:t>
            </a:r>
          </a:p>
        </p:txBody>
      </p:sp>
      <p:sp>
        <p:nvSpPr>
          <p:cNvPr id="2" name="标准算法提供基础，本作品实现面向园区的可编辑仿真流程">
            <a:extLst xmlns:a="http://schemas.openxmlformats.org/drawingml/2006/main">
              <a:ext uri="{FF2B5EF4-FFF2-40B4-BE49-F238E27FC236}">
                <a16:creationId xmlns:a16="http://schemas.microsoft.com/office/drawing/2014/main" id="{F3AB38C5-9530-4DC7-B6CB-073D8673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333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标准算法提供基础，本作品实现面向园区的可编辑仿真流程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CBBF0-607A-495C-AC06-1975A24F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1E7"/>
            </a:solidFill>
            <a:prstDash val="solid"/>
          </a:ln>
        </p:spPr>
      </p:sp>
      <p:sp>
        <p:nvSpPr>
          <p:cNvPr id="4" name="完整参考文献、算法边界与AI辅助说明见主报告">
            <a:extLst xmlns:a="http://schemas.openxmlformats.org/drawingml/2006/main">
              <a:ext uri="{FF2B5EF4-FFF2-40B4-BE49-F238E27FC236}">
                <a16:creationId xmlns:a16="http://schemas.microsoft.com/office/drawing/2014/main" id="{B4F5116B-B72A-4BED-94B4-3812B80F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391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完整参考文献、算法边界与AI辅助说明见主报告</a:t>
            </a:r>
          </a:p>
        </p:txBody>
      </p:sp>
      <p:sp>
        <p:nvSpPr>
          <p:cNvPr id="5" name="14">
            <a:extLst xmlns:a="http://schemas.openxmlformats.org/drawingml/2006/main">
              <a:ext uri="{FF2B5EF4-FFF2-40B4-BE49-F238E27FC236}">
                <a16:creationId xmlns:a16="http://schemas.microsoft.com/office/drawing/2014/main" id="{75898BF3-E133-471E-AC88-15CB4478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914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主要算法依据">
            <a:extLst xmlns:a="http://schemas.openxmlformats.org/drawingml/2006/main">
              <a:ext uri="{FF2B5EF4-FFF2-40B4-BE49-F238E27FC236}">
                <a16:creationId xmlns:a16="http://schemas.microsoft.com/office/drawing/2014/main" id="{150C82B9-F80D-459B-BDFB-6314F92A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主要算法依据</a:t>
            </a:r>
          </a:p>
        </p:txBody>
      </p:sp>
      <p:sp>
        <p:nvSpPr>
          <p:cNvPr id="7" name="A*搜索">
            <a:extLst xmlns:a="http://schemas.openxmlformats.org/drawingml/2006/main">
              <a:ext uri="{FF2B5EF4-FFF2-40B4-BE49-F238E27FC236}">
                <a16:creationId xmlns:a16="http://schemas.microsoft.com/office/drawing/2014/main" id="{05555B5E-61E6-4498-8E16-0DF3EF8A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0375"/>
            <a:ext cx="657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A*搜索</a:t>
            </a:r>
          </a:p>
        </p:txBody>
      </p:sp>
      <p:sp>
        <p:nvSpPr>
          <p:cNvPr id="8" name="Hart等，1968&#10;DOI: 10.1109/TSSC">
            <a:extLst xmlns:a="http://schemas.openxmlformats.org/drawingml/2006/main">
              <a:ext uri="{FF2B5EF4-FFF2-40B4-BE49-F238E27FC236}">
                <a16:creationId xmlns:a16="http://schemas.microsoft.com/office/drawing/2014/main" id="{55C76F16-4233-491E-889E-16A802DB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86150"/>
            <a:ext cx="666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Hart等，1968</a:t>
            </a:r>
          </a:p>
          <a:p xmlns:a="http://schemas.openxmlformats.org/drawingml/2006/main">
            <a:pPr algn="l">
              <a:def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DOI: 10.1109/TSSC.1968.300136</a:t>
            </a:r>
          </a:p>
        </p:txBody>
      </p:sp>
      <p:sp>
        <p:nvSpPr>
          <p:cNvPr id="9" name="地面风险地图与风险航路">
            <a:extLst xmlns:a="http://schemas.openxmlformats.org/drawingml/2006/main">
              <a:ext uri="{FF2B5EF4-FFF2-40B4-BE49-F238E27FC236}">
                <a16:creationId xmlns:a16="http://schemas.microsoft.com/office/drawing/2014/main" id="{C0DE8E11-6CC0-44BE-A7A2-45227E04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67250"/>
            <a:ext cx="657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地面风险地图与风险航路</a:t>
            </a:r>
          </a:p>
        </p:txBody>
      </p:sp>
      <p:sp>
        <p:nvSpPr>
          <p:cNvPr id="10" name="Primatesta等，2019 / 2020&#10;DOI:">
            <a:extLst xmlns:a="http://schemas.openxmlformats.org/drawingml/2006/main">
              <a:ext uri="{FF2B5EF4-FFF2-40B4-BE49-F238E27FC236}">
                <a16:creationId xmlns:a16="http://schemas.microsoft.com/office/drawing/2014/main" id="{663BAD7E-5985-41DB-B2EB-8D3023DE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62550"/>
            <a:ext cx="6858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Primatesta等，2019 / 2020</a:t>
            </a:r>
          </a:p>
          <a:p xmlns:a="http://schemas.openxmlformats.org/drawingml/2006/main">
            <a:pPr algn="l">
              <a:defRPr sz="18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DOI: 10.1007/s10846-018-0924-3</a:t>
            </a:r>
          </a:p>
          <a:p xmlns:a="http://schemas.openxmlformats.org/drawingml/2006/main">
            <a:pPr algn="l">
              <a:defRPr sz="18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DOI: 10.1007/s10846-019-01015-z</a:t>
            </a:r>
          </a:p>
        </p:txBody>
      </p:sp>
      <p:sp>
        <p:nvSpPr>
          <p:cNvPr id="11" name="冲突检测综述">
            <a:extLst xmlns:a="http://schemas.openxmlformats.org/drawingml/2006/main">
              <a:ext uri="{FF2B5EF4-FFF2-40B4-BE49-F238E27FC236}">
                <a16:creationId xmlns:a16="http://schemas.microsoft.com/office/drawing/2014/main" id="{2BBD21CB-8F7E-447D-B421-152BF530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629400"/>
            <a:ext cx="657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冲突检测综述</a:t>
            </a:r>
          </a:p>
        </p:txBody>
      </p:sp>
      <p:sp>
        <p:nvSpPr>
          <p:cNvPr id="12" name="Kuchar与Yang，2000，DOI: 10.110">
            <a:extLst xmlns:a="http://schemas.openxmlformats.org/drawingml/2006/main">
              <a:ext uri="{FF2B5EF4-FFF2-40B4-BE49-F238E27FC236}">
                <a16:creationId xmlns:a16="http://schemas.microsoft.com/office/drawing/2014/main" id="{CC73D1CA-5BF0-4D0E-913E-F2A40E3A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2470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Kuchar与Yang，2000，DOI: 10.1109/6979.898217</a:t>
            </a:r>
          </a:p>
        </p:txBody>
      </p:sp>
      <p:sp>
        <p:nvSpPr>
          <p:cNvPr id="13" name="复现入口">
            <a:extLst xmlns:a="http://schemas.openxmlformats.org/drawingml/2006/main">
              <a:ext uri="{FF2B5EF4-FFF2-40B4-BE49-F238E27FC236}">
                <a16:creationId xmlns:a16="http://schemas.microsoft.com/office/drawing/2014/main" id="{129C320E-4809-46F7-B1B5-5A451853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526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A56"/>
                </a:solidFill>
                <a:latin typeface="Microsoft YaHei"/>
                <a:ea typeface="Microsoft YaHei"/>
                <a:cs typeface="Microsoft YaHei"/>
              </a:rPr>
              <a:t>复现入口</a:t>
            </a:r>
          </a:p>
        </p:txBody>
      </p:sp>
      <p:sp>
        <p:nvSpPr>
          <p:cNvPr id="14" name="程序入口">
            <a:extLst xmlns:a="http://schemas.openxmlformats.org/drawingml/2006/main">
              <a:ext uri="{FF2B5EF4-FFF2-40B4-BE49-F238E27FC236}">
                <a16:creationId xmlns:a16="http://schemas.microsoft.com/office/drawing/2014/main" id="{21F07D4A-0844-42EE-9850-F9A269F6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00375"/>
            <a:ext cx="5810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程序入口</a:t>
            </a:r>
          </a:p>
        </p:txBody>
      </p:sp>
      <p:sp>
        <p:nvSpPr>
          <p:cNvPr id="15" name="python run.py">
            <a:extLst xmlns:a="http://schemas.openxmlformats.org/drawingml/2006/main">
              <a:ext uri="{FF2B5EF4-FFF2-40B4-BE49-F238E27FC236}">
                <a16:creationId xmlns:a16="http://schemas.microsoft.com/office/drawing/2014/main" id="{B69F4AE7-7599-4A27-BABC-CA82377A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24250"/>
            <a:ext cx="581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python run.py</a:t>
            </a:r>
          </a:p>
        </p:txBody>
      </p:sp>
      <p:sp>
        <p:nvSpPr>
          <p:cNvPr id="16" name="原始实验与配对结果">
            <a:extLst xmlns:a="http://schemas.openxmlformats.org/drawingml/2006/main">
              <a:ext uri="{FF2B5EF4-FFF2-40B4-BE49-F238E27FC236}">
                <a16:creationId xmlns:a16="http://schemas.microsoft.com/office/drawing/2014/main" id="{D6A97AAD-1533-4F5D-B905-9282EFE4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57725"/>
            <a:ext cx="5810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原始实验与配对结果</a:t>
            </a:r>
          </a:p>
        </p:txBody>
      </p:sp>
      <p:sp>
        <p:nvSpPr>
          <p:cNvPr id="17" name="results/safety/raw_metrics.c">
            <a:extLst xmlns:a="http://schemas.openxmlformats.org/drawingml/2006/main">
              <a:ext uri="{FF2B5EF4-FFF2-40B4-BE49-F238E27FC236}">
                <a16:creationId xmlns:a16="http://schemas.microsoft.com/office/drawing/2014/main" id="{F33F1881-61C9-43AF-9789-9C90CBFB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00650"/>
            <a:ext cx="59055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results/safety/raw_metrics.csv</a:t>
            </a:r>
          </a:p>
          <a:p xmlns:a="http://schemas.openxmlformats.org/drawingml/2006/main">
            <a:pPr algn="l">
              <a:defRPr sz="1725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results/safety/paired_comparison.csv</a:t>
            </a:r>
          </a:p>
          <a:p xmlns:a="http://schemas.openxmlformats.org/drawingml/2006/main">
            <a:pPr algn="l">
              <a:defRPr sz="1725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43A52"/>
                </a:solidFill>
                <a:latin typeface="Microsoft YaHei"/>
                <a:ea typeface="Microsoft YaHei"/>
                <a:cs typeface="Microsoft YaHei"/>
              </a:rPr>
              <a:t>results/safety/summary.csv</a:t>
            </a:r>
          </a:p>
        </p:txBody>
      </p:sp>
      <p:sp>
        <p:nvSpPr>
          <p:cNvPr id="18" name="核心实现">
            <a:extLst xmlns:a="http://schemas.openxmlformats.org/drawingml/2006/main">
              <a:ext uri="{FF2B5EF4-FFF2-40B4-BE49-F238E27FC236}">
                <a16:creationId xmlns:a16="http://schemas.microsoft.com/office/drawing/2014/main" id="{87DA08CD-E106-473D-A2BB-AEFE0C2A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743700"/>
            <a:ext cx="5810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78F86"/>
                </a:solidFill>
                <a:latin typeface="Microsoft YaHei"/>
                <a:ea typeface="Microsoft YaHei"/>
                <a:cs typeface="Microsoft YaHei"/>
              </a:rPr>
              <a:t>核心实现</a:t>
            </a:r>
          </a:p>
        </p:txBody>
      </p:sp>
      <p:sp>
        <p:nvSpPr>
          <p:cNvPr id="19" name="engine.py    airspace.py    ">
            <a:extLst xmlns:a="http://schemas.openxmlformats.org/drawingml/2006/main">
              <a:ext uri="{FF2B5EF4-FFF2-40B4-BE49-F238E27FC236}">
                <a16:creationId xmlns:a16="http://schemas.microsoft.com/office/drawing/2014/main" id="{FCADB09E-2D1E-4164-BD78-72C234AE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7229475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engine.py    airspace.py    map_editor.py</a:t>
            </a:r>
          </a:p>
        </p:txBody>
      </p:sp>
    </p:spTree>
    <p:extLst>
      <p:ext uri="{BB962C8B-B14F-4D97-AF65-F5344CB8AC3E}">
        <p14:creationId xmlns:p14="http://schemas.microsoft.com/office/powerpoint/2010/main" val="19584946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2026-10-17T12:41:49.5960000Z</dcterms:created>
  <dcterms:modified xsi:type="dcterms:W3CDTF">2026-10-17T12:41:49.5960000Z</dcterms:modified>
</coreProperties>
</file>